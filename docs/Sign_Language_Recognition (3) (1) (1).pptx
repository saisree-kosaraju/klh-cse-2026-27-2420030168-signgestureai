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33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677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38325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Learning-Based Sign Language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Using Video and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Gesture Analysis</a:t>
            </a:r>
          </a:p>
          <a:p>
            <a:pPr marL="0" indent="0">
              <a:lnSpc>
                <a:spcPts val="4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K.SAI SREE CHOWDARY-2420030168</a:t>
            </a:r>
            <a:b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b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transformer-driven pipeline that turns hand and body gestures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on ordinary video into text and speech.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2E33"/>
          </a:solidFill>
          <a:ln w="12700">
            <a:solidFill>
              <a:srgbClr val="1745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394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539496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2E33"/>
          </a:solidFill>
          <a:ln w="12700">
            <a:solidFill>
              <a:srgbClr val="1745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5394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+ CNN Fusion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539496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2E33"/>
          </a:solidFill>
          <a:ln w="12700">
            <a:solidFill>
              <a:srgbClr val="1745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5394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539496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2E33"/>
          </a:solidFill>
          <a:ln w="12700">
            <a:solidFill>
              <a:srgbClr val="1745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5394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Speech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6" name="Picture 15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gap sign language users face every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million </a:t>
            </a:r>
            <a:r>
              <a:rPr lang="en-US" sz="14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have disabling hearing loss, and many rely on sign language as their first language (WHO).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108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632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recognize only a narrow vocabulary of isolated signs, not natural continuous signing.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319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sharply across different signers, lighting, clothing, and backgrounds.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8463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006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are too slow or too heavy for real-time, on-device conversation.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800" y="1554480"/>
            <a:ext cx="4069080" cy="4572000"/>
          </a:xfrm>
          <a:prstGeom prst="roundRect">
            <a:avLst>
              <a:gd name="adj" fmla="val 2697"/>
            </a:avLst>
          </a:prstGeom>
          <a:solidFill>
            <a:srgbClr val="05386B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181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and hard-of-hearing individuals face daily friction in schools, hospitals, workplaces, and public offices — anywhere a hearing person doesn't know sign language.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3840480"/>
            <a:ext cx="3291840" cy="0"/>
          </a:xfrm>
          <a:prstGeom prst="line">
            <a:avLst/>
          </a:prstGeom>
          <a:noFill/>
          <a:ln w="12700">
            <a:solidFill>
              <a:srgbClr val="3A5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0233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camera-only system that understands continuous signing in real time, regardless of who is signing or where.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8" name="Picture 17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sets out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 signs from video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deep-learning pipeline that reads gestures directly from standard camera footage — no gloves or special sensors.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350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landmarks + appearance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MediaPipe Holistic hand/body/face landmarks with CNN appearance features for a richer gesture representation.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350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gesture sequences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Transformer encoder with temporal attention to support continuous, sentence-level signing, not just isolated words.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44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 across users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9103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robustness to signer, lighting, and background variation via landmark and visual augmentation.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544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reported baselines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49103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WLASL, RWTH-PHOENIX-Weather and INCLUDE, targeting a measurable accuracy gain over published baselines.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458200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8200" y="4544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 live demo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58200" y="49103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into a real-time interface that outputs recognized signs as text and speech.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35" name="Picture 34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prior work has approached sign recognition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500000"/>
          <a:ext cx="11064240" cy="48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/ Paper</a:t>
                      </a:r>
                    </a:p>
                  </a:txBody>
                  <a:tcPr marL="45720" marR="45720" marT="30000" marB="30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Algorithm Used</a:t>
                      </a:r>
                    </a:p>
                  </a:txBody>
                  <a:tcPr marL="45720" marR="45720" marT="30000" marB="30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45720" marR="45720" marT="30000" marB="30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Limitation</a:t>
                      </a:r>
                    </a:p>
                  </a:txBody>
                  <a:tcPr marL="45720" marR="45720" marT="30000" marB="30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 (Link)</a:t>
                      </a:r>
                    </a:p>
                  </a:txBody>
                  <a:tcPr marL="45720" marR="45720" marT="30000" marB="30000" anchor="ctr"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WLASL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Li et al., 2020 (WACV)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I3D (3D-CNN) &amp;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Pose-TGCN (skeleton GCN)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Pose-TGCN: 23.65% Top-1 /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51.75% Top-5 (WLASL2000)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Accuracy drops sharply as vocabulary grows; can't handle continuous sentences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WLASL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dxli94.github.io/WLASL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SignBERT+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Hu et al., 2023 (TPAMI)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Self-supervised, hand-model-aware pretraining (BERT-style + skeleton)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48.85% Top-1 /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82.48% Top-5 (WLASL2000)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Needs large-scale pretraining data; heavy compute; still ASL-specific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WLASL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dxli94.github.io/WLASL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SPOTER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Boháček &amp; Hrúz, 2022 (WACV-W)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Pose-based Transformer on MediaPipe skeletal keypoints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63.18% Top-1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(WLASL100)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Skeleton-only input loses facial/appearance cues; drops on larger vocabularies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WLASL100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github.com/matyasbohacek/spoter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Sign Language Transformers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Camgoz et al., 2020 (CVPR)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Joint Transformer + CTC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(recognition + translation)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24.49% WER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(recognition, dev set)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Gloss-dependent; trained/tested on one signer group &amp; language (German SL)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RWTH-PHOENIX-Weather-2014T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www-i6.informatik.rwth-aachen.de</a:t>
                      </a:r>
                    </a:p>
                  </a:txBody>
                  <a:tcPr marL="45720" marR="45720" marT="30000" marB="30000" anchor="ctr">
                    <a:solidFill>
                      <a:srgbClr val="11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INCLUDE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Sridhar et al., 2020 (ACM MM)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CNN + BiLSTM baselines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(e.g., MobileNetV2 + BiLSTM)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~94.5%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(baseline benchmark)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Small, lab-recorded, single-signer isolated clips; limited real-world generalization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CE9E9"/>
                          </a:solidFill>
                          <a:latin typeface="Calibri"/>
                        </a:rPr>
                        <a:t>INCLUDE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DCE9E9"/>
                          </a:solidFill>
                          <a:latin typeface="Calibri"/>
                        </a:rPr>
                        <a:t>zenodo.org/record/4010759</a:t>
                      </a:r>
                    </a:p>
                  </a:txBody>
                  <a:tcPr marL="45720" marR="45720" marT="30000" marB="30000" anchor="ctr">
                    <a:solidFill>
                      <a:srgbClr val="0F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2" name="Picture 41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systems still miss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647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vocabularies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26280" y="1673352"/>
            <a:ext cx="6903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target isolated word-level signs; continuous, sentence-level recognition across large vocabularies remains underexplored.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cross-signer generalization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6903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signer's style or one camera setup often fail on new signers, clothing, or lighting.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6301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38728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Pixel-only or skeleton-only, rarely both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3538728"/>
            <a:ext cx="6903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Appearance-based and landmark-based methods are usually studied separately rather than fused for complementary strength.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6285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62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471416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real-time deployment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471416"/>
            <a:ext cx="6903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models are frequently too heavy for live, on-device or mobile use.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3095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49554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95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404104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sign languages underrepresented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5404104"/>
            <a:ext cx="6903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concentrates on ASL/German Sign Language; languages like Indian Sign Language (ISL) have far fewer benchmarked systems.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Picture 29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INNOVATION, CREATIVITY &amp; NOVELTY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approach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Dual-stream fusion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31181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CNN appearance features with MediaPipe landmark geometry in one model, instead of choosing pixels or skeletons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78308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Attention-based temporal pooling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53128" y="2286000"/>
            <a:ext cx="31181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variable-length gestures gracefully, so short and long signs are treated fairly during classification.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78308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&amp; background invariance by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56448" y="2286000"/>
            <a:ext cx="31181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jitter, scaling/mirroring and background randomization are built into training, not added as an afterthought.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26130" y="4160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298" y="43434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Lightweight, distillable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7298" y="4846320"/>
            <a:ext cx="31181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compact architecture suitable for mobile/edge deployment without sacrificing accuracy.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29450" y="4160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0618" y="43434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ready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30618" y="4846320"/>
            <a:ext cx="31181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extend from ASL to Indian Sign Language (INCLUDE), addressing an underserved research area.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20" name="Picture 19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is achievable in an academic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609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WLASL, RWTH-PHOENIX-Weather, INCLUDE and How2Sign are public and free to use.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233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 (MediaPipe) removes the need for custom sensor hardware.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8288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Compute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6609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606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stack: PyTorch/TensorFlow, MediaPipe, pretrained CNN backbones (EfficientNet/MobileNet).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0233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+ landmark-based features keep training feasible on a single GPU.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0" y="18288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Scope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3920" y="26609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732520" y="2606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well-documented techniques (CNN, Transformer, attention) rather than unproven methods.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40233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modular — isolated-word recognition can ship first, continuous recognition layered on after.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26" name="Picture 25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ARCHITECTURE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3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flows from camera to speech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48640" y="1600200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6" name="Shape 6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1234440" y="1783080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9" name="Text 9"/>
          <p:cNvSpPr/>
          <p:nvPr/>
        </p:nvSpPr>
        <p:spPr>
          <a:xfrm>
            <a:off x="731520" y="2258568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continuous sign language video from a webcam or uploaded video at 25–30 FPS. Frames are stored in RGB format for further processing.</a:t>
            </a:r>
            <a:endParaRPr lang="en-US" sz="950" dirty="0"/>
          </a:p>
        </p:txBody>
      </p:sp>
      <p:sp>
        <p:nvSpPr>
          <p:cNvPr id="10" name="Shape 10"/>
          <p:cNvSpPr/>
          <p:nvPr/>
        </p:nvSpPr>
        <p:spPr>
          <a:xfrm>
            <a:off x="4323080" y="1600200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4505960" y="1783080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45059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3"/>
          <p:cNvSpPr/>
          <p:nvPr/>
        </p:nvSpPr>
        <p:spPr>
          <a:xfrm>
            <a:off x="5008880" y="1783080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1400" dirty="0"/>
          </a:p>
        </p:txBody>
      </p:sp>
      <p:sp>
        <p:nvSpPr>
          <p:cNvPr id="14" name="Text 14"/>
          <p:cNvSpPr/>
          <p:nvPr/>
        </p:nvSpPr>
        <p:spPr>
          <a:xfrm>
            <a:off x="4505960" y="2258568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frames, resize and crop images, normalize pixel values, and apply augmentation such as random rotation, scaling, mirroring, brightness adjustment, and background randomization.</a:t>
            </a:r>
            <a:endParaRPr lang="en-US" sz="950" dirty="0"/>
          </a:p>
        </p:txBody>
      </p:sp>
      <p:sp>
        <p:nvSpPr>
          <p:cNvPr id="15" name="Shape 15"/>
          <p:cNvSpPr/>
          <p:nvPr/>
        </p:nvSpPr>
        <p:spPr>
          <a:xfrm>
            <a:off x="8097520" y="1600200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8280400" y="1783080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82804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8"/>
          <p:cNvSpPr/>
          <p:nvPr/>
        </p:nvSpPr>
        <p:spPr>
          <a:xfrm>
            <a:off x="8783320" y="1783080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&amp; Feature Extraction</a:t>
            </a:r>
            <a:endParaRPr lang="en-US" sz="1400" dirty="0"/>
          </a:p>
        </p:txBody>
      </p:sp>
      <p:sp>
        <p:nvSpPr>
          <p:cNvPr id="19" name="Text 19"/>
          <p:cNvSpPr/>
          <p:nvPr/>
        </p:nvSpPr>
        <p:spPr>
          <a:xfrm>
            <a:off x="8280400" y="2258568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Holistic extracts hand, body, and face landmarks. In parallel, a lightweight CNN backbone extracts visual appearance features from each frame.</a:t>
            </a:r>
            <a:endParaRPr lang="en-US" sz="950" dirty="0"/>
          </a:p>
        </p:txBody>
      </p:sp>
      <p:sp>
        <p:nvSpPr>
          <p:cNvPr id="20" name="Shape 20"/>
          <p:cNvSpPr/>
          <p:nvPr/>
        </p:nvSpPr>
        <p:spPr>
          <a:xfrm>
            <a:off x="548640" y="4051893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1" name="Shape 21"/>
          <p:cNvSpPr/>
          <p:nvPr/>
        </p:nvSpPr>
        <p:spPr>
          <a:xfrm>
            <a:off x="731520" y="4234773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31520" y="423477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1234440" y="4234773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&amp; Modeling</a:t>
            </a:r>
            <a:endParaRPr lang="en-US" sz="1400" dirty="0"/>
          </a:p>
        </p:txBody>
      </p:sp>
      <p:sp>
        <p:nvSpPr>
          <p:cNvPr id="24" name="Text 24"/>
          <p:cNvSpPr/>
          <p:nvPr/>
        </p:nvSpPr>
        <p:spPr>
          <a:xfrm>
            <a:off x="731520" y="4710261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landmark-based skeletal features with CNN visual features. Pass the combined representation through a Transformer Encoder to learn temporal dependencies.</a:t>
            </a:r>
            <a:endParaRPr lang="en-US" sz="950" dirty="0"/>
          </a:p>
        </p:txBody>
      </p:sp>
      <p:sp>
        <p:nvSpPr>
          <p:cNvPr id="25" name="Shape 25"/>
          <p:cNvSpPr/>
          <p:nvPr/>
        </p:nvSpPr>
        <p:spPr>
          <a:xfrm>
            <a:off x="4323080" y="4051893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4505960" y="4234773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4505960" y="423477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8"/>
          <p:cNvSpPr/>
          <p:nvPr/>
        </p:nvSpPr>
        <p:spPr>
          <a:xfrm>
            <a:off x="5008880" y="4234773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Evaluation</a:t>
            </a:r>
            <a:endParaRPr lang="en-US" sz="1400" dirty="0"/>
          </a:p>
        </p:txBody>
      </p:sp>
      <p:sp>
        <p:nvSpPr>
          <p:cNvPr id="29" name="Text 29"/>
          <p:cNvSpPr/>
          <p:nvPr/>
        </p:nvSpPr>
        <p:spPr>
          <a:xfrm>
            <a:off x="4505960" y="4710261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isolated and continuous sign sequences using CTC Loss or Softmax classification. Evaluate using Accuracy, Precision, Recall, F1-Score, WER, and FPS.</a:t>
            </a:r>
            <a:endParaRPr lang="en-US" sz="950" dirty="0"/>
          </a:p>
        </p:txBody>
      </p:sp>
      <p:sp>
        <p:nvSpPr>
          <p:cNvPr id="30" name="Shape 30"/>
          <p:cNvSpPr/>
          <p:nvPr/>
        </p:nvSpPr>
        <p:spPr>
          <a:xfrm>
            <a:off x="8097520" y="4051893"/>
            <a:ext cx="3545840" cy="2223093"/>
          </a:xfrm>
          <a:prstGeom prst="roundRect">
            <a:avLst>
              <a:gd name="adj" fmla="val 2532"/>
            </a:avLst>
          </a:prstGeom>
          <a:solidFill>
            <a:srgbClr val="F4FAF9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31" name="Shape 31"/>
          <p:cNvSpPr/>
          <p:nvPr/>
        </p:nvSpPr>
        <p:spPr>
          <a:xfrm>
            <a:off x="8280400" y="4234773"/>
            <a:ext cx="365760" cy="365760"/>
          </a:xfrm>
          <a:prstGeom prst="ellipse">
            <a:avLst/>
          </a:prstGeom>
          <a:solidFill>
            <a:srgbClr val="05386B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8280400" y="423477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3"/>
          <p:cNvSpPr/>
          <p:nvPr/>
        </p:nvSpPr>
        <p:spPr>
          <a:xfrm>
            <a:off x="8783320" y="4234773"/>
            <a:ext cx="267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Deployment</a:t>
            </a:r>
            <a:endParaRPr lang="en-US" sz="1400" dirty="0"/>
          </a:p>
        </p:txBody>
      </p:sp>
      <p:sp>
        <p:nvSpPr>
          <p:cNvPr id="34" name="Text 34"/>
          <p:cNvSpPr/>
          <p:nvPr/>
        </p:nvSpPr>
        <p:spPr>
          <a:xfrm>
            <a:off x="8280400" y="4710261"/>
            <a:ext cx="3180080" cy="1381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recognized sign as text, convert it to speech using Text-to-Speech, and deploy the pipeline as a real-time application.</a:t>
            </a:r>
            <a:endParaRPr lang="en-US" sz="950" dirty="0"/>
          </a:p>
        </p:txBody>
      </p:sp>
      <p:sp>
        <p:nvSpPr>
          <p:cNvPr id="35" name="Text 3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0" dirty="0">
                <a:solidFill>
                  <a:srgbClr val="A9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36" name="Picture 35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64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EVALUATION &amp; 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25880" y="411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success will be measured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Top-1 / Top-5 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Isolated-word recognition performance on WLASL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28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Error Rate (WER)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423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sentence-level accuracy on RWTH-PHOENIX-Weather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28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/ Weighted F1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423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 across common and rare signs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2E33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28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Speed (FPS)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98280" y="2423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readiness on standard hardware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0B242A"/>
          </a:solidFill>
          <a:ln w="12700">
            <a:solidFill>
              <a:srgbClr val="1C4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real-time sign recognition prototype benchmarked against published baselines, with results reported transparently — the target is a measurable, evidence-based improvement rather than an assumed one, validated through the benchmarking step above.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20" name="Picture 19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Sign Language Recognition Using Video and Hand Gesture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8" name="Picture 7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"/>
            <a:ext cx="914400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1257</Words>
  <Application>Microsoft Office PowerPoint</Application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KOSARAJU SAI SREE CHOWDARY</cp:lastModifiedBy>
  <cp:revision>3</cp:revision>
  <dcterms:created xsi:type="dcterms:W3CDTF">2026-08-05T05:07:16Z</dcterms:created>
  <dcterms:modified xsi:type="dcterms:W3CDTF">2026-08-13T08:44:22Z</dcterms:modified>
</cp:coreProperties>
</file>