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r2_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301" r:id="rId101"/>
    <p:sldId id="302" r:id="rId102"/>
    <p:sldId id="303" r:id="rId103"/>
    <p:sldId id="304" r:id="rId104"/>
    <p:sldId id="305" r:id="rId105"/>
    <p:sldId id="306" r:id="rId106"/>
    <p:sldId id="307" r:id="rId107"/>
    <p:sldId id="308" r:id="rId108"/>
    <p:sldId id="309" r:id="rId109"/>
    <p:sldId id="310" r:id="rId110"/>
    <p:sldId id="311" r:id="rId111"/>
    <p:sldId id="312" r:id="rId112"/>
    <p:sldId id="313" r:id="rId29"/>
    <p:sldId id="314" r:id="rId30"/>
    <p:sldId id="315" r:id="rId31"/>
    <p:sldId id="316" r:id="rId32"/>
    <p:sldId id="317" r:id="rId33"/>
    <p:sldId id="318" r:id="rId34"/>
    <p:sldId id="319" r:id="rId35"/>
    <p:sldId id="320" r:id="rId36"/>
    <p:sldId id="321" r:id="rId37"/>
    <p:sldId id="322" r:id="rId38"/>
    <p:sldId id="323" r:id="rId39"/>
    <p:sldId id="324" r:id="rId40"/>
    <p:sldId id="325" r:id="rId41"/>
    <p:sldId id="326" r:id="rId42"/>
    <p:sldId id="327" r:id="rId43"/>
    <p:sldId id="328" r:id="rId44"/>
    <p:sldId id="329" r:id="rId45"/>
    <p:sldId id="330" r:id="rId46"/>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4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101" Type="http://schemas.openxmlformats.org/officeDocument/2006/relationships/slide" Target="slides/slide10.xml"/><Relationship Id="rId102" Type="http://schemas.openxmlformats.org/officeDocument/2006/relationships/slide" Target="slides/slide11.xml"/><Relationship Id="rId103" Type="http://schemas.openxmlformats.org/officeDocument/2006/relationships/slide" Target="slides/slide12.xml"/><Relationship Id="rId104" Type="http://schemas.openxmlformats.org/officeDocument/2006/relationships/slide" Target="slides/slide13.xml"/><Relationship Id="rId105" Type="http://schemas.openxmlformats.org/officeDocument/2006/relationships/slide" Target="slides/slide14.xml"/><Relationship Id="rId106" Type="http://schemas.openxmlformats.org/officeDocument/2006/relationships/slide" Target="slides/slide15.xml"/><Relationship Id="rId107" Type="http://schemas.openxmlformats.org/officeDocument/2006/relationships/slide" Target="slides/slide16.xml"/><Relationship Id="rId108" Type="http://schemas.openxmlformats.org/officeDocument/2006/relationships/slide" Target="slides/slide17.xml"/><Relationship Id="rId109" Type="http://schemas.openxmlformats.org/officeDocument/2006/relationships/slide" Target="slides/slide18.xml"/><Relationship Id="rId110" Type="http://schemas.openxmlformats.org/officeDocument/2006/relationships/slide" Target="slides/slide19.xml"/><Relationship Id="rId111" Type="http://schemas.openxmlformats.org/officeDocument/2006/relationships/slide" Target="slides/slide20.xml"/><Relationship Id="rId112" Type="http://schemas.openxmlformats.org/officeDocument/2006/relationships/slide" Target="slides/slide21.xml"/></Relationships>
</file>

<file path=ppt/charts/_rels/r2_chart1.xml.rels><?xml version='1.0' encoding='UTF-8' standalone='yes'?>
<Relationships xmlns="http://schemas.openxmlformats.org/package/2006/relationships"><Relationship Id="rId1" Type="http://schemas.openxmlformats.org/officeDocument/2006/relationships/package" Target="../embeddings/r2_Microsoft_Excel_Worksheet1.xlsx"/></Relationships>
</file>

<file path=ppt/charts/r2_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Top-1</c:v>
                </c:pt>
              </c:strCache>
            </c:strRef>
          </c:tx>
          <c:spPr>
            <a:solidFill>
              <a:schemeClr val="accent1"/>
            </a:solidFill>
            <a:ln w="9525" cap="flat">
              <a:solidFill>
                <a:srgbClr val="F9F9F9"/>
              </a:solidFill>
              <a:prstDash val="solid"/>
              <a:round/>
            </a:ln>
            <a:effectLst/>
          </c:spPr>
          <c:dPt>
            <c:idx val="0"/>
            <c:bubble3D val="0"/>
            <c:spPr>
              <a:solidFill>
                <a:srgbClr val="2E9E5B"/>
              </a:solidFill>
              <a:ln w="16933" cap="flat">
                <a:solidFill>
                  <a:srgbClr val="FFFFFF"/>
                </a:solidFill>
                <a:prstDash val="solid"/>
                <a:round/>
              </a:ln>
              <a:effectLst/>
            </c:spPr>
          </c:dPt>
          <c:dPt>
            <c:idx val="1"/>
            <c:bubble3D val="0"/>
            <c:spPr>
              <a:solidFill>
                <a:srgbClr val="E0605A"/>
              </a:solidFill>
              <a:ln w="16933"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Correct</c:v>
                </c:pt>
                <c:pt idx="1">
                  <c:v>Wrong</c:v>
                </c:pt>
              </c:strCache>
            </c:strRef>
          </c:cat>
          <c:val>
            <c:numRef>
              <c:f>Sheet1!$B$2:$B$3</c:f>
              <c:numCache>
                <c:ptCount val="2"/>
                <c:pt idx="0">
                  <c:v>800</c:v>
                </c:pt>
                <c:pt idx="1">
                  <c:v>16</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33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a:t>
            </a:r>
          </a:p>
          <a:p>
            <a:r>
              <a:t>The contribution is the integration of part-aware temporal Conv1D encoders, engineered geometry, availability-aware gated fusion and HTMA for full-vocabulary isolated ISL recognition on the 262-class INCLUDE experiment.</a:t>
            </a:r>
          </a:p>
          <a:p>
            <a:r>
              <a:t>Key elements: separate left-hand and right-hand encoders, a separate pose encoder, a selected-face encoder, a geometry encoder, a 4-D availability mask, five-stream gated fusion, dilated temporal Conv1D, four HTMA blocks, and CLS + learned attention pooling.</a:t>
            </a:r>
          </a:p>
          <a:p>
            <a:r>
              <a:t>We do not claim to be the first to use MediaPipe or attention, and we do not claim to beat every existing model.</a:t>
            </a:r>
          </a:p>
          <a:p/>
          <a:p>
            <a:r>
              <a:t>POSSIBLE FOLLOW-UP</a:t>
            </a:r>
          </a:p>
          <a:p>
            <a:r>
              <a:t>Q: Did you use a CNN?</a:t>
            </a:r>
          </a:p>
          <a:p>
            <a:r>
              <a:t>A: Yes. We use custom temporal Conv1D layers on the landmark and geometry sequences. We did not use an RGB image CNN backbone such as EfficientNet or MobileNet.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CLOSING SUMMARY OF THE FINAL MODEL (use if asked to summarise)</a:t>
            </a:r>
          </a:p>
          <a:p>
            <a:r>
              <a:t>INPUT: 64 sampled frames.</a:t>
            </a:r>
          </a:p>
          <a:p>
            <a:r>
              <a:t>FEATURE EXTRACTION: MediaPipe hands + pose + selected face (534-D).</a:t>
            </a:r>
          </a:p>
          <a:p>
            <a:r>
              <a:t>ENGINEERED FEATURES: 469-D geometry, 4-D availability.</a:t>
            </a:r>
          </a:p>
          <a:p>
            <a:r>
              <a:t>TEMPORAL ENCODING: part-aware residual Conv1D with dilation 1 and 2.</a:t>
            </a:r>
          </a:p>
          <a:p>
            <a:r>
              <a:t>FUSION: availability-aware gated fusion, 400 → 320.</a:t>
            </a:r>
          </a:p>
          <a:p>
            <a:r>
              <a:t>LONG-RANGE TEMPORAL MODEL: 4 × HTMA, 8 heads, d_model = 320.</a:t>
            </a:r>
          </a:p>
          <a:p>
            <a:r>
              <a:t>POOLING: CLS + learned attention pooling.</a:t>
            </a:r>
          </a:p>
          <a:p>
            <a:r>
              <a:t>CLASSIFIER: 262 classes.</a:t>
            </a:r>
          </a:p>
          <a:p>
            <a:r>
              <a:t>OUTPUT: sign label → text → speech.</a:t>
            </a:r>
          </a:p>
          <a:p>
            <a:r>
              <a:t>RESULT (locked INCLUDE test set, 816 videos): 98.04% Top-1, 99.51% Top-5, 98.09% Macro-F1, 98.19% balanced accuracy.</a:t>
            </a:r>
          </a:p>
          <a:p>
            <a:r>
              <a:t>This is not webcam accuracy. Continuous recognition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40 s)</a:t>
            </a:r>
          </a:p>
          <a:p>
            <a:r>
              <a:t>Good morning. Our project is "AI-Based Hand Gesture Recognition for Sign Language Communication".</a:t>
            </a:r>
          </a:p>
          <a:p>
            <a:r>
              <a:t>The aim is to take a video of a person performing an Indian Sign Language sign, recognise which sign it is, and present the result as text and speech.</a:t>
            </a:r>
          </a:p>
          <a:p>
            <a:r>
              <a:t>We use only the INCLUDE dataset, with 262 classes. Our final model is a custom landmark-based network called IncludePartAwareConvHTMAV2. It samples 64 frames, uses MediaPipe landmarks for the hands, body pose and face together with engineered geometry features, encodes each body part with temporal convolutions, fuses the streams with learned gates, and models the sequence with Head-Token Mixing Attention, or HTMA.</a:t>
            </a:r>
          </a:p>
          <a:p>
            <a:r>
              <a:t>The recognition network is custom-built. It uses temporal Conv1D layers on the landmark and geometry sequences, but no RGB image CNN backbone such as EfficientNet or MobileNet; MediaPipe is the external pre-trained landmark extractor.</a:t>
            </a:r>
          </a:p>
          <a:p>
            <a:r>
              <a:t>On the locked INCLUDE test set of 816 videos, the model reached a Top-1 accuracy of 98.04%.</a:t>
            </a:r>
          </a:p>
          <a:p>
            <a:r>
              <a:t>In this review I will cover Methodology, System Design, Tools and Technologies, Implementation, Results and Performance Evaluation.</a:t>
            </a:r>
          </a:p>
          <a:p/>
          <a:p>
            <a:r>
              <a:t>POSSIBLE FOLLOW-UP</a:t>
            </a:r>
          </a:p>
          <a:p>
            <a:r>
              <a:t>Q: Why is this problem useful?</a:t>
            </a:r>
          </a:p>
          <a:p>
            <a:r>
              <a:t>A: Many people do not understand sign language, so an automatic sign-to-text/speech system can help reduce the communication gap.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55 s)</a:t>
            </a:r>
          </a:p>
          <a:p>
            <a:r>
              <a:t>This slide shows our complete methodology as ten stages.</a:t>
            </a:r>
          </a:p>
          <a:p>
            <a:r>
              <a:t>1. We start with INCLUDE sign videos, using the official split with 262 classes.</a:t>
            </a:r>
          </a:p>
          <a:p>
            <a:r>
              <a:t>2. Every video is uniformly sampled into exactly 64 frames with np.linspace; short videos are padded with their last frame.</a:t>
            </a:r>
          </a:p>
          <a:p>
            <a:r>
              <a:t>3. MediaPipe extracts landmarks for the left hand, right hand, body pose and selected face points: 534 values per frame.</a:t>
            </a:r>
          </a:p>
          <a:p>
            <a:r>
              <a:t>4. From the landmarks we build 469 geometry features, such as bone lengths, joint angles and hand velocity, and a 4-value availability mask that says which parts were detected.</a:t>
            </a:r>
          </a:p>
          <a:p>
            <a:r>
              <a:t>5. Each body part and the geometry get their own temporal Conv1D encoder, and learned gates fuse them into one 320-dimensional vector per frame.</a:t>
            </a:r>
          </a:p>
          <a:p>
            <a:r>
              <a:t>6. A learned CLS token and positional embedding are added.</a:t>
            </a:r>
          </a:p>
          <a:p>
            <a:r>
              <a:t>7. Four HTMA blocks model relationships across all 64 frames.</a:t>
            </a:r>
          </a:p>
          <a:p>
            <a:r>
              <a:t>8. The CLS output and a learned attention pooling are combined and classified into one of 262 signs.</a:t>
            </a:r>
          </a:p>
          <a:p>
            <a:r>
              <a:t>9 and 10. The predicted sign is shown as text and spoken with the browser Web Speech API.</a:t>
            </a:r>
          </a:p>
          <a:p/>
          <a:p>
            <a:r>
              <a:t>POSSIBLE FOLLOW-UP</a:t>
            </a:r>
          </a:p>
          <a:p>
            <a:r>
              <a:t>Q: Why 64 frames?</a:t>
            </a:r>
          </a:p>
          <a:p>
            <a:r>
              <a:t>A: It gives a fixed input size while still covering the whole clip through uniform sampling.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50 s)</a:t>
            </a:r>
          </a:p>
          <a:p>
            <a:r>
              <a:t>Here I explain why the model combines three ideas.</a:t>
            </a:r>
          </a:p>
          <a:p>
            <a:r>
              <a:t>First, part-aware encoding. The left hand, right hand, body pose and face carry different information, so each part has its own encoder: LayerNorm, a linear projection, GELU and two residual temporal Conv1D blocks.</a:t>
            </a:r>
          </a:p>
          <a:p>
            <a:r>
              <a:t>Second, geometry. Raw coordinates do not directly say how joints relate. So we add 469 engineered features: hand-centric coordinates, bone lengths, joint angles, spatial relations, hand velocity and acceleration. A 4-value availability mask tells the model which parts were actually detected, and learned gates can reduce the weight of a stream that is missing.</a:t>
            </a:r>
          </a:p>
          <a:p>
            <a:r>
              <a:t>Third, time. A sign is a movement, not a single pose. Dilated Conv1D blocks learn short local motion, and HTMA links every frame to every other frame across all 64 frames.</a:t>
            </a:r>
          </a:p>
          <a:p/>
          <a:p>
            <a:r>
              <a:t>POSSIBLE FOLLOW-UP</a:t>
            </a:r>
          </a:p>
          <a:p>
            <a:r>
              <a:t>Q: Did you use a CNN?</a:t>
            </a:r>
          </a:p>
          <a:p>
            <a:r>
              <a:t>A: Yes. We use custom temporal Conv1D layers on the landmark and geometry sequences. We did not use an RGB image CNN backbone such as EfficientNet or MobileNet.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55 s)</a:t>
            </a:r>
          </a:p>
          <a:p>
            <a:r>
              <a:t>This is our system architecture. Read it from top to bottom.</a:t>
            </a:r>
          </a:p>
          <a:p>
            <a:r>
              <a:t>The video is uniformly sampled into 64 frames, and MediaPipe extracts the landmarks. This gives two kinds of input.</a:t>
            </a:r>
          </a:p>
          <a:p>
            <a:r>
              <a:t>The amber branch is the landmark stream: left hand, right hand, pose and face landmarks, each processed by its own part-aware temporal Conv1D encoder into 64 values per frame.</a:t>
            </a:r>
          </a:p>
          <a:p>
            <a:r>
              <a:t>The teal branch is the geometry and availability stream: 469 geometry features encoded to 128 values, and the 4-value availability mask projected to 16 values.</a:t>
            </a:r>
          </a:p>
          <a:p>
            <a:r>
              <a:t>Both branches meet at gated fusion, where five learned gates weight the streams; the 400-value result is projected to 320.</a:t>
            </a:r>
          </a:p>
          <a:p>
            <a:r>
              <a:t>There is no RGB image CNN branch: after MediaPipe, everything is landmark and geometry based. Four HTMA blocks, shown in indigo, model the whole sequence. Then the CLS token and attention pooling feed the classifier over 262 classes, and the output stage shows text and speaks it.</a:t>
            </a:r>
          </a:p>
          <a:p/>
          <a:p>
            <a:r>
              <a:t>POSSIBLE FOLLOW-UP</a:t>
            </a:r>
          </a:p>
          <a:p>
            <a:r>
              <a:t>Q: What exactly is the gate?</a:t>
            </a:r>
          </a:p>
          <a:p>
            <a:r>
              <a:t>A: A small network, 400 to 96 to 5 with GELU and a sigmoid, gives one weight between 0 and 1 for each of the five streams.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45 s)</a:t>
            </a:r>
          </a:p>
          <a:p>
            <a:r>
              <a:t>This table lists what each module receives and produces.</a:t>
            </a:r>
          </a:p>
          <a:p>
            <a:r>
              <a:t>Preprocessing turns a raw video into 64 uniformly sampled frames.</a:t>
            </a:r>
          </a:p>
          <a:p>
            <a:r>
              <a:t>The MediaPipe stage produces 534 landmark values, 469 geometry values and 4 availability values per frame.</a:t>
            </a:r>
          </a:p>
          <a:p>
            <a:r>
              <a:t>The part-aware encoders turn the hand, pose, face and geometry streams into four 64-value part features and a 128-value geometry feature.</a:t>
            </a:r>
          </a:p>
          <a:p>
            <a:r>
              <a:t>Gated fusion combines these five streams with the 16-value availability representation and produces one 320-value vector per frame.</a:t>
            </a:r>
          </a:p>
          <a:p>
            <a:r>
              <a:t>Four HTMA blocks process the CLS token plus the 64 frame tokens.</a:t>
            </a:r>
          </a:p>
          <a:p>
            <a:r>
              <a:t>The classifier takes the CLS output joined with attention pooling, 640 values projected to 320, and scores 262 classes. The output module shows the label and speaks it with the Web Speech API.</a:t>
            </a:r>
          </a:p>
          <a:p/>
          <a:p>
            <a:r>
              <a:t>POSSIBLE FOLLOW-UP</a:t>
            </a:r>
          </a:p>
          <a:p>
            <a:r>
              <a:t>Q: What is inside a residual temporal block?</a:t>
            </a:r>
          </a:p>
          <a:p>
            <a:r>
              <a:t>A: LayerNorm, a depthwise Conv1D with kernel 3 (dilation 1 or 2), GELU, a pointwise expansion, GELU, dropout, a pointwise projection, and a residual connection.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45 s)</a:t>
            </a:r>
          </a:p>
          <a:p>
            <a:r>
              <a:t>These are the technologies used in the final implementation.</a:t>
            </a:r>
          </a:p>
          <a:p>
            <a:r>
              <a:t>Python is the main language. OpenCV reads the videos frame by frame. MediaPipe provides pre-trained hand, pose and face landmark detection.</a:t>
            </a:r>
          </a:p>
          <a:p>
            <a:r>
              <a:t>PyTorch is used for the custom model, the training loop, checkpointing and inference.</a:t>
            </a:r>
          </a:p>
          <a:p>
            <a:r>
              <a:t>FastAPI serves the model: the /predict endpoint accepts a video and returns the predicted label, confidence and the ranked Top-5 candidates.</a:t>
            </a:r>
          </a:p>
          <a:p>
            <a:r>
              <a:t>React with Vite is the frontend for uploading or recording video and showing the result.</a:t>
            </a:r>
          </a:p>
          <a:p>
            <a:r>
              <a:t>NumPy stores landmark and feature arrays, Pandas manages dataset metadata and class mappings, and the browser Web Speech API speaks the recognised sign with an Indian-English voice when available.</a:t>
            </a:r>
          </a:p>
          <a:p>
            <a:r>
              <a:t>Note on the model: it is built in PyTorch. Its convolutional layers are custom temporal Conv1D layers on landmark and geometry sequences; there is no RGB image CNN backbone (no EfficientNet or MobileNet), and TensorFlow/Keras is not used.</a:t>
            </a:r>
          </a:p>
          <a:p/>
          <a:p>
            <a:r>
              <a:t>POSSIBLE FOLLOW-UP</a:t>
            </a:r>
          </a:p>
          <a:p>
            <a:r>
              <a:t>Q: Why MediaPipe?</a:t>
            </a:r>
          </a:p>
          <a:p>
            <a:r>
              <a:t>A: It gives ready-to-use, pre-trained hand, pose and face landmarks, so we did not have to train a keypoint detector ourselves.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55 s)</a:t>
            </a:r>
          </a:p>
          <a:p>
            <a:r>
              <a:t>Now the implementation, steps 1 to 6.</a:t>
            </a:r>
          </a:p>
          <a:p>
            <a:r>
              <a:t>We use the official INCLUDE partition: 3,121 training, 347 validation and 816 test videos, 262 classes after excluding the class 'secondnumber'.</a:t>
            </a:r>
          </a:p>
          <a:p>
            <a:r>
              <a:t>OpenCV reads each video, and exactly 64 frame positions are chosen with np.linspace. If a video is too short, the last frame is repeated.</a:t>
            </a:r>
          </a:p>
          <a:p>
            <a:r>
              <a:t>For every sampled frame MediaPipe extracts the hands, pose and selected face landmarks. Missing values are zero-filled, pose-guided hand rescue recovers hands where possible, and the availability mask records which parts were found.</a:t>
            </a:r>
          </a:p>
          <a:p>
            <a:r>
              <a:t>We then build the 469 geometry features and normalise the inputs with statistics from the training set.</a:t>
            </a:r>
          </a:p>
          <a:p>
            <a:r>
              <a:t>Finally the part encoders process each stream and gated fusion produces one 320-value vector per frame. Repeating this for all 64 frames gives the sequence for the video.</a:t>
            </a:r>
          </a:p>
          <a:p/>
          <a:p>
            <a:r>
              <a:t>POSSIBLE FOLLOW-UP</a:t>
            </a:r>
          </a:p>
          <a:p>
            <a:r>
              <a:t>Q: What if MediaPipe does not detect a hand?</a:t>
            </a:r>
          </a:p>
          <a:p>
            <a:r>
              <a:t>A: Its values are zero-filled, the availability mask marks it as missing, and the gates can lower the weight of that stream.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50 s)</a:t>
            </a:r>
          </a:p>
          <a:p>
            <a:r>
              <a:t>This slide covers steps 7 to 10.</a:t>
            </a:r>
          </a:p>
          <a:p>
            <a:r>
              <a:t>A learned CLS token and learned positional embeddings are added to the 64 frame vectors, giving 65 tokens of 320 values.</a:t>
            </a:r>
          </a:p>
          <a:p>
            <a:r>
              <a:t>Four HTMA blocks process this sequence. Each block uses 8 attention heads of 40 dimensions, a head-token mixing step (a learned 8-to-8 mixer across heads after the attention), and a 320 to 1280 to 320 MLP, with residual connections.</a:t>
            </a:r>
          </a:p>
          <a:p>
            <a:r>
              <a:t>Then the CLS output is concatenated with a learned attention pooling over the 64 frame tokens (640 values), projected to 320, and a linear layer gives a score for each of the 262 classes.</a:t>
            </a:r>
          </a:p>
          <a:p>
            <a:r>
              <a:t>The highest score is the Top-1 prediction and the five highest form the Top-5 ranking.</a:t>
            </a:r>
          </a:p>
          <a:p>
            <a:r>
              <a:t>For the final evaluation we used the best-validation checkpoint from epoch 38, in its EMA state, on the locked test set of 816 videos covering all 262 classes. The evaluation run took 6.60 seconds.</a:t>
            </a:r>
          </a:p>
          <a:p/>
          <a:p>
            <a:r>
              <a:t>POSSIBLE FOLLOW-UP</a:t>
            </a:r>
          </a:p>
          <a:p>
            <a:r>
              <a:t>Q: Is epoch 38 the last epoch?</a:t>
            </a:r>
          </a:p>
          <a:p>
            <a:r>
              <a:t>A: No. Training could run to 70 epochs with early stopping; epoch 38 is the checkpoint with the best validation performance.</a:t>
            </a:r>
          </a:p>
          <a:p>
            <a:r>
              <a:t>Q: Is 6.60 s a real-time speed claim?</a:t>
            </a:r>
          </a:p>
          <a:p>
            <a:r>
              <a:t>A: No. It is the total time of the evaluation run and depends on the hardware.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45 s)</a:t>
            </a:r>
          </a:p>
          <a:p>
            <a:r>
              <a:t>Completed: dataset preparation with 262 classes, 64-frame sampling, MediaPipe landmark extraction, geometry and availability features, the part-aware Conv1D encoders with gated fusion, the four HTMA blocks with the CLS and attention-pool classifier, and the locked test evaluation using the epoch-38 EMA checkpoint.</a:t>
            </a:r>
          </a:p>
          <a:p>
            <a:r>
              <a:t>The application is also built: a FastAPI backend and a React frontend that show the predicted sign as text and speak it in the browser.</a:t>
            </a:r>
          </a:p>
          <a:p>
            <a:r>
              <a:t>Still in progress: adapting the model to live webcam video, which will be measured as a separate experiment, and continuous sign recognition, which is a future extension.</a:t>
            </a:r>
          </a:p>
          <a:p>
            <a:r>
              <a:t>All results in this review come from the locked INCLUDE test set.</a:t>
            </a:r>
          </a:p>
          <a:p/>
          <a:p>
            <a:r>
              <a:t>POSSIBLE FOLLOW-UP</a:t>
            </a:r>
          </a:p>
          <a:p>
            <a:r>
              <a:t>Q: Do you have webcam accuracy?</a:t>
            </a:r>
          </a:p>
          <a:p>
            <a:r>
              <a:t>A: Not yet. The application supports webcam recording and inference, but measured webcam accuracy has not been reported. The 98.04% is the result on the locked INCLUDE test set.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55 s)</a:t>
            </a:r>
          </a:p>
          <a:p>
            <a:r>
              <a:t>These are the actual results from our final evaluation on the locked INCLUDE262 test set.</a:t>
            </a:r>
          </a:p>
          <a:p>
            <a:r>
              <a:t>The main result is a Top-1 accuracy of 98.04%. Out of 816 test samples, 800 were correctly classified by the model's first prediction and only 16 were wrong.</a:t>
            </a:r>
          </a:p>
          <a:p>
            <a:r>
              <a:t>The Top-5 accuracy is 99.51%. Macro-F1 is 98.09% and balanced accuracy is 98.19%; all 262 of 262 classes were represented in the test set.</a:t>
            </a:r>
          </a:p>
          <a:p>
            <a:r>
              <a:t>The evaluation used the best-validation checkpoint from epoch 38 in its EMA state, and the full evaluation run took 6.60 seconds.</a:t>
            </a:r>
          </a:p>
          <a:p>
            <a:r>
              <a:t>These are measured values from the test run, not estimates, and they are not webcam accuracy.</a:t>
            </a:r>
          </a:p>
          <a:p/>
          <a:p>
            <a:r>
              <a:t>POSSIBLE FOLLOW-UP</a:t>
            </a:r>
          </a:p>
          <a:p>
            <a:r>
              <a:t>Q: How is 98.04% calculated?</a:t>
            </a:r>
          </a:p>
          <a:p>
            <a:r>
              <a:t>A: Correct Top-1 predictions divided by total test samples: 800 / 816 = 98.04%.</a:t>
            </a:r>
          </a:p>
          <a:p>
            <a:r>
              <a:t>Q: What does "supported classes only" mean?</a:t>
            </a:r>
          </a:p>
          <a:p>
            <a:r>
              <a:t>A: The metric is averaged over classes that have test samples. In our test set all 262 classes are represented.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45 s)
Here the same measured values are organised as a performance table, together with a chart of the Top-1 outcomes.
The doughnut chart shows the split of the 816 test samples: 800 correct and 16 incorrect at Top-1.
The table lists Top-1 accuracy of 98.04%, Top-5 accuracy of 99.51%, Macro-F1 of 98.09%, balanced accuracy of 98.19%, all 262 of 262 test classes represented, and 816 test samples.
Accuracy tells us overall correctness. Macro-F1 and balanced accuracy look at performance class by class, which matters because we have 262 classes.
POSSIBLE FOLLOW-UP
Q: Why report more than one metric?
A: Accuracy alone can hide weak classes. Macro-F1 and balanced accuracy give every class equal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TO SAY (about 55 s)</a:t>
            </a:r>
          </a:p>
          <a:p>
            <a:r>
              <a:t>This slide explains what each metric tells us.</a:t>
            </a:r>
          </a:p>
          <a:p>
            <a:r>
              <a:t>Top-1 accuracy of 98.04% means the highest-scoring class was correct for 800 of 816 samples.</a:t>
            </a:r>
          </a:p>
          <a:p>
            <a:r>
              <a:t>Top-5 accuracy of 99.51% means the correct sign was within the top five predictions for 812 of 816 samples, so 12 of the 16 Top-1 errors still ranked the right sign in the top five.</a:t>
            </a:r>
          </a:p>
          <a:p>
            <a:r>
              <a:t>Macro-F1 of 98.09% averages the F1-score of each class with equal weight.</a:t>
            </a:r>
          </a:p>
          <a:p>
            <a:r>
              <a:t>Balanced accuracy of 98.19% is the average recall per class.</a:t>
            </a:r>
          </a:p>
          <a:p>
            <a:r>
              <a:t>Scope: these numbers describe the locked INCLUDE test split with the epoch-38 EMA checkpoint. Live webcam use has not been evaluated, so we do not claim it.</a:t>
            </a:r>
          </a:p>
          <a:p/>
          <a:p>
            <a:r>
              <a:t>====================================================</a:t>
            </a:r>
          </a:p>
          <a:p>
            <a:r>
              <a:t>REVIEW-2 VIVA PREPARATION (likely questions and short answers)</a:t>
            </a:r>
          </a:p>
          <a:p>
            <a:r>
              <a:t>====================================================</a:t>
            </a:r>
          </a:p>
          <a:p>
            <a:r>
              <a:t>--- DATASET ---</a:t>
            </a:r>
          </a:p>
          <a:p>
            <a:r>
              <a:t>Q1. What is INCLUDE?</a:t>
            </a:r>
          </a:p>
          <a:p>
            <a:r>
              <a:t>A: A public video dataset of isolated Indian Sign Language signs. We use the official partition: 3,121 train, 347 validation, 816 test videos.</a:t>
            </a:r>
          </a:p>
          <a:p>
            <a:r>
              <a:t>Q2. Why 262 classes and not 263?</a:t>
            </a:r>
          </a:p>
          <a:p>
            <a:r>
              <a:t>A: The class 'secondnumber' is excluded from the final experiment, leaving 262 classes. All 262 appear in the test set.</a:t>
            </a:r>
          </a:p>
          <a:p/>
          <a:p>
            <a:r>
              <a:t>--- METHODOLOGY ---</a:t>
            </a:r>
          </a:p>
          <a:p>
            <a:r>
              <a:t>Q3. Explain your model in one sentence.</a:t>
            </a:r>
          </a:p>
          <a:p>
            <a:r>
              <a:t>A: 64 uniformly sampled frames, MediaPipe landmarks plus geometry and availability features, part-aware temporal Conv1D encoders, gated fusion to 320 dimensions, four HTMA blocks, and a CLS-plus-attention-pooling classifier over 262 classes.</a:t>
            </a:r>
          </a:p>
          <a:p>
            <a:r>
              <a:t>Q4. Why 64 frames?</a:t>
            </a:r>
          </a:p>
          <a:p>
            <a:r>
              <a:t>A: A fixed input size that still covers the whole clip through uniform np.linspace sampling; short clips are padded with the last frame.</a:t>
            </a:r>
          </a:p>
          <a:p/>
          <a:p>
            <a:r>
              <a:t>--- FEATURES ---</a:t>
            </a:r>
          </a:p>
          <a:p>
            <a:r>
              <a:t>Q5. What is in the 534-value landmark vector?</a:t>
            </a:r>
          </a:p>
          <a:p>
            <a:r>
              <a:t>A: Left hand 63 (21 x 3), right hand 63, pose 132 (33 x x, y, z, visibility) and selected face 276 values.</a:t>
            </a:r>
          </a:p>
          <a:p>
            <a:r>
              <a:t>Q6. What are the geometry features?</a:t>
            </a:r>
          </a:p>
          <a:p>
            <a:r>
              <a:t>A: 469 values: hand-centric coordinates, bone lengths, joint angles, spatial relations, hand velocity and acceleration.</a:t>
            </a:r>
          </a:p>
          <a:p>
            <a:r>
              <a:t>Q7. What is the availability mask?</a:t>
            </a:r>
          </a:p>
          <a:p>
            <a:r>
              <a:t>A: Four values, one per modality (left hand, right hand, pose, face), saying whether it was detected. It lets the model tell a missing detection from a real zero.</a:t>
            </a:r>
          </a:p>
          <a:p/>
          <a:p>
            <a:r>
              <a:t>--- ARCHITECTURE ---</a:t>
            </a:r>
          </a:p>
          <a:p>
            <a:r>
              <a:t>Q8. Why separate encoders for body parts?</a:t>
            </a:r>
          </a:p>
          <a:p>
            <a:r>
              <a:t>A: Hands, pose and face carry different information, so part-specific encoders can learn part-specific patterns.</a:t>
            </a:r>
          </a:p>
          <a:p>
            <a:r>
              <a:t>Q9. What is a residual temporal block?</a:t>
            </a:r>
          </a:p>
          <a:p>
            <a:r>
              <a:t>A: LayerNorm, depthwise Conv1D (kernel 3, dilation 1 or 2), GELU, pointwise expansion, GELU, dropout, pointwise projection, plus a residual connection.</a:t>
            </a:r>
          </a:p>
          <a:p>
            <a:r>
              <a:t>Q10. How does gated fusion work?</a:t>
            </a:r>
          </a:p>
          <a:p>
            <a:r>
              <a:t>A: The five encoded streams (64+64+64+64+128 = 384) plus the 16-value availability representation form 400 values. A 400-96-5 network with a sigmoid gives one weight per stream; the weighted streams with availability are projected from 400 to 320.</a:t>
            </a:r>
          </a:p>
          <a:p>
            <a:r>
              <a:t>Q11. What is HTMA?</a:t>
            </a:r>
          </a:p>
          <a:p>
            <a:r>
              <a:t>A: Head-Token Mixing Attention, our custom Transformer-style block: 8 heads of 40 dimensions, a learned 8-to-8 mixer across heads after attention, and a 320-1280-320 MLP with residual connections. We use four blocks.</a:t>
            </a:r>
          </a:p>
          <a:p>
            <a:r>
              <a:t>Q12. How is the sequence summarised?</a:t>
            </a:r>
          </a:p>
          <a:p>
            <a:r>
              <a:t>A: The CLS token output (320) is concatenated with a learned attention pooling over the 64 frame tokens (320), giving 640, projected to 320, then a linear layer outputs 262 logits.</a:t>
            </a:r>
          </a:p>
          <a:p>
            <a:r>
              <a:t>Q13. Does your model use a CNN or EfficientNet?</a:t>
            </a:r>
          </a:p>
          <a:p>
            <a:r>
              <a:t>A: Yes, the final model uses custom temporal Conv1D layers, which operate on landmark and geometry sequences. However, it does not use an RGB image CNN backbone such as EfficientNet, MobileNet, I3D or VGG16. MediaPipe is the external pretrained component used for landmark extraction.</a:t>
            </a:r>
          </a:p>
          <a:p/>
          <a:p>
            <a:r>
              <a:t>--- TRAINING ---</a:t>
            </a:r>
          </a:p>
          <a:p>
            <a:r>
              <a:t>Q14. What training settings did you use?</a:t>
            </a:r>
          </a:p>
          <a:p>
            <a:r>
              <a:t>A: AdamW, learning rate 2.5e-4, weight decay 2e-4, batch 32, up to 70 epochs, 5 warm-up epochs then cosine decay to 1e-6, gradient clipping 1.0, EMA 0.995, weighted cross-entropy with label smoothing 0.10, early-stopping patience 15, seed 42.</a:t>
            </a:r>
          </a:p>
          <a:p>
            <a:r>
              <a:t>Q15. How was the checkpoint chosen?</a:t>
            </a:r>
          </a:p>
          <a:p>
            <a:r>
              <a:t>A: By validation performance. Epoch 38 was the best; its EMA state was evaluated once on the locked test set.</a:t>
            </a:r>
          </a:p>
          <a:p>
            <a:r>
              <a:t>Q16. Was the test set used during training?</a:t>
            </a:r>
          </a:p>
          <a:p>
            <a:r>
              <a:t>A: No. The 816 test videos were not used for optimisation or checkpoint selection.</a:t>
            </a:r>
          </a:p>
          <a:p/>
          <a:p>
            <a:r>
              <a:t>--- RESULTS ---</a:t>
            </a:r>
          </a:p>
          <a:p>
            <a:r>
              <a:t>Q17. What does 98.04% mean?</a:t>
            </a:r>
          </a:p>
          <a:p>
            <a:r>
              <a:t>A: 800 of 816 test videos correct at Top-1.</a:t>
            </a:r>
          </a:p>
          <a:p>
            <a:r>
              <a:t>Q18. Does 98.04% mean webcam accuracy?</a:t>
            </a:r>
          </a:p>
          <a:p>
            <a:r>
              <a:t>A: No. Webcam performance is a separate domain-shift problem and has not been measured yet.</a:t>
            </a:r>
          </a:p>
          <a:p>
            <a:r>
              <a:t>Q19. Is your model better than the INCLUDE paper's 85.6%?</a:t>
            </a:r>
          </a:p>
          <a:p>
            <a:r>
              <a:t>A: The numbers are not directly comparable. The INCLUDE paper used 263 classes and its own test split; we use 262 classes and the official partition. A strict claim needs the same split, class count and metric.</a:t>
            </a:r>
          </a:p>
          <a:p>
            <a:r>
              <a:t>Q20. Did you analyse the 16 errors?</a:t>
            </a:r>
          </a:p>
          <a:p>
            <a:r>
              <a:t>A: Answer based on what you have done; if not yet, say it is the planned next step.</a:t>
            </a:r>
          </a:p>
          <a:p/>
          <a:p>
            <a:r>
              <a:t>--- APPLICATION ---</a:t>
            </a:r>
          </a:p>
          <a:p>
            <a:r>
              <a:t>Q21. How does text-to-speech work?</a:t>
            </a:r>
          </a:p>
          <a:p>
            <a:r>
              <a:t>A: The browser Web Speech API (speechSynthesis) speaks the predicted label, preferring an en-IN voice. The 98.04% is recognition accuracy, not speech accuracy.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TO SAY (about 25 s)</a:t>
            </a:r>
          </a:p>
          <a:p>
            <a:r>
              <a:rPr lang="en-US" dirty="0"/>
              <a:t>This section compares our work with five published works that I verified against the original papers: INCLUDE, SPOTER, SignBERT, the WLASL paper with I3D and Pose-TGCN, and Sign Language Transformers by Camgoz et al.</a:t>
            </a:r>
          </a:p>
          <a:p>
            <a:r>
              <a:rPr lang="en-US" dirty="0"/>
              <a:t>Important: our experiments use only the INCLUDE dataset. Other datasets such as WLASL or PHOENIX14T are mentioned only because these papers used them.</a:t>
            </a:r>
          </a:p>
          <a:p>
            <a:r>
              <a:rPr lang="en-US" dirty="0"/>
              <a:t>I will show what each paper does, where our work is different, and what we can and cannot claim.</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TO SAY (about 35 s)</a:t>
            </a:r>
          </a:p>
          <a:p>
            <a:r>
              <a:rPr lang="en-US" dirty="0"/>
              <a:t>These are the five reference papers. For each one I checked the title, authors, venue, year and DOI against the official publisher, CVF open-access or arXiv record.</a:t>
            </a:r>
          </a:p>
          <a:p>
            <a:r>
              <a:rPr lang="en-US" dirty="0"/>
              <a:t>INCLUDE is from ACM Multimedia 2020. SPOTER is from the WACV 2022 workshops. SignBERT is from ICCV 2021. The WLASL paper, which contains the I3D and Pose-TGCN models, is from WACV 2020. Sign Language Transformers by Camgoz et al. is from CVPR 2020.</a:t>
            </a:r>
          </a:p>
          <a:p>
            <a:r>
              <a:rPr lang="en-US" dirty="0"/>
              <a:t>Each DOI resolves to the official publisher page. arXiv versions exist for SignBERT, WLASL and Camgoz et al.; I did not find arXiv versions of INCLUDE or SPOTER.</a:t>
            </a:r>
          </a:p>
          <a:p/>
          <a:p>
            <a:r>
              <a:rPr lang="en-US" dirty="0"/>
              <a:t>SOURCE LINKS</a:t>
            </a:r>
          </a:p>
          <a:p>
            <a:r>
              <a:rPr lang="en-US" dirty="0"/>
              <a:t>[1] https://dl.acm.org/doi/10.1145/3394171.3413528</a:t>
            </a:r>
          </a:p>
          <a:p>
            <a:r>
              <a:rPr lang="en-US" dirty="0"/>
              <a:t>[2] https://openaccess.thecvf.com/content/WACV2022W/HADCV/html/Bohacek_Sign_Pose-Based_Transformer_for_Word-Level_Sign_Language_Recognition_WACVW_2022_paper.html</a:t>
            </a:r>
          </a:p>
          <a:p>
            <a:r>
              <a:rPr lang="en-US" dirty="0"/>
              <a:t>[3] https://arxiv.org/abs/2110.05382</a:t>
            </a:r>
          </a:p>
          <a:p>
            <a:r>
              <a:rPr lang="en-US" dirty="0"/>
              <a:t>[4] https://arxiv.org/abs/1910.11006</a:t>
            </a:r>
          </a:p>
          <a:p>
            <a:r>
              <a:rPr lang="en-US" dirty="0"/>
              <a:t>[5] https://arxiv.org/abs/2003.13830</a:t>
            </a:r>
          </a:p>
          <a:p/>
          <a:p>
            <a:r>
              <a:rPr lang="en-US" dirty="0"/>
              <a:t>POSSIBLE FOLLOW-UP</a:t>
            </a:r>
          </a:p>
          <a:p>
            <a:r>
              <a:rPr lang="en-US" dirty="0"/>
              <a:t>Q: Why these five papers?</a:t>
            </a:r>
          </a:p>
          <a:p>
            <a:r>
              <a:rPr lang="en-US" dirty="0"/>
              <a:t>A: They cover the main design choices related to our model: an ISL benchmark, a pose-based Transformer, a hand-aware pre-trained Transformer, RGB versus pose baselines, and a CNN + Transformer system for continuous signing and translation.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TO SAY (about 45 s)</a:t>
            </a:r>
          </a:p>
          <a:p>
            <a:r>
              <a:rPr lang="en-US" dirty="0"/>
              <a:t>This slide shows the experimental setting of each paper.</a:t>
            </a:r>
          </a:p>
          <a:p>
            <a:r>
              <a:rPr lang="en-US" dirty="0"/>
              <a:t>Only INCLUDE uses Indian Sign Language: 263 signs, plus a 50-sign subset. Its best model reached 85.6% on the full set and 94.5% on INCLUDE-50.</a:t>
            </a:r>
          </a:p>
          <a:p>
            <a:r>
              <a:rPr lang="en-US" dirty="0"/>
              <a:t>SPOTER works on pose only and reports top-1 macro accuracy: 63.18% on WLASL100, 43.78% on WLASL300 and 100% on the Argentinian LSA64 dataset.</a:t>
            </a:r>
          </a:p>
          <a:p>
            <a:r>
              <a:rPr lang="en-US" dirty="0"/>
              <a:t>SignBERT works on Chinese and American datasets. On WLASL2000 it reports 39.40% from hands alone and 54.69% when hand results are combined with an RGB model.</a:t>
            </a:r>
          </a:p>
          <a:p>
            <a:r>
              <a:rPr lang="en-US" dirty="0"/>
              <a:t>Li et al. introduced WLASL and report I3D and Pose-TGCN separately, for example 65.89% and 55.43% on WLASL100.</a:t>
            </a:r>
          </a:p>
          <a:p>
            <a:r>
              <a:rPr lang="en-US" dirty="0"/>
              <a:t>Camgoz et al. solve a different task: continuous German Sign Language. They report word error rate and BLEU, not classification accuracy.</a:t>
            </a:r>
          </a:p>
          <a:p/>
          <a:p>
            <a:r>
              <a:rPr lang="en-US" dirty="0"/>
              <a:t>KEY POINT: the languages, class counts and metrics are different, so these numbers cannot be ranked against each other or against our result.</a:t>
            </a:r>
          </a:p>
          <a:p/>
          <a:p>
            <a:r>
              <a:rPr lang="en-US" dirty="0"/>
              <a:t>DETAILS FOR QUESTIONS</a:t>
            </a:r>
          </a:p>
          <a:p>
            <a:r>
              <a:rPr lang="en-US" dirty="0"/>
              <a:t>- SPOTER: 54 landmarks from Apple's Vision API, 108 values per frame.</a:t>
            </a:r>
          </a:p>
          <a:p>
            <a:r>
              <a:rPr lang="en-US" dirty="0"/>
              <a:t>- WLASL: 21,083 videos, 119 signers, 4:1:1 train/val/test split.</a:t>
            </a:r>
          </a:p>
          <a:p>
            <a:r>
              <a:rPr lang="en-US" dirty="0"/>
              <a:t>- PHOENIX14T: weather broadcasts, 9 signers.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45 s)</a:t>
            </a:r>
          </a:p>
          <a:p>
            <a:r>
              <a:t>This is the main comparison table, first half: data, task and result.</a:t>
            </a:r>
          </a:p>
          <a:p>
            <a:r>
              <a:t>Our work is the last row: INCLUDE with 262 classes and the official partition, Indian Sign Language, isolated recognition. Our input is MediaPipe landmarks for the hands, pose and face, plus geometry and availability features, not RGB images. The output goes from sign to text to speech, and our measured Top-1 accuracy is 98.04%, which is 800 of 816 test videos.</a:t>
            </a:r>
          </a:p>
          <a:p>
            <a:r>
              <a:t>The orange note is important: datasets, class counts and metrics differ, so this table gives context, not a ranking. Only INCLUDE uses our dataset, and only Camgoz et al. work on continuous signing.</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50 s)</a:t>
            </a:r>
          </a:p>
          <a:p>
            <a:r>
              <a:t>This half compares how each work represents the sign and models time.</a:t>
            </a:r>
          </a:p>
          <a:p>
            <a:r>
              <a:t>SPOTER uses one concatenated pose vector and a Transformer encoder-decoder.</a:t>
            </a:r>
          </a:p>
          <a:p>
            <a:r>
              <a:t>SignBERT turns hand poses into tokens, pre-trains a Transformer encoder, and adds an RGB model only by summing prediction scores.</a:t>
            </a:r>
          </a:p>
          <a:p>
            <a:r>
              <a:t>Li et al. evaluate I3D and pose models separately.</a:t>
            </a:r>
          </a:p>
          <a:p>
            <a:r>
              <a:t>Camgoz et al. use CNN frame features with a Transformer and CTC, and no landmarks.</a:t>
            </a:r>
          </a:p>
          <a:p>
            <a:r>
              <a:t>Our model uses MediaPipe landmarks for the hands, pose and face, 469 engineered geometry features and an availability mask; each part has its own dilated Conv1D encoder, the five streams are fused through learned gates, and four HTMA blocks with CLS and attention pooling model time.</a:t>
            </a:r>
          </a:p>
          <a:p/>
          <a:p>
            <a:r>
              <a:t>HONEST NOTE ON INCLUDE</a:t>
            </a:r>
          </a:p>
          <a:p>
            <a:r>
              <a:t>The official INCLUDE code already extracts MediaPipe keypoints and offers a Transformer option, so landmarks plus attention on INCLUDE is not new by itself. Our difference is the part-aware encoders, geometry, availability-aware gating and HTMA.</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45 s)</a:t>
            </a:r>
          </a:p>
          <a:p>
            <a:r>
              <a:t>Here I separate results we can compare from results we cannot.</a:t>
            </a:r>
          </a:p>
          <a:p>
            <a:r>
              <a:t>The INCLUDE paper reports 85.6% on 263 signs. Khartheesvar et al. used MediaPipe Holistic with an LSTM and report 87.4% on INCLUDE. These are the closest reference points, but a fair comparison also needs the same split and metric. Our locked test set has 816 videos and 262 classes from the official partition, so I state those conditions rather than claim a direct win.</a:t>
            </a:r>
          </a:p>
          <a:p>
            <a:r>
              <a:t>Papers 2 to 5 use other languages, tasks and metrics.</a:t>
            </a:r>
          </a:p>
          <a:p>
            <a:r>
              <a:t>The strongest evidence for our design would be an ablation on INCLUDE: removing the part encoders, geometry, gating or HTMA one at a time under the same protocol.</a:t>
            </a:r>
          </a:p>
          <a:p/>
          <a:p>
            <a:r>
              <a:t>CAUTIONS TO KNOW</a:t>
            </a:r>
          </a:p>
          <a:p>
            <a:r>
              <a:t>- Our 262 classes come from excluding 'secondnumber' from the 263-class label space.</a:t>
            </a:r>
          </a:p>
          <a:p>
            <a:r>
              <a:t>- If the ablation has not been run yet, present it as planned work.</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50 s)</a:t>
            </a:r>
          </a:p>
          <a:p>
            <a:r>
              <a:t>This matrix shows which building blocks each work uses.</a:t>
            </a:r>
          </a:p>
          <a:p>
            <a:r>
              <a:t>SPOTER: landmarks and a Transformer, no RGB features and no fusion.</a:t>
            </a:r>
          </a:p>
          <a:p>
            <a:r>
              <a:t>SignBERT: hand landmarks, a Transformer, and an optional RGB stream joined only by summing scores.</a:t>
            </a:r>
          </a:p>
          <a:p>
            <a:r>
              <a:t>Li et al.: RGB CNNs and pose keypoints as separate models, with 3D convolution, GRUs or a temporal graph network.</a:t>
            </a:r>
          </a:p>
          <a:p>
            <a:r>
              <a:t>Camgoz et al.: RGB CNN features and Transformers with CTC, output German text.</a:t>
            </a:r>
          </a:p>
          <a:p>
            <a:r>
              <a:t>Our row uses no RGB image features and no pretrained image CNN backbone. However, the recognition model does use custom temporal Conv1D layers on the landmark and geometry sequences, followed by gated fusion and four HTMA blocks. The landmarks come from MediaPipe (hands, pose and selected face), and the output is text and speech through the Web Speech API.</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55 s)</a:t>
            </a:r>
          </a:p>
          <a:p>
            <a:r>
              <a:t>Now the research gap for each paper, labelled as a scope or architectural difference so we do not overstate it.</a:t>
            </a:r>
          </a:p>
          <a:p>
            <a:r>
              <a:t>INCLUDE: it gives us the benchmark. Its keypoint pipeline discards facial keypoints and flattens keypoints into one vector, and it reports no explicit geometry, availability signal or speech output. That is a scope difference, not a weakness of the INCLUDE paper. We encode hands, pose and face separately, add geometry and gated fusion, and use HTMA, evaluated on the 262-class split.</a:t>
            </a:r>
          </a:p>
          <a:p>
            <a:r>
              <a:t>SPOTER: all landmarks share one 108-value vector per frame, there is no face mesh, and missing landmarks are zero-filled without telling the model. Our model encodes each part separately, adds geometry, and uses an availability mask with learned gates. This is a different design, not proof that ours is better.</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55 s)</a:t>
            </a:r>
          </a:p>
          <a:p>
            <a:r>
              <a:t>SignBERT: it builds tokens from hand poses only and pre-trains a Transformer without labels using a 3D hand model; other modalities are added by summing prediction scores. We fuse hands, pose, face and geometry at the feature level through learned gates before HTMA, trained with INCLUDE labels. SignBERT's pre-training targets noisy poses and small data; we have not tested those problems, so we do not claim to solve them.</a:t>
            </a:r>
          </a:p>
          <a:p>
            <a:r>
              <a:t>Li et al.: they compare RGB and pose models but never combine them; Pose-GRU concatenates coordinates and Pose-TGCN averages over time. Our model uses part-aware encoders, gated fusion, HTMA and learned attention pooling instead, applied only to Indian Sign Language on INCLUDE.</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50 s)</a:t>
            </a:r>
          </a:p>
          <a:p>
            <a:r>
              <a:t>Camgoz et al. solve a different problem: continuous German Sign Language recognition and translation into German sentences, measured with word error rate and BLEU. We classify one isolated Indian sign per video, so I do not compare our 98.04% with their numbers.</a:t>
            </a:r>
          </a:p>
          <a:p>
            <a:r>
              <a:t>One point from their paper relates to our design: their input is RGB only, and they list modelling faces, hands and body separately as future work. Our model does model the hands, pose and face as separate streams for isolated signs. That motivates our design; it does not prove it is better.</a:t>
            </a:r>
          </a:p>
          <a:p/>
          <a:p>
            <a:r>
              <a:t>POSSIBLE FOLLOW-UP</a:t>
            </a:r>
          </a:p>
          <a:p>
            <a:r>
              <a:t>Q: Can your system translate sentences?</a:t>
            </a:r>
          </a:p>
          <a:p>
            <a:r>
              <a:t>A: No. It recognises isolated signs. Continuous recognition and translation are future work.</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50 s)</a:t>
            </a:r>
          </a:p>
          <a:p>
            <a:r>
              <a:t>This slide maps each part of our pipeline to the paper it differs from.</a:t>
            </a:r>
          </a:p>
          <a:p>
            <a:r>
              <a:t>Part encoders: SPOTER and Li et al. put all keypoints into one vector; we encode each body region separately.</a:t>
            </a:r>
          </a:p>
          <a:p>
            <a:r>
              <a:t>Geometry stream: the reviewed works use coordinates; we add bone lengths, joint angles, velocity and acceleration.</a:t>
            </a:r>
          </a:p>
          <a:p>
            <a:r>
              <a:t>Gated fusion: SignBERT sums prediction scores and SPOTER zero-fills missing landmarks; we use learned gates and an availability mask.</a:t>
            </a:r>
          </a:p>
          <a:p>
            <a:r>
              <a:t>HTMA and pooling: Li et al. use GRUs or average pooling over time; attention itself is shared with SPOTER, SignBERT and Camgoz, so that part is not new.</a:t>
            </a:r>
          </a:p>
          <a:p>
            <a:r>
              <a:t>INCLUDE and Indian Sign Language is our application setting, and the browser Web Speech API gives speech output, which none of the five papers produces.</a:t>
            </a:r>
          </a:p>
          <a:p>
            <a:r>
              <a:t>The dark bar is the key message: these are design differences evaluated on INCLUDE, not proof that our model beats those papers.</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45 s)</a:t>
            </a:r>
          </a:p>
          <a:p>
            <a:r>
              <a:t>This is the final research gap table, in the format we use in the paper.</a:t>
            </a:r>
          </a:p>
          <a:p>
            <a:r>
              <a:t>Two gaps are about scope: INCLUDE, whose keypoint pipeline discards the face, flattens keypoints and has no speech output, and Camgoz et al., who work on continuous German signing with RGB only.</a:t>
            </a:r>
          </a:p>
          <a:p>
            <a:r>
              <a:t>Three are architectural: SPOTER uses one concatenated pose vector with zero-filled gaps, SignBERT combines modalities only at the score level, and Li et al. keep RGB and pose separate and average over time.</a:t>
            </a:r>
          </a:p>
          <a:p>
            <a:r>
              <a:t>For each, the table names the component of our model that relates to it: part encoders, geometry, availability-aware gated fusion, HTMA with CLS and attention pooling, and speech output.</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50 s)</a:t>
            </a:r>
          </a:p>
          <a:p>
            <a:r>
              <a:t>This slide shows what our work adds. The contribution is the integration of part-aware temporal Conv1D encoders, engineered geometry, availability-aware gated fusion and HTMA for full-vocabulary isolated ISL recognition on the 262-class INCLUDE experiment.</a:t>
            </a:r>
          </a:p>
          <a:p>
            <a:r>
              <a:t>The individual ideas, landmarks, temporal convolution and attention, all exist in earlier work. What is ours is how they are combined: separate Conv1D encoders for the hands, pose and face; a 469-value geometry stream; a 4-value availability mask with five learned gates; four HTMA blocks; and a CLS-plus-attention-pooling summary.</a:t>
            </a:r>
          </a:p>
          <a:p>
            <a:r>
              <a:t>We evaluate this on the complete INCLUDE vocabulary, 262 classes and 816 test videos: 98.04% Top-1, 99.51% Top-5 and 98.09% Macro-F1, with text and speech output.</a:t>
            </a:r>
          </a:p>
          <a:p>
            <a:r>
              <a:t>We do not claim to be the first to use these components, and we do not claim to beat papers tested on other datasets.</a:t>
            </a:r>
          </a:p>
          <a:p/>
          <a:p>
            <a:r>
              <a:t>IF ASKED "Has anyone used MediaPipe with attention on Indian Sign Language before?"</a:t>
            </a:r>
          </a:p>
          <a:p>
            <a:r>
              <a:t>Say: "Yes, landmark and attention models exist for ISL, for example on small vocabularies. Our contribution is the part-aware, availability-gated design with HTMA, evaluated on all 262 INCLUDE classes."</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(about 50 s)</a:t>
            </a:r>
          </a:p>
          <a:p>
            <a:r>
              <a:t>This is the research gap paragraph used in the paper.</a:t>
            </a:r>
          </a:p>
          <a:p>
            <a:r>
              <a:t>It first summarises RGB models, keypoint models, self-supervised pre-training and continuous translation.</a:t>
            </a:r>
          </a:p>
          <a:p>
            <a:r>
              <a:t>Then the gap: keypoints are often limited to certain regions or concatenated into one vector, explicit geometry and motion features are not used, missing detections are zero-filled or imputed, and only INCLUDE evaluates Indian Sign Language.</a:t>
            </a:r>
          </a:p>
          <a:p>
            <a:r>
              <a:t>Then our model: separate part encoders, geometry and availability features, gated fusion and HTMA, with 98.04% Top-1 on the locked 262-class INCLUDE test set, and a clear note that other datasets are not directly comparable.</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WHAT TO SAY (pick the version that fits)</a:t>
            </a:r>
          </a:p>
          <a:p>
            <a:r>
              <a:t>Version 1 is for the research paper and describes the model precisely.</a:t>
            </a:r>
          </a:p>
          <a:p>
            <a:r>
              <a:t>Version 2 is for the presentation and highlights the full-vocabulary result.</a:t>
            </a:r>
          </a:p>
          <a:p>
            <a:r>
              <a:t>Version 3 is what I would say directly to the examiner.</a:t>
            </a:r>
          </a:p>
          <a:p/>
          <a:p>
            <a:r>
              <a:t>WORDING TO AVOID</a:t>
            </a:r>
          </a:p>
          <a:p>
            <a:r>
              <a:t>- "Our model is better than all existing models."</a:t>
            </a:r>
          </a:p>
          <a:p>
            <a:r>
              <a:t>- "We are the first to use landmarks and attention for sign language."</a:t>
            </a:r>
          </a:p>
          <a:p>
            <a:r>
              <a:t>- "98.04% is our webcam accuracy."</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HOW TO USE THIS SLIDE</a:t>
            </a:r>
          </a:p>
          <a:p>
            <a:r>
              <a:t>Memorise one row per paper.</a:t>
            </a:r>
          </a:p>
          <a:p>
            <a:r>
              <a:t>INCLUDE: benchmark with a flattened keypoint vector → we add part encoders, geometry, gating, HTMA and speech.</a:t>
            </a:r>
          </a:p>
          <a:p>
            <a:r>
              <a:t>SPOTER: one concatenated pose vector with zero-filled gaps → separate part encoders and an availability mask.</a:t>
            </a:r>
          </a:p>
          <a:p>
            <a:r>
              <a:t>SignBERT: hand tokens, late score fusion → feature-level gated fusion of five streams.</a:t>
            </a:r>
          </a:p>
          <a:p>
            <a:r>
              <a:t>Li et al.: separate RGB and pose models, average pooling → HTMA with CLS and attention pooling.</a:t>
            </a:r>
          </a:p>
          <a:p>
            <a:r>
              <a:t>Camgoz: continuous German translation, RGB only → isolated ISL with hand, pose and face streams and speech output.</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ONE-SENTENCE ANSWERS (read each once, then say it in your own words)</a:t>
            </a:r>
          </a:p>
          <a:p>
            <a:r>
              <a:t>Colour key: teal = architectural difference; indigo = scope difference.</a:t>
            </a:r>
          </a:p>
          <a:p/>
          <a:p>
            <a:r>
              <a:t>If the examiner then asks "So is yours better?":</a:t>
            </a:r>
          </a:p>
          <a:p>
            <a:r>
              <a:t>Say: "On INCLUDE, our measured Top-1 accuracy is 98.04%. A fair better-or-worse claim needs the same dataset, split and metric. Only the INCLUDE paper shares our dataset, and it used 263 classes and its own split, so I report the conditions rather than claim a direct win."</a:t>
            </a:r>
          </a:p>
          <a:p/>
          <a:p>
            <a:r>
              <a:t>If asked "Is your model new?":</a:t>
            </a:r>
          </a:p>
          <a:p>
            <a:r>
              <a:t>Say: "The building blocks are established. Our contribution is the combination: part-aware Conv1D encoders, geometry and availability-aware gating, and HTMA, evaluated on all 262 INCLUDE classes with text and speech output."</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NOTES ON THE REFERENCES</a:t>
            </a:r>
          </a:p>
          <a:p>
            <a:r>
              <a:t>[1]–[5] were checked against the official ACM, CVF, IEEE or arXiv records.</a:t>
            </a:r>
          </a:p>
          <a:p>
            <a:r>
              <a:t>For [3]–[5], IEEE Xplore page numbers differ slightly from the CVF versions (for example [3] is 11067–11076 in IEEE Xplore). Use the pages that match the version you cite.</a:t>
            </a:r>
          </a:p>
          <a:p>
            <a:r>
              <a:t>[6] details come from the Springer record and citing works.</a:t>
            </a:r>
          </a:p>
          <a:p>
            <a:r>
              <a:t>[7] is the official code repository linked to the INCLUDE paper.</a:t>
            </a:r>
          </a:p>
          <a:p>
            <a:r>
              <a:t>Add citations for MediaPipe and the other methods you rely on (for example AdamW, GELU and label smoothing); the full list is in the research paper.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image" Target="../media/r2_image-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image" Target="../media/r2_image-2-1.png"/><Relationship Id="rId2" Type="http://schemas.openxmlformats.org/officeDocument/2006/relationships/image" Target="../media/r2_image-2-2.png"/><Relationship Id="rId3" Type="http://schemas.openxmlformats.org/officeDocument/2006/relationships/image" Target="../media/r2_image-2-3.png"/><Relationship Id="rId4" Type="http://schemas.openxmlformats.org/officeDocument/2006/relationships/image" Target="../media/r2_image-2-4.png"/><Relationship Id="rId5" Type="http://schemas.openxmlformats.org/officeDocument/2006/relationships/image" Target="../media/r2_image-2-5.png"/><Relationship Id="rId6" Type="http://schemas.openxmlformats.org/officeDocument/2006/relationships/image" Target="../media/r2_image-2-6.png"/><Relationship Id="rId7" Type="http://schemas.openxmlformats.org/officeDocument/2006/relationships/image" Target="../media/r2_image-2-7.png"/><Relationship Id="rId8" Type="http://schemas.openxmlformats.org/officeDocument/2006/relationships/image" Target="../media/r2_image-2-8.png"/><Relationship Id="rId9" Type="http://schemas.openxmlformats.org/officeDocument/2006/relationships/image" Target="../media/r2_image-2-9.png"/><Relationship Id="rId10" Type="http://schemas.openxmlformats.org/officeDocument/2006/relationships/image" Target="../media/r2_image-2-10.png"/><Relationship Id="rId11" Type="http://schemas.openxmlformats.org/officeDocument/2006/relationships/image" Target="../media/r2_image-2-11.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image" Target="../media/r2_image-3-1.png"/><Relationship Id="rId2" Type="http://schemas.openxmlformats.org/officeDocument/2006/relationships/image" Target="../media/r2_image-3-2.png"/><Relationship Id="rId3" Type="http://schemas.openxmlformats.org/officeDocument/2006/relationships/image" Target="../media/r2_image-3-3.png"/><Relationship Id="rId4" Type="http://schemas.openxmlformats.org/officeDocument/2006/relationships/image" Target="../media/r2_image-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image" Target="../media/r2_image-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r2_image-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image" Target="../media/r2_image-6-1.png"/><Relationship Id="rId2" Type="http://schemas.openxmlformats.org/officeDocument/2006/relationships/image" Target="../media/r2_image-6-2.png"/><Relationship Id="rId3" Type="http://schemas.openxmlformats.org/officeDocument/2006/relationships/image" Target="../media/r2_image-6-3.png"/><Relationship Id="rId4" Type="http://schemas.openxmlformats.org/officeDocument/2006/relationships/image" Target="../media/r2_image-6-4.png"/><Relationship Id="rId5" Type="http://schemas.openxmlformats.org/officeDocument/2006/relationships/image" Target="../media/r2_image-6-5.png"/><Relationship Id="rId6" Type="http://schemas.openxmlformats.org/officeDocument/2006/relationships/image" Target="../media/r2_image-6-6.png"/><Relationship Id="rId7" Type="http://schemas.openxmlformats.org/officeDocument/2006/relationships/image" Target="../media/r2_image-6-7.png"/><Relationship Id="rId8" Type="http://schemas.openxmlformats.org/officeDocument/2006/relationships/image" Target="../media/r2_image-6-8.png"/><Relationship Id="rId9" Type="http://schemas.openxmlformats.org/officeDocument/2006/relationships/image" Target="../media/r2_image-6-9.png"/><Relationship Id="rId10" Type="http://schemas.openxmlformats.org/officeDocument/2006/relationships/image" Target="../media/r2_image-6-10.png"/><Relationship Id="rId11" Type="http://schemas.openxmlformats.org/officeDocument/2006/relationships/slideLayout" Target="../slideLayouts/slideLayout1.xml"/><Relationship Id="rId12" Type="http://schemas.openxmlformats.org/officeDocument/2006/relationships/notesSlide" Target="../notesSlides/notesSlide16.xml"/><Relationship Id="rId13" Type="http://schemas.openxmlformats.org/officeDocument/2006/relationships/image" Target="../media/image2.png"/><Relationship Id="rId14" Type="http://schemas.openxmlformats.org/officeDocument/2006/relationships/image" Target="../media/image3.png"/><Relationship Id="rId15" Type="http://schemas.openxmlformats.org/officeDocument/2006/relationships/image" Target="../media/image4.png"/><Relationship Id="rId16"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image" Target="../media/r2_image-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image" Target="../media/r2_image-8-1.png"/><Relationship Id="rId2" Type="http://schemas.openxmlformats.org/officeDocument/2006/relationships/image" Target="../media/r2_image-8-2.png"/><Relationship Id="rId3" Type="http://schemas.openxmlformats.org/officeDocument/2006/relationships/image" Target="../media/r2_image-8-3.png"/><Relationship Id="rId4" Type="http://schemas.openxmlformats.org/officeDocument/2006/relationships/image" Target="../media/r2_image-8-4.png"/><Relationship Id="rId5" Type="http://schemas.openxmlformats.org/officeDocument/2006/relationships/image" Target="../media/r2_image-8-5.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image" Target="../media/r2_image-9-1.png"/><Relationship Id="rId2" Type="http://schemas.openxmlformats.org/officeDocument/2006/relationships/image" Target="../media/r2_image-9-2.png"/><Relationship Id="rId3" Type="http://schemas.openxmlformats.org/officeDocument/2006/relationships/image" Target="../media/r2_image-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image" Target="../media/r2_image-1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image" Target="../media/r2_image-11-1.png"/><Relationship Id="rId2" Type="http://schemas.openxmlformats.org/officeDocument/2006/relationships/chart" Target="../charts/r2_chart1.xml"/><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1.xml.rels><?xml version='1.0' encoding='UTF-8' standalone='yes'?>
<Relationships xmlns="http://schemas.openxmlformats.org/package/2006/relationships"><Relationship Id="rId1" Type="http://schemas.openxmlformats.org/officeDocument/2006/relationships/image" Target="../media/r2_image-1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8778240" y="-1828800"/>
            <a:ext cx="5486400" cy="5486400"/>
          </a:xfrm>
          <a:prstGeom prst="ellipse">
            <a:avLst/>
          </a:prstGeom>
          <a:solidFill>
            <a:srgbClr val="028090">
              <a:alpha val="22000"/>
            </a:srgbClr>
          </a:solidFill>
          <a:ln/>
        </p:spPr>
        <p:txBody>
          <a:bodyPr/>
          <a:p/>
        </p:txBody>
      </p:sp>
      <p:sp>
        <p:nvSpPr>
          <p:cNvPr id="3" name="Shape 1"/>
          <p:cNvSpPr/>
          <p:nvPr/>
        </p:nvSpPr>
        <p:spPr>
          <a:xfrm>
            <a:off x="-2011680" y="4206240"/>
            <a:ext cx="5029200" cy="5029200"/>
          </a:xfrm>
          <a:prstGeom prst="ellipse">
            <a:avLst/>
          </a:prstGeom>
          <a:solidFill>
            <a:srgbClr val="00A896">
              <a:alpha val="18000"/>
            </a:srgbClr>
          </a:solidFill>
          <a:ln/>
        </p:spPr>
        <p:txBody>
          <a:bodyPr/>
          <a:p/>
        </p:txBody>
      </p:sp>
      <p:sp>
        <p:nvSpPr>
          <p:cNvPr id="4" name="Text 2"/>
          <p:cNvSpPr/>
          <p:nvPr/>
        </p:nvSpPr>
        <p:spPr>
          <a:xfrm>
            <a:off x="822960" y="866775"/>
            <a:ext cx="7315200" cy="365760"/>
          </a:xfrm>
          <a:prstGeom prst="rect">
            <a:avLst/>
          </a:prstGeom>
          <a:noFill/>
          <a:ln/>
        </p:spPr>
        <p:txBody>
          <a:bodyPr wrap="square" rtlCol="0" anchor="ctr"/>
          <a:lstStyle/>
          <a:p>
            <a:pPr marL="0" indent="0">
              <a:buNone/>
            </a:pPr>
            <a:r>
              <a:rPr lang="en-US" sz="1400" b="1" kern="0" spc="300" dirty="0">
                <a:solidFill>
                  <a:srgbClr val="02C39A"/>
                </a:solidFill>
                <a:latin typeface="Calibri" pitchFamily="34" charset="0"/>
                <a:ea typeface="Calibri" pitchFamily="34" charset="-122"/>
                <a:cs typeface="Calibri" pitchFamily="34" charset="-120"/>
              </a:rPr>
              <a:t>INDIAN SIGN LANGUAGE RECOGNITION</a:t>
            </a:r>
            <a:endParaRPr lang="en-US" sz="1400" dirty="0"/>
          </a:p>
        </p:txBody>
      </p:sp>
      <p:sp>
        <p:nvSpPr>
          <p:cNvPr id="5" name="Text 3"/>
          <p:cNvSpPr/>
          <p:nvPr/>
        </p:nvSpPr>
        <p:spPr>
          <a:xfrm>
            <a:off x="822960" y="1838325"/>
            <a:ext cx="9875520" cy="237744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AI-Based Hand Gesture Recognition</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for Sign Language Communication</a:t>
            </a:r>
            <a:endParaRPr lang="en-US" sz="4000" dirty="0"/>
          </a:p>
          <a:p>
            <a:pPr marL="0" indent="0">
              <a:lnSpc>
                <a:spcPts val="4600"/>
              </a:lnSpc>
              <a:buNone/>
            </a:pPr>
            <a:r>
              <a:rPr lang="en-US" sz="1600" b="1" dirty="0">
                <a:solidFill>
                  <a:srgbClr val="FFFFFF"/>
                </a:solidFill>
                <a:latin typeface="Cambria" pitchFamily="34" charset="0"/>
                <a:ea typeface="Cambria" pitchFamily="34" charset="-122"/>
              </a:rPr>
              <a:t>K.SAI SREE CHOWDARY-2420030168</a:t>
            </a:r>
            <a:br>
              <a:rPr lang="en-US" sz="1200" b="1" dirty="0">
                <a:solidFill>
                  <a:srgbClr val="FFFFFF"/>
                </a:solidFill>
                <a:latin typeface="Cambria" pitchFamily="34" charset="0"/>
                <a:ea typeface="Cambria" pitchFamily="34" charset="-122"/>
              </a:rPr>
            </a:br>
            <a:br>
              <a:rPr lang="en-US" sz="1200" b="1" dirty="0">
                <a:solidFill>
                  <a:srgbClr val="FFFFFF"/>
                </a:solidFill>
                <a:latin typeface="Cambria" pitchFamily="34" charset="0"/>
                <a:ea typeface="Cambria" pitchFamily="34" charset="-122"/>
              </a:rPr>
            </a:br>
            <a:endParaRPr lang="en-US" sz="1200" dirty="0"/>
          </a:p>
        </p:txBody>
      </p:sp>
      <p:sp>
        <p:nvSpPr>
          <p:cNvPr id="6" name="Text 4"/>
          <p:cNvSpPr/>
          <p:nvPr/>
        </p:nvSpPr>
        <p:spPr>
          <a:xfrm>
            <a:off x="822960" y="4343400"/>
            <a:ext cx="8961120" cy="731520"/>
          </a:xfrm>
          <a:prstGeom prst="rect">
            <a:avLst/>
          </a:prstGeom>
          <a:noFill/>
          <a:ln/>
        </p:spPr>
        <p:txBody>
          <a:bodyPr wrap="square" rtlCol="0" anchor="ctr"/>
          <a:lstStyle/>
          <a:p>
            <a:pPr marL="0" indent="0">
              <a:lnSpc>
                <a:spcPts val="2200"/>
              </a:lnSpc>
              <a:buNone/>
            </a:pPr>
            <a:r>
              <a:rPr lang="en-US" sz="1500" dirty="0">
                <a:solidFill>
                  <a:srgbClr val="C9D6D6"/>
                </a:solidFill>
                <a:latin typeface="Calibri" pitchFamily="34" charset="0"/>
                <a:ea typeface="Calibri" pitchFamily="34" charset="-122"/>
                <a:cs typeface="Calibri" pitchFamily="34" charset="-120"/>
              </a:rPr>
              <a:t>A landmark-based temporal deep learning pipeline for isolated Indian Sign Language</a:t>
            </a:r>
            <a:endParaRPr lang="en-US" sz="1500" dirty="0"/>
          </a:p>
          <a:p>
            <a:pPr marL="0" indent="0">
              <a:lnSpc>
                <a:spcPts val="2200"/>
              </a:lnSpc>
              <a:buNone/>
            </a:pPr>
            <a:r>
              <a:rPr lang="en-US" sz="1500" dirty="0">
                <a:solidFill>
                  <a:srgbClr val="C9D6D6"/>
                </a:solidFill>
                <a:latin typeface="Calibri" pitchFamily="34" charset="0"/>
                <a:ea typeface="Calibri" pitchFamily="34" charset="-122"/>
                <a:cs typeface="Calibri" pitchFamily="34" charset="-120"/>
              </a:rPr>
              <a:t>recognition with text and speech output</a:t>
            </a:r>
            <a:endParaRPr lang="en-US" sz="1500" dirty="0"/>
          </a:p>
        </p:txBody>
      </p:sp>
      <p:sp>
        <p:nvSpPr>
          <p:cNvPr id="7" name="Shape 5"/>
          <p:cNvSpPr/>
          <p:nvPr/>
        </p:nvSpPr>
        <p:spPr>
          <a:xfrm>
            <a:off x="822960" y="5394960"/>
            <a:ext cx="2514600" cy="777240"/>
          </a:xfrm>
          <a:prstGeom prst="roundRect">
            <a:avLst>
              <a:gd name="adj" fmla="val 11765"/>
            </a:avLst>
          </a:prstGeom>
          <a:solidFill>
            <a:srgbClr val="0F2E33"/>
          </a:solidFill>
          <a:ln w="12700">
            <a:solidFill>
              <a:srgbClr val="17454C"/>
            </a:solidFill>
            <a:prstDash val="solid"/>
          </a:ln>
        </p:spPr>
        <p:txBody>
          <a:bodyPr/>
          <a:p/>
        </p:txBody>
      </p:sp>
      <p:sp>
        <p:nvSpPr>
          <p:cNvPr id="8" name="Text 6"/>
          <p:cNvSpPr/>
          <p:nvPr/>
        </p:nvSpPr>
        <p:spPr>
          <a:xfrm>
            <a:off x="960120" y="5394960"/>
            <a:ext cx="2240280" cy="7772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64-Frame Video</a:t>
            </a:r>
            <a:endParaRPr lang="en-US" sz="1200" dirty="0"/>
          </a:p>
        </p:txBody>
      </p:sp>
      <p:sp>
        <p:nvSpPr>
          <p:cNvPr id="9" name="Shape 7"/>
          <p:cNvSpPr/>
          <p:nvPr/>
        </p:nvSpPr>
        <p:spPr>
          <a:xfrm>
            <a:off x="3520440" y="5394960"/>
            <a:ext cx="2514600" cy="777240"/>
          </a:xfrm>
          <a:prstGeom prst="roundRect">
            <a:avLst>
              <a:gd name="adj" fmla="val 11765"/>
            </a:avLst>
          </a:prstGeom>
          <a:solidFill>
            <a:srgbClr val="0F2E33"/>
          </a:solidFill>
          <a:ln w="12700">
            <a:solidFill>
              <a:srgbClr val="17454C"/>
            </a:solidFill>
            <a:prstDash val="solid"/>
          </a:ln>
        </p:spPr>
        <p:txBody>
          <a:bodyPr/>
          <a:p/>
        </p:txBody>
      </p:sp>
      <p:sp>
        <p:nvSpPr>
          <p:cNvPr id="10" name="Text 8"/>
          <p:cNvSpPr/>
          <p:nvPr/>
        </p:nvSpPr>
        <p:spPr>
          <a:xfrm>
            <a:off x="3657600" y="5394960"/>
            <a:ext cx="2240280" cy="7772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Landmarks + Geometry</a:t>
            </a:r>
            <a:endParaRPr lang="en-US" sz="1200" dirty="0"/>
          </a:p>
        </p:txBody>
      </p:sp>
      <p:sp>
        <p:nvSpPr>
          <p:cNvPr id="11" name="Shape 9"/>
          <p:cNvSpPr/>
          <p:nvPr/>
        </p:nvSpPr>
        <p:spPr>
          <a:xfrm>
            <a:off x="6217920" y="5394960"/>
            <a:ext cx="2514600" cy="777240"/>
          </a:xfrm>
          <a:prstGeom prst="roundRect">
            <a:avLst>
              <a:gd name="adj" fmla="val 11765"/>
            </a:avLst>
          </a:prstGeom>
          <a:solidFill>
            <a:srgbClr val="0F2E33"/>
          </a:solidFill>
          <a:ln w="12700">
            <a:solidFill>
              <a:srgbClr val="17454C"/>
            </a:solidFill>
            <a:prstDash val="solid"/>
          </a:ln>
        </p:spPr>
        <p:txBody>
          <a:bodyPr/>
          <a:p/>
        </p:txBody>
      </p:sp>
      <p:sp>
        <p:nvSpPr>
          <p:cNvPr id="12" name="Text 10"/>
          <p:cNvSpPr/>
          <p:nvPr/>
        </p:nvSpPr>
        <p:spPr>
          <a:xfrm>
            <a:off x="6355080" y="5394960"/>
            <a:ext cx="2240280" cy="7772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Part-Aware Conv1D + HTMA</a:t>
            </a:r>
            <a:endParaRPr lang="en-US" sz="1200" dirty="0"/>
          </a:p>
        </p:txBody>
      </p:sp>
      <p:sp>
        <p:nvSpPr>
          <p:cNvPr id="13" name="Shape 11"/>
          <p:cNvSpPr/>
          <p:nvPr/>
        </p:nvSpPr>
        <p:spPr>
          <a:xfrm>
            <a:off x="8915400" y="5394960"/>
            <a:ext cx="2514600" cy="777240"/>
          </a:xfrm>
          <a:prstGeom prst="roundRect">
            <a:avLst>
              <a:gd name="adj" fmla="val 11765"/>
            </a:avLst>
          </a:prstGeom>
          <a:solidFill>
            <a:srgbClr val="0F2E33"/>
          </a:solidFill>
          <a:ln w="12700">
            <a:solidFill>
              <a:srgbClr val="17454C"/>
            </a:solidFill>
            <a:prstDash val="solid"/>
          </a:ln>
        </p:spPr>
        <p:txBody>
          <a:bodyPr/>
          <a:p/>
        </p:txBody>
      </p:sp>
      <p:sp>
        <p:nvSpPr>
          <p:cNvPr id="14" name="Text 12"/>
          <p:cNvSpPr/>
          <p:nvPr/>
        </p:nvSpPr>
        <p:spPr>
          <a:xfrm>
            <a:off x="9052560" y="5394960"/>
            <a:ext cx="2240280" cy="77724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Text / Speech Output</a:t>
            </a:r>
            <a:endParaRPr lang="en-US" sz="1200" dirty="0"/>
          </a:p>
        </p:txBody>
      </p:sp>
      <p:sp>
        <p:nvSpPr>
          <p:cNvPr id="15" name="Text 13"/>
          <p:cNvSpPr/>
          <p:nvPr/>
        </p:nvSpPr>
        <p:spPr>
          <a:xfrm>
            <a:off x="822960" y="6446520"/>
            <a:ext cx="10058400" cy="320040"/>
          </a:xfrm>
          <a:prstGeom prst="rect">
            <a:avLst/>
          </a:prstGeom>
          <a:noFill/>
          <a:ln/>
        </p:spPr>
        <p:txBody>
          <a:bodyPr wrap="square" rtlCol="0" anchor="ctr"/>
          <a:lstStyle/>
          <a:p>
            <a:pPr marL="0" indent="0">
              <a:buNone/>
            </a:pPr>
            <a:endParaRPr lang="en-US" sz="1100" dirty="0"/>
          </a:p>
        </p:txBody>
      </p:sp>
      <p:pic>
        <p:nvPicPr>
          <p:cNvPr id="16" name="Picture 15"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01 · PROBLEM STATEMENT</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05386B"/>
                </a:solidFill>
                <a:latin typeface="Cambria" pitchFamily="34" charset="0"/>
                <a:ea typeface="Cambria" pitchFamily="34" charset="-122"/>
                <a:cs typeface="Cambria" pitchFamily="34" charset="-120"/>
              </a:rPr>
              <a:t>The communication gap sign language users face every day</a:t>
            </a:r>
            <a:endParaRPr lang="en-US" sz="3200" dirty="0"/>
          </a:p>
        </p:txBody>
      </p:sp>
      <p:sp>
        <p:nvSpPr>
          <p:cNvPr id="4" name="Shape 2"/>
          <p:cNvSpPr/>
          <p:nvPr/>
        </p:nvSpPr>
        <p:spPr>
          <a:xfrm>
            <a:off x="548640" y="1554480"/>
            <a:ext cx="6766560" cy="4572000"/>
          </a:xfrm>
          <a:prstGeom prst="roundRect">
            <a:avLst>
              <a:gd name="adj" fmla="val 2400"/>
            </a:avLst>
          </a:prstGeom>
          <a:solidFill>
            <a:srgbClr val="F4FAF9"/>
          </a:solidFill>
          <a:ln/>
        </p:spPr>
        <p:txBody>
          <a:bodyPr/>
          <a:p/>
        </p:txBody>
      </p:sp>
      <p:sp>
        <p:nvSpPr>
          <p:cNvPr id="5" name="Text 3"/>
          <p:cNvSpPr/>
          <p:nvPr/>
        </p:nvSpPr>
        <p:spPr>
          <a:xfrm>
            <a:off x="868680" y="1783080"/>
            <a:ext cx="6309360" cy="1188720"/>
          </a:xfrm>
          <a:prstGeom prst="rect">
            <a:avLst/>
          </a:prstGeom>
          <a:noFill/>
          <a:ln/>
        </p:spPr>
        <p:txBody>
          <a:bodyPr wrap="square" rtlCol="0" anchor="ctr"/>
          <a:lstStyle/>
          <a:p>
            <a:pPr marL="0" indent="0">
              <a:lnSpc>
                <a:spcPct val="120000"/>
              </a:lnSpc>
              <a:buNone/>
            </a:pPr>
            <a:r>
              <a:rPr lang="en-US" sz="3000" b="1" dirty="0">
                <a:solidFill>
                  <a:srgbClr val="028090"/>
                </a:solidFill>
                <a:latin typeface="Calibri" pitchFamily="34" charset="0"/>
                <a:ea typeface="Calibri" pitchFamily="34" charset="-122"/>
                <a:cs typeface="Calibri" pitchFamily="34" charset="-120"/>
              </a:rPr>
              <a:t>466 million </a:t>
            </a:r>
            <a:r>
              <a:rPr lang="en-US" sz="1400" dirty="0">
                <a:solidFill>
                  <a:srgbClr val="4A5A5D"/>
                </a:solidFill>
                <a:latin typeface="Calibri" pitchFamily="34" charset="0"/>
                <a:ea typeface="Calibri" pitchFamily="34" charset="-122"/>
                <a:cs typeface="Calibri" pitchFamily="34" charset="-120"/>
              </a:rPr>
              <a:t>people worldwide have disabling hearing loss, and many rely on sign language as their first language (WHO).</a:t>
            </a:r>
            <a:endParaRPr lang="en-US" sz="3000" dirty="0"/>
          </a:p>
        </p:txBody>
      </p:sp>
      <p:sp>
        <p:nvSpPr>
          <p:cNvPr id="6" name="Shape 4"/>
          <p:cNvSpPr/>
          <p:nvPr/>
        </p:nvSpPr>
        <p:spPr>
          <a:xfrm>
            <a:off x="868680" y="3108960"/>
            <a:ext cx="128016" cy="128016"/>
          </a:xfrm>
          <a:prstGeom prst="ellipse">
            <a:avLst/>
          </a:prstGeom>
          <a:solidFill>
            <a:srgbClr val="00A896"/>
          </a:solidFill>
          <a:ln/>
        </p:spPr>
        <p:txBody>
          <a:bodyPr/>
          <a:p/>
        </p:txBody>
      </p:sp>
      <p:sp>
        <p:nvSpPr>
          <p:cNvPr id="7" name="Text 5"/>
          <p:cNvSpPr/>
          <p:nvPr/>
        </p:nvSpPr>
        <p:spPr>
          <a:xfrm>
            <a:off x="1143000" y="3063240"/>
            <a:ext cx="5943600" cy="685800"/>
          </a:xfrm>
          <a:prstGeom prst="rect">
            <a:avLst/>
          </a:prstGeom>
          <a:noFill/>
          <a:ln/>
        </p:spPr>
        <p:txBody>
          <a:bodyPr wrap="square" rtlCol="0" anchor="t"/>
          <a:lstStyle/>
          <a:p>
            <a:pPr marL="0" indent="0">
              <a:buNone/>
            </a:pPr>
            <a:r>
              <a:rPr lang="en-US" sz="1350" dirty="0">
                <a:solidFill>
                  <a:srgbClr val="4A5A5D"/>
                </a:solidFill>
                <a:latin typeface="Calibri" pitchFamily="34" charset="0"/>
                <a:ea typeface="Calibri" pitchFamily="34" charset="-122"/>
                <a:cs typeface="Calibri" pitchFamily="34" charset="-120"/>
              </a:rPr>
              <a:t>Many published systems cover limited vocabularies or other sign languages; Indian Sign Language has fewer benchmarked systems.</a:t>
            </a:r>
            <a:endParaRPr lang="en-US" sz="1350" dirty="0"/>
          </a:p>
        </p:txBody>
      </p:sp>
      <p:sp>
        <p:nvSpPr>
          <p:cNvPr id="8" name="Shape 6"/>
          <p:cNvSpPr/>
          <p:nvPr/>
        </p:nvSpPr>
        <p:spPr>
          <a:xfrm>
            <a:off x="868680" y="3977640"/>
            <a:ext cx="128016" cy="128016"/>
          </a:xfrm>
          <a:prstGeom prst="ellipse">
            <a:avLst/>
          </a:prstGeom>
          <a:solidFill>
            <a:srgbClr val="00A896"/>
          </a:solidFill>
          <a:ln/>
        </p:spPr>
        <p:txBody>
          <a:bodyPr/>
          <a:p/>
        </p:txBody>
      </p:sp>
      <p:sp>
        <p:nvSpPr>
          <p:cNvPr id="9" name="Text 7"/>
          <p:cNvSpPr/>
          <p:nvPr/>
        </p:nvSpPr>
        <p:spPr>
          <a:xfrm>
            <a:off x="1143000" y="3931920"/>
            <a:ext cx="5943600" cy="685800"/>
          </a:xfrm>
          <a:prstGeom prst="rect">
            <a:avLst/>
          </a:prstGeom>
          <a:noFill/>
          <a:ln/>
        </p:spPr>
        <p:txBody>
          <a:bodyPr wrap="square" rtlCol="0" anchor="t"/>
          <a:lstStyle/>
          <a:p>
            <a:pPr marL="0" indent="0">
              <a:buNone/>
            </a:pPr>
            <a:r>
              <a:rPr lang="en-US" sz="1350" dirty="0">
                <a:solidFill>
                  <a:srgbClr val="4A5A5D"/>
                </a:solidFill>
                <a:latin typeface="Calibri" pitchFamily="34" charset="0"/>
                <a:ea typeface="Calibri" pitchFamily="34" charset="-122"/>
                <a:cs typeface="Calibri" pitchFamily="34" charset="-120"/>
              </a:rPr>
              <a:t>Recognition performance can be affected by signer variation, lighting, clothing and background conditions.</a:t>
            </a:r>
            <a:endParaRPr lang="en-US" sz="1350" dirty="0"/>
          </a:p>
        </p:txBody>
      </p:sp>
      <p:sp>
        <p:nvSpPr>
          <p:cNvPr id="10" name="Shape 8"/>
          <p:cNvSpPr/>
          <p:nvPr/>
        </p:nvSpPr>
        <p:spPr>
          <a:xfrm>
            <a:off x="868680" y="4846320"/>
            <a:ext cx="128016" cy="128016"/>
          </a:xfrm>
          <a:prstGeom prst="ellipse">
            <a:avLst/>
          </a:prstGeom>
          <a:solidFill>
            <a:srgbClr val="00A896"/>
          </a:solidFill>
          <a:ln/>
        </p:spPr>
        <p:txBody>
          <a:bodyPr/>
          <a:p/>
        </p:txBody>
      </p:sp>
      <p:sp>
        <p:nvSpPr>
          <p:cNvPr id="11" name="Text 9"/>
          <p:cNvSpPr/>
          <p:nvPr/>
        </p:nvSpPr>
        <p:spPr>
          <a:xfrm>
            <a:off x="1143000" y="4800600"/>
            <a:ext cx="5943600" cy="685800"/>
          </a:xfrm>
          <a:prstGeom prst="rect">
            <a:avLst/>
          </a:prstGeom>
          <a:noFill/>
          <a:ln/>
        </p:spPr>
        <p:txBody>
          <a:bodyPr wrap="square" rtlCol="0" anchor="t"/>
          <a:lstStyle/>
          <a:p>
            <a:pPr marL="0" indent="0">
              <a:buNone/>
            </a:pPr>
            <a:r>
              <a:rPr lang="en-US" sz="1350" dirty="0">
                <a:solidFill>
                  <a:srgbClr val="4A5A5D"/>
                </a:solidFill>
                <a:latin typeface="Calibri" pitchFamily="34" charset="0"/>
                <a:ea typeface="Calibri" pitchFamily="34" charset="-122"/>
                <a:cs typeface="Calibri" pitchFamily="34" charset="-120"/>
              </a:rPr>
              <a:t>Practical deployment requires efficient inference and robust handling of real-world video conditions.</a:t>
            </a:r>
            <a:endParaRPr lang="en-US" sz="1350" dirty="0"/>
          </a:p>
        </p:txBody>
      </p:sp>
      <p:sp>
        <p:nvSpPr>
          <p:cNvPr id="12" name="Shape 10"/>
          <p:cNvSpPr/>
          <p:nvPr/>
        </p:nvSpPr>
        <p:spPr>
          <a:xfrm>
            <a:off x="7543800" y="1554480"/>
            <a:ext cx="4069080" cy="4572000"/>
          </a:xfrm>
          <a:prstGeom prst="roundRect">
            <a:avLst>
              <a:gd name="adj" fmla="val 2697"/>
            </a:avLst>
          </a:prstGeom>
          <a:solidFill>
            <a:srgbClr val="05386B"/>
          </a:solidFill>
          <a:ln/>
        </p:spPr>
        <p:txBody>
          <a:bodyPr/>
          <a:p/>
        </p:txBody>
      </p:sp>
      <p:sp>
        <p:nvSpPr>
          <p:cNvPr id="13" name="Text 11"/>
          <p:cNvSpPr/>
          <p:nvPr/>
        </p:nvSpPr>
        <p:spPr>
          <a:xfrm>
            <a:off x="7818120" y="1783080"/>
            <a:ext cx="35661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Why it matters</a:t>
            </a:r>
            <a:endParaRPr lang="en-US" sz="1600" dirty="0"/>
          </a:p>
        </p:txBody>
      </p:sp>
      <p:sp>
        <p:nvSpPr>
          <p:cNvPr id="14" name="Text 12"/>
          <p:cNvSpPr/>
          <p:nvPr/>
        </p:nvSpPr>
        <p:spPr>
          <a:xfrm>
            <a:off x="7818120" y="2194560"/>
            <a:ext cx="3566160" cy="1463040"/>
          </a:xfrm>
          <a:prstGeom prst="rect">
            <a:avLst/>
          </a:prstGeom>
          <a:noFill/>
          <a:ln/>
        </p:spPr>
        <p:txBody>
          <a:bodyPr wrap="square" rtlCol="0" anchor="ctr"/>
          <a:lstStyle/>
          <a:p>
            <a:pPr marL="0" indent="0">
              <a:lnSpc>
                <a:spcPct val="125000"/>
              </a:lnSpc>
              <a:buNone/>
            </a:pPr>
            <a:r>
              <a:rPr lang="en-US" sz="1300" dirty="0">
                <a:solidFill>
                  <a:srgbClr val="D7E4EA"/>
                </a:solidFill>
                <a:latin typeface="Calibri" pitchFamily="34" charset="0"/>
                <a:ea typeface="Calibri" pitchFamily="34" charset="-122"/>
                <a:cs typeface="Calibri" pitchFamily="34" charset="-120"/>
              </a:rPr>
              <a:t>Deaf and hard-of-hearing individuals face daily friction in schools, hospitals, workplaces, and public offices — anywhere a hearing person doesn't know sign language.</a:t>
            </a:r>
            <a:endParaRPr lang="en-US" sz="1300" dirty="0"/>
          </a:p>
        </p:txBody>
      </p:sp>
      <p:sp>
        <p:nvSpPr>
          <p:cNvPr id="15" name="Shape 13"/>
          <p:cNvSpPr/>
          <p:nvPr/>
        </p:nvSpPr>
        <p:spPr>
          <a:xfrm>
            <a:off x="7818120" y="3840480"/>
            <a:ext cx="3291840" cy="0"/>
          </a:xfrm>
          <a:prstGeom prst="line">
            <a:avLst/>
          </a:prstGeom>
          <a:noFill/>
          <a:ln w="12700">
            <a:solidFill>
              <a:srgbClr val="3A5A6A"/>
            </a:solidFill>
            <a:prstDash val="solid"/>
          </a:ln>
        </p:spPr>
        <p:txBody>
          <a:bodyPr/>
          <a:p/>
        </p:txBody>
      </p:sp>
      <p:sp>
        <p:nvSpPr>
          <p:cNvPr id="16" name="Text 14"/>
          <p:cNvSpPr/>
          <p:nvPr/>
        </p:nvSpPr>
        <p:spPr>
          <a:xfrm>
            <a:off x="7818120" y="4023360"/>
            <a:ext cx="3566160" cy="1737360"/>
          </a:xfrm>
          <a:prstGeom prst="rect">
            <a:avLst/>
          </a:prstGeom>
          <a:noFill/>
          <a:ln/>
        </p:spPr>
        <p:txBody>
          <a:bodyPr wrap="square" rtlCol="0" anchor="ctr"/>
          <a:lstStyle/>
          <a:p>
            <a:pPr marL="0" indent="0">
              <a:lnSpc>
                <a:spcPct val="125000"/>
              </a:lnSpc>
              <a:buNone/>
            </a:pPr>
            <a:r>
              <a:rPr lang="en-US" sz="1300" i="1" dirty="0">
                <a:solidFill>
                  <a:srgbClr val="02C39A"/>
                </a:solidFill>
                <a:latin typeface="Calibri" pitchFamily="34" charset="0"/>
                <a:ea typeface="Calibri" pitchFamily="34" charset="-122"/>
                <a:cs typeface="Calibri" pitchFamily="34" charset="-120"/>
              </a:rPr>
              <a:t>Goal: a camera-only system that recognises isolated Indian Sign Language signs from video and presents them as text and speech. Our current experimental task is isolated-sign recognition. Continuous signing is future work.</a:t>
            </a:r>
            <a:endParaRPr lang="en-US" sz="1300" dirty="0"/>
          </a:p>
        </p:txBody>
      </p:sp>
      <p:sp>
        <p:nvSpPr>
          <p:cNvPr id="17" name="Text 15"/>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A9B4B6"/>
                </a:solidFill>
                <a:latin typeface="Calibri" pitchFamily="34" charset="0"/>
                <a:ea typeface="Calibri" pitchFamily="34" charset="-122"/>
                <a:cs typeface="Calibri" pitchFamily="34" charset="-120"/>
              </a:rPr>
              <a:t>02</a:t>
            </a:r>
            <a:endParaRPr lang="en-US" sz="1100" dirty="0"/>
          </a:p>
        </p:txBody>
      </p:sp>
      <p:pic>
        <p:nvPicPr>
          <p:cNvPr id="18" name="Picture 17"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02 · OBJECTIVES</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05386B"/>
                </a:solidFill>
                <a:latin typeface="Cambria" pitchFamily="34" charset="0"/>
                <a:ea typeface="Cambria" pitchFamily="34" charset="-122"/>
                <a:cs typeface="Cambria" pitchFamily="34" charset="-120"/>
              </a:rPr>
              <a:t>What the project sets out to build</a:t>
            </a:r>
            <a:endParaRPr lang="en-US" sz="3200" dirty="0"/>
          </a:p>
        </p:txBody>
      </p:sp>
      <p:sp>
        <p:nvSpPr>
          <p:cNvPr id="4" name="Shape 2"/>
          <p:cNvSpPr/>
          <p:nvPr/>
        </p:nvSpPr>
        <p:spPr>
          <a:xfrm>
            <a:off x="548640" y="1600200"/>
            <a:ext cx="3611880" cy="1965960"/>
          </a:xfrm>
          <a:prstGeom prst="roundRect">
            <a:avLst>
              <a:gd name="adj" fmla="val 4651"/>
            </a:avLst>
          </a:prstGeom>
          <a:solidFill>
            <a:srgbClr val="F4FAF9"/>
          </a:solidFill>
          <a:ln/>
        </p:spPr>
        <p:txBody>
          <a:bodyPr/>
          <a:p/>
        </p:txBody>
      </p:sp>
      <p:sp>
        <p:nvSpPr>
          <p:cNvPr id="5" name="Shape 3"/>
          <p:cNvSpPr/>
          <p:nvPr/>
        </p:nvSpPr>
        <p:spPr>
          <a:xfrm>
            <a:off x="777240" y="1801368"/>
            <a:ext cx="457200" cy="457200"/>
          </a:xfrm>
          <a:prstGeom prst="roundRect">
            <a:avLst>
              <a:gd name="adj" fmla="val 50000"/>
            </a:avLst>
          </a:prstGeom>
          <a:solidFill>
            <a:srgbClr val="028090"/>
          </a:solidFill>
          <a:ln/>
        </p:spPr>
        <p:txBody>
          <a:bodyPr/>
          <a:p/>
        </p:txBody>
      </p:sp>
      <p:sp>
        <p:nvSpPr>
          <p:cNvPr id="6" name="Text 4"/>
          <p:cNvSpPr/>
          <p:nvPr/>
        </p:nvSpPr>
        <p:spPr>
          <a:xfrm>
            <a:off x="777240" y="180136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777240" y="2350008"/>
            <a:ext cx="3154680" cy="411480"/>
          </a:xfrm>
          <a:prstGeom prst="rect">
            <a:avLst/>
          </a:prstGeom>
          <a:noFill/>
          <a:ln/>
        </p:spPr>
        <p:txBody>
          <a:bodyPr wrap="square" rtlCol="0" anchor="ctr"/>
          <a:lstStyle/>
          <a:p>
            <a:pPr marL="0" indent="0">
              <a:buNone/>
            </a:pPr>
            <a:r>
              <a:rPr lang="en-US" sz="1450" b="1" dirty="0">
                <a:solidFill>
                  <a:srgbClr val="05386B"/>
                </a:solidFill>
                <a:latin typeface="Cambria" pitchFamily="34" charset="0"/>
                <a:ea typeface="Cambria" pitchFamily="34" charset="-122"/>
                <a:cs typeface="Cambria" pitchFamily="34" charset="-120"/>
              </a:rPr>
              <a:t>Recognize signs from video</a:t>
            </a:r>
            <a:endParaRPr lang="en-US" sz="1450" dirty="0"/>
          </a:p>
        </p:txBody>
      </p:sp>
      <p:sp>
        <p:nvSpPr>
          <p:cNvPr id="8" name="Text 6"/>
          <p:cNvSpPr/>
          <p:nvPr/>
        </p:nvSpPr>
        <p:spPr>
          <a:xfrm>
            <a:off x="777240" y="2715768"/>
            <a:ext cx="3154680" cy="777240"/>
          </a:xfrm>
          <a:prstGeom prst="rect">
            <a:avLst/>
          </a:prstGeom>
          <a:noFill/>
          <a:ln/>
        </p:spPr>
        <p:txBody>
          <a:bodyPr wrap="square" rtlCol="0" anchor="ctr"/>
          <a:lstStyle/>
          <a:p>
            <a:pPr marL="0" indent="0">
              <a:lnSpc>
                <a:spcPct val="115000"/>
              </a:lnSpc>
              <a:buNone/>
            </a:pPr>
            <a:r>
              <a:rPr lang="en-US" sz="1100" dirty="0">
                <a:solidFill>
                  <a:srgbClr val="4A5A5D"/>
                </a:solidFill>
                <a:latin typeface="Calibri" pitchFamily="34" charset="0"/>
                <a:ea typeface="Calibri" pitchFamily="34" charset="-122"/>
                <a:cs typeface="Calibri" pitchFamily="34" charset="-120"/>
              </a:rPr>
              <a:t>Train a 262-class isolated Indian Sign Language recogniser on INCLUDE that works from standard video — no gloves or special sensors.</a:t>
            </a:r>
            <a:endParaRPr lang="en-US" sz="1100" dirty="0"/>
          </a:p>
        </p:txBody>
      </p:sp>
      <p:sp>
        <p:nvSpPr>
          <p:cNvPr id="9" name="Shape 7"/>
          <p:cNvSpPr/>
          <p:nvPr/>
        </p:nvSpPr>
        <p:spPr>
          <a:xfrm>
            <a:off x="4389120" y="1600200"/>
            <a:ext cx="3611880" cy="1965960"/>
          </a:xfrm>
          <a:prstGeom prst="roundRect">
            <a:avLst>
              <a:gd name="adj" fmla="val 4651"/>
            </a:avLst>
          </a:prstGeom>
          <a:solidFill>
            <a:srgbClr val="F4FAF9"/>
          </a:solidFill>
          <a:ln/>
        </p:spPr>
        <p:txBody>
          <a:bodyPr/>
          <a:p/>
        </p:txBody>
      </p:sp>
      <p:sp>
        <p:nvSpPr>
          <p:cNvPr id="10" name="Shape 8"/>
          <p:cNvSpPr/>
          <p:nvPr/>
        </p:nvSpPr>
        <p:spPr>
          <a:xfrm>
            <a:off x="4617720" y="1801368"/>
            <a:ext cx="457200" cy="457200"/>
          </a:xfrm>
          <a:prstGeom prst="roundRect">
            <a:avLst>
              <a:gd name="adj" fmla="val 50000"/>
            </a:avLst>
          </a:prstGeom>
          <a:solidFill>
            <a:srgbClr val="028090"/>
          </a:solidFill>
          <a:ln/>
        </p:spPr>
        <p:txBody>
          <a:bodyPr/>
          <a:p/>
        </p:txBody>
      </p:sp>
      <p:sp>
        <p:nvSpPr>
          <p:cNvPr id="11" name="Text 9"/>
          <p:cNvSpPr/>
          <p:nvPr/>
        </p:nvSpPr>
        <p:spPr>
          <a:xfrm>
            <a:off x="4617720" y="180136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4617720" y="2350008"/>
            <a:ext cx="3154680" cy="411480"/>
          </a:xfrm>
          <a:prstGeom prst="rect">
            <a:avLst/>
          </a:prstGeom>
          <a:noFill/>
          <a:ln/>
        </p:spPr>
        <p:txBody>
          <a:bodyPr wrap="square" rtlCol="0" anchor="ctr"/>
          <a:lstStyle/>
          <a:p>
            <a:pPr marL="0" indent="0">
              <a:buNone/>
            </a:pPr>
            <a:r>
              <a:rPr lang="en-US" sz="1450" b="1" dirty="0">
                <a:solidFill>
                  <a:srgbClr val="05386B"/>
                </a:solidFill>
                <a:latin typeface="Cambria" pitchFamily="34" charset="0"/>
                <a:ea typeface="Cambria" pitchFamily="34" charset="-122"/>
                <a:cs typeface="Cambria" pitchFamily="34" charset="-120"/>
              </a:rPr>
              <a:t>Use structured motion information</a:t>
            </a:r>
            <a:endParaRPr lang="en-US" sz="1450" dirty="0"/>
          </a:p>
        </p:txBody>
      </p:sp>
      <p:sp>
        <p:nvSpPr>
          <p:cNvPr id="13" name="Text 11"/>
          <p:cNvSpPr/>
          <p:nvPr/>
        </p:nvSpPr>
        <p:spPr>
          <a:xfrm>
            <a:off x="4617720" y="2715768"/>
            <a:ext cx="3154680" cy="777240"/>
          </a:xfrm>
          <a:prstGeom prst="rect">
            <a:avLst/>
          </a:prstGeom>
          <a:noFill/>
          <a:ln/>
        </p:spPr>
        <p:txBody>
          <a:bodyPr wrap="square" rtlCol="0" anchor="ctr"/>
          <a:lstStyle/>
          <a:p>
            <a:pPr marL="0" indent="0">
              <a:lnSpc>
                <a:spcPct val="115000"/>
              </a:lnSpc>
              <a:buNone/>
            </a:pPr>
            <a:r>
              <a:rPr lang="en-US" sz="1100" dirty="0">
                <a:solidFill>
                  <a:srgbClr val="4A5A5D"/>
                </a:solidFill>
                <a:latin typeface="Calibri" pitchFamily="34" charset="0"/>
                <a:ea typeface="Calibri" pitchFamily="34" charset="-122"/>
                <a:cs typeface="Calibri" pitchFamily="34" charset="-120"/>
              </a:rPr>
              <a:t>Extract hand, pose and selected face landmarks with MediaPipe, and model 469-D geometry and a 4-D availability mask.</a:t>
            </a:r>
            <a:endParaRPr lang="en-US" sz="1100" dirty="0"/>
          </a:p>
        </p:txBody>
      </p:sp>
      <p:sp>
        <p:nvSpPr>
          <p:cNvPr id="14" name="Shape 12"/>
          <p:cNvSpPr/>
          <p:nvPr/>
        </p:nvSpPr>
        <p:spPr>
          <a:xfrm>
            <a:off x="8229600" y="1600200"/>
            <a:ext cx="3611880" cy="1965960"/>
          </a:xfrm>
          <a:prstGeom prst="roundRect">
            <a:avLst>
              <a:gd name="adj" fmla="val 4651"/>
            </a:avLst>
          </a:prstGeom>
          <a:solidFill>
            <a:srgbClr val="F4FAF9"/>
          </a:solidFill>
          <a:ln/>
        </p:spPr>
        <p:txBody>
          <a:bodyPr/>
          <a:p/>
        </p:txBody>
      </p:sp>
      <p:sp>
        <p:nvSpPr>
          <p:cNvPr id="15" name="Shape 13"/>
          <p:cNvSpPr/>
          <p:nvPr/>
        </p:nvSpPr>
        <p:spPr>
          <a:xfrm>
            <a:off x="8458200" y="1801368"/>
            <a:ext cx="457200" cy="457200"/>
          </a:xfrm>
          <a:prstGeom prst="roundRect">
            <a:avLst>
              <a:gd name="adj" fmla="val 50000"/>
            </a:avLst>
          </a:prstGeom>
          <a:solidFill>
            <a:srgbClr val="028090"/>
          </a:solidFill>
          <a:ln/>
        </p:spPr>
        <p:txBody>
          <a:bodyPr/>
          <a:p/>
        </p:txBody>
      </p:sp>
      <p:sp>
        <p:nvSpPr>
          <p:cNvPr id="16" name="Text 14"/>
          <p:cNvSpPr/>
          <p:nvPr/>
        </p:nvSpPr>
        <p:spPr>
          <a:xfrm>
            <a:off x="8458200" y="180136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8458200" y="2350008"/>
            <a:ext cx="3154680" cy="411480"/>
          </a:xfrm>
          <a:prstGeom prst="rect">
            <a:avLst/>
          </a:prstGeom>
          <a:noFill/>
          <a:ln/>
        </p:spPr>
        <p:txBody>
          <a:bodyPr wrap="square" rtlCol="0" anchor="ctr"/>
          <a:lstStyle/>
          <a:p>
            <a:pPr marL="0" indent="0">
              <a:buNone/>
            </a:pPr>
            <a:r>
              <a:rPr lang="en-US" sz="1450" b="1" dirty="0">
                <a:solidFill>
                  <a:srgbClr val="05386B"/>
                </a:solidFill>
                <a:latin typeface="Cambria" pitchFamily="34" charset="0"/>
                <a:ea typeface="Cambria" pitchFamily="34" charset="-122"/>
                <a:cs typeface="Cambria" pitchFamily="34" charset="-120"/>
              </a:rPr>
              <a:t>Model gesture sequences</a:t>
            </a:r>
            <a:endParaRPr lang="en-US" sz="1450" dirty="0"/>
          </a:p>
        </p:txBody>
      </p:sp>
      <p:sp>
        <p:nvSpPr>
          <p:cNvPr id="18" name="Text 16"/>
          <p:cNvSpPr/>
          <p:nvPr/>
        </p:nvSpPr>
        <p:spPr>
          <a:xfrm>
            <a:off x="8458200" y="2715768"/>
            <a:ext cx="3154680" cy="777240"/>
          </a:xfrm>
          <a:prstGeom prst="rect">
            <a:avLst/>
          </a:prstGeom>
          <a:noFill/>
          <a:ln/>
        </p:spPr>
        <p:txBody>
          <a:bodyPr wrap="square" rtlCol="0" anchor="ctr"/>
          <a:lstStyle/>
          <a:p>
            <a:pPr marL="0" indent="0">
              <a:lnSpc>
                <a:spcPct val="115000"/>
              </a:lnSpc>
              <a:buNone/>
            </a:pPr>
            <a:r>
              <a:rPr lang="en-US" sz="1100" dirty="0">
                <a:solidFill>
                  <a:srgbClr val="4A5A5D"/>
                </a:solidFill>
                <a:latin typeface="Calibri" pitchFamily="34" charset="0"/>
                <a:ea typeface="Calibri" pitchFamily="34" charset="-122"/>
                <a:cs typeface="Calibri" pitchFamily="34" charset="-120"/>
              </a:rPr>
              <a:t>Learn how a sign evolves over 64 sampled frames with part-aware temporal Conv1D and Head-Token Mixing Attention (HTMA).</a:t>
            </a:r>
            <a:endParaRPr lang="en-US" sz="1100" dirty="0"/>
          </a:p>
        </p:txBody>
      </p:sp>
      <p:sp>
        <p:nvSpPr>
          <p:cNvPr id="19" name="Shape 17"/>
          <p:cNvSpPr/>
          <p:nvPr/>
        </p:nvSpPr>
        <p:spPr>
          <a:xfrm>
            <a:off x="548640" y="3794760"/>
            <a:ext cx="3611880" cy="1965960"/>
          </a:xfrm>
          <a:prstGeom prst="roundRect">
            <a:avLst>
              <a:gd name="adj" fmla="val 4651"/>
            </a:avLst>
          </a:prstGeom>
          <a:solidFill>
            <a:srgbClr val="F4FAF9"/>
          </a:solidFill>
          <a:ln/>
        </p:spPr>
        <p:txBody>
          <a:bodyPr/>
          <a:p/>
        </p:txBody>
      </p:sp>
      <p:sp>
        <p:nvSpPr>
          <p:cNvPr id="20" name="Shape 18"/>
          <p:cNvSpPr/>
          <p:nvPr/>
        </p:nvSpPr>
        <p:spPr>
          <a:xfrm>
            <a:off x="777240" y="3995928"/>
            <a:ext cx="457200" cy="457200"/>
          </a:xfrm>
          <a:prstGeom prst="roundRect">
            <a:avLst>
              <a:gd name="adj" fmla="val 50000"/>
            </a:avLst>
          </a:prstGeom>
          <a:solidFill>
            <a:srgbClr val="028090"/>
          </a:solidFill>
          <a:ln/>
        </p:spPr>
        <p:txBody>
          <a:bodyPr/>
          <a:p/>
        </p:txBody>
      </p:sp>
      <p:sp>
        <p:nvSpPr>
          <p:cNvPr id="21" name="Text 19"/>
          <p:cNvSpPr/>
          <p:nvPr/>
        </p:nvSpPr>
        <p:spPr>
          <a:xfrm>
            <a:off x="777240" y="39959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p:nvPr/>
        </p:nvSpPr>
        <p:spPr>
          <a:xfrm>
            <a:off x="777240" y="4544568"/>
            <a:ext cx="3154680" cy="411480"/>
          </a:xfrm>
          <a:prstGeom prst="rect">
            <a:avLst/>
          </a:prstGeom>
          <a:noFill/>
          <a:ln/>
        </p:spPr>
        <p:txBody>
          <a:bodyPr wrap="square" rtlCol="0" anchor="ctr"/>
          <a:lstStyle/>
          <a:p>
            <a:pPr marL="0" indent="0">
              <a:buNone/>
            </a:pPr>
            <a:r>
              <a:rPr lang="en-US" sz="1450" b="1" dirty="0">
                <a:solidFill>
                  <a:srgbClr val="05386B"/>
                </a:solidFill>
                <a:latin typeface="Cambria" pitchFamily="34" charset="0"/>
                <a:ea typeface="Cambria" pitchFamily="34" charset="-122"/>
                <a:cs typeface="Cambria" pitchFamily="34" charset="-120"/>
              </a:rPr>
              <a:t>Fuse streams with gates</a:t>
            </a:r>
            <a:endParaRPr lang="en-US" sz="1450" dirty="0"/>
          </a:p>
        </p:txBody>
      </p:sp>
      <p:sp>
        <p:nvSpPr>
          <p:cNvPr id="23" name="Text 21"/>
          <p:cNvSpPr/>
          <p:nvPr/>
        </p:nvSpPr>
        <p:spPr>
          <a:xfrm>
            <a:off x="777240" y="4910328"/>
            <a:ext cx="3154680" cy="777240"/>
          </a:xfrm>
          <a:prstGeom prst="rect">
            <a:avLst/>
          </a:prstGeom>
          <a:noFill/>
          <a:ln/>
        </p:spPr>
        <p:txBody>
          <a:bodyPr wrap="square" rtlCol="0" anchor="ctr"/>
          <a:lstStyle/>
          <a:p>
            <a:pPr marL="0" indent="0">
              <a:lnSpc>
                <a:spcPct val="115000"/>
              </a:lnSpc>
              <a:buNone/>
            </a:pPr>
            <a:r>
              <a:rPr lang="en-US" sz="1100" dirty="0">
                <a:solidFill>
                  <a:srgbClr val="4A5A5D"/>
                </a:solidFill>
                <a:latin typeface="Calibri" pitchFamily="34" charset="0"/>
                <a:ea typeface="Calibri" pitchFamily="34" charset="-122"/>
                <a:cs typeface="Calibri" pitchFamily="34" charset="-120"/>
              </a:rPr>
              <a:t>Five learned gates weight the hand, pose, face and geometry streams frame by frame, guided by the availability mask.</a:t>
            </a:r>
            <a:endParaRPr lang="en-US" sz="1100" dirty="0"/>
          </a:p>
        </p:txBody>
      </p:sp>
      <p:sp>
        <p:nvSpPr>
          <p:cNvPr id="24" name="Shape 22"/>
          <p:cNvSpPr/>
          <p:nvPr/>
        </p:nvSpPr>
        <p:spPr>
          <a:xfrm>
            <a:off x="4389120" y="3794760"/>
            <a:ext cx="3611880" cy="1965960"/>
          </a:xfrm>
          <a:prstGeom prst="roundRect">
            <a:avLst>
              <a:gd name="adj" fmla="val 4651"/>
            </a:avLst>
          </a:prstGeom>
          <a:solidFill>
            <a:srgbClr val="F4FAF9"/>
          </a:solidFill>
          <a:ln/>
        </p:spPr>
        <p:txBody>
          <a:bodyPr/>
          <a:p/>
        </p:txBody>
      </p:sp>
      <p:sp>
        <p:nvSpPr>
          <p:cNvPr id="25" name="Shape 23"/>
          <p:cNvSpPr/>
          <p:nvPr/>
        </p:nvSpPr>
        <p:spPr>
          <a:xfrm>
            <a:off x="4617720" y="3995928"/>
            <a:ext cx="457200" cy="457200"/>
          </a:xfrm>
          <a:prstGeom prst="roundRect">
            <a:avLst>
              <a:gd name="adj" fmla="val 50000"/>
            </a:avLst>
          </a:prstGeom>
          <a:solidFill>
            <a:srgbClr val="028090"/>
          </a:solidFill>
          <a:ln/>
        </p:spPr>
        <p:txBody>
          <a:bodyPr/>
          <a:p/>
        </p:txBody>
      </p:sp>
      <p:sp>
        <p:nvSpPr>
          <p:cNvPr id="26" name="Text 24"/>
          <p:cNvSpPr/>
          <p:nvPr/>
        </p:nvSpPr>
        <p:spPr>
          <a:xfrm>
            <a:off x="4617720" y="39959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p:nvPr/>
        </p:nvSpPr>
        <p:spPr>
          <a:xfrm>
            <a:off x="4617720" y="4544568"/>
            <a:ext cx="3154680" cy="411480"/>
          </a:xfrm>
          <a:prstGeom prst="rect">
            <a:avLst/>
          </a:prstGeom>
          <a:noFill/>
          <a:ln/>
        </p:spPr>
        <p:txBody>
          <a:bodyPr wrap="square" rtlCol="0" anchor="ctr"/>
          <a:lstStyle/>
          <a:p>
            <a:pPr marL="0" indent="0">
              <a:buNone/>
            </a:pPr>
            <a:r>
              <a:rPr lang="en-US" sz="1450" b="1" dirty="0">
                <a:solidFill>
                  <a:srgbClr val="05386B"/>
                </a:solidFill>
                <a:latin typeface="Cambria" pitchFamily="34" charset="0"/>
                <a:ea typeface="Cambria" pitchFamily="34" charset="-122"/>
                <a:cs typeface="Cambria" pitchFamily="34" charset="-120"/>
              </a:rPr>
              <a:t>Evaluate rigorously</a:t>
            </a:r>
            <a:endParaRPr lang="en-US" sz="1450" dirty="0"/>
          </a:p>
        </p:txBody>
      </p:sp>
      <p:sp>
        <p:nvSpPr>
          <p:cNvPr id="28" name="Text 26"/>
          <p:cNvSpPr/>
          <p:nvPr/>
        </p:nvSpPr>
        <p:spPr>
          <a:xfrm>
            <a:off x="4617720" y="4910328"/>
            <a:ext cx="3154680" cy="777240"/>
          </a:xfrm>
          <a:prstGeom prst="rect">
            <a:avLst/>
          </a:prstGeom>
          <a:noFill/>
          <a:ln/>
        </p:spPr>
        <p:txBody>
          <a:bodyPr wrap="square" rtlCol="0" anchor="ctr"/>
          <a:lstStyle/>
          <a:p>
            <a:pPr marL="0" indent="0">
              <a:lnSpc>
                <a:spcPct val="115000"/>
              </a:lnSpc>
              <a:buNone/>
            </a:pPr>
            <a:r>
              <a:rPr lang="en-US" sz="1100" dirty="0">
                <a:solidFill>
                  <a:srgbClr val="4A5A5D"/>
                </a:solidFill>
                <a:latin typeface="Calibri" pitchFamily="34" charset="0"/>
                <a:ea typeface="Calibri" pitchFamily="34" charset="-122"/>
                <a:cs typeface="Calibri" pitchFamily="34" charset="-120"/>
              </a:rPr>
              <a:t>Report Top-1, Top-5, Macro-F1 and balanced accuracy on the locked INCLUDE test set of 816 videos.</a:t>
            </a:r>
            <a:endParaRPr lang="en-US" sz="1100" dirty="0"/>
          </a:p>
        </p:txBody>
      </p:sp>
      <p:sp>
        <p:nvSpPr>
          <p:cNvPr id="29" name="Shape 27"/>
          <p:cNvSpPr/>
          <p:nvPr/>
        </p:nvSpPr>
        <p:spPr>
          <a:xfrm>
            <a:off x="8229600" y="3794760"/>
            <a:ext cx="3611880" cy="1965960"/>
          </a:xfrm>
          <a:prstGeom prst="roundRect">
            <a:avLst>
              <a:gd name="adj" fmla="val 4651"/>
            </a:avLst>
          </a:prstGeom>
          <a:solidFill>
            <a:srgbClr val="F4FAF9"/>
          </a:solidFill>
          <a:ln/>
        </p:spPr>
        <p:txBody>
          <a:bodyPr/>
          <a:p/>
        </p:txBody>
      </p:sp>
      <p:sp>
        <p:nvSpPr>
          <p:cNvPr id="30" name="Shape 28"/>
          <p:cNvSpPr/>
          <p:nvPr/>
        </p:nvSpPr>
        <p:spPr>
          <a:xfrm>
            <a:off x="8458200" y="3995928"/>
            <a:ext cx="457200" cy="457200"/>
          </a:xfrm>
          <a:prstGeom prst="roundRect">
            <a:avLst>
              <a:gd name="adj" fmla="val 50000"/>
            </a:avLst>
          </a:prstGeom>
          <a:solidFill>
            <a:srgbClr val="028090"/>
          </a:solidFill>
          <a:ln/>
        </p:spPr>
        <p:txBody>
          <a:bodyPr/>
          <a:p/>
        </p:txBody>
      </p:sp>
      <p:sp>
        <p:nvSpPr>
          <p:cNvPr id="31" name="Text 29"/>
          <p:cNvSpPr/>
          <p:nvPr/>
        </p:nvSpPr>
        <p:spPr>
          <a:xfrm>
            <a:off x="8458200" y="399592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2" name="Text 30"/>
          <p:cNvSpPr/>
          <p:nvPr/>
        </p:nvSpPr>
        <p:spPr>
          <a:xfrm>
            <a:off x="8458200" y="4544568"/>
            <a:ext cx="3154680" cy="411480"/>
          </a:xfrm>
          <a:prstGeom prst="rect">
            <a:avLst/>
          </a:prstGeom>
          <a:noFill/>
          <a:ln/>
        </p:spPr>
        <p:txBody>
          <a:bodyPr wrap="square" rtlCol="0" anchor="ctr"/>
          <a:lstStyle/>
          <a:p>
            <a:pPr marL="0" indent="0">
              <a:buNone/>
            </a:pPr>
            <a:r>
              <a:rPr lang="en-US" sz="1450" b="1" dirty="0">
                <a:solidFill>
                  <a:srgbClr val="05386B"/>
                </a:solidFill>
                <a:latin typeface="Cambria" pitchFamily="34" charset="0"/>
                <a:ea typeface="Cambria" pitchFamily="34" charset="-122"/>
                <a:cs typeface="Cambria" pitchFamily="34" charset="-120"/>
              </a:rPr>
              <a:t>Text and speech output</a:t>
            </a:r>
            <a:endParaRPr lang="en-US" sz="1450" dirty="0"/>
          </a:p>
        </p:txBody>
      </p:sp>
      <p:sp>
        <p:nvSpPr>
          <p:cNvPr id="33" name="Text 31"/>
          <p:cNvSpPr/>
          <p:nvPr/>
        </p:nvSpPr>
        <p:spPr>
          <a:xfrm>
            <a:off x="8458200" y="4910328"/>
            <a:ext cx="3154680" cy="777240"/>
          </a:xfrm>
          <a:prstGeom prst="rect">
            <a:avLst/>
          </a:prstGeom>
          <a:noFill/>
          <a:ln/>
        </p:spPr>
        <p:txBody>
          <a:bodyPr wrap="square" rtlCol="0" anchor="ctr"/>
          <a:lstStyle/>
          <a:p>
            <a:pPr marL="0" indent="0">
              <a:lnSpc>
                <a:spcPct val="115000"/>
              </a:lnSpc>
              <a:buNone/>
            </a:pPr>
            <a:r>
              <a:rPr lang="en-US" sz="1100" dirty="0">
                <a:solidFill>
                  <a:srgbClr val="4A5A5D"/>
                </a:solidFill>
                <a:latin typeface="Calibri" pitchFamily="34" charset="0"/>
                <a:ea typeface="Calibri" pitchFamily="34" charset="-122"/>
                <a:cs typeface="Calibri" pitchFamily="34" charset="-120"/>
              </a:rPr>
              <a:t>Serve the model through a FastAPI + React app that shows each recognised sign as text and speaks it (Web Speech API).</a:t>
            </a:r>
            <a:endParaRPr lang="en-US" sz="1100" dirty="0"/>
          </a:p>
        </p:txBody>
      </p:sp>
      <p:sp>
        <p:nvSpPr>
          <p:cNvPr id="34" name="Text 32"/>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A9B4B6"/>
                </a:solidFill>
                <a:latin typeface="Calibri" pitchFamily="34" charset="0"/>
                <a:ea typeface="Calibri" pitchFamily="34" charset="-122"/>
                <a:cs typeface="Calibri" pitchFamily="34" charset="-120"/>
              </a:rPr>
              <a:t>03</a:t>
            </a:r>
            <a:endParaRPr lang="en-US" sz="1100" dirty="0"/>
          </a:p>
        </p:txBody>
      </p:sp>
      <p:pic>
        <p:nvPicPr>
          <p:cNvPr id="35" name="Picture 34"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03 · LITERATURE SURVEY</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How prior work has approached sign recognition</a:t>
            </a:r>
            <a:endParaRPr lang="en-US" sz="3200" dirty="0"/>
          </a:p>
        </p:txBody>
      </p:sp>
      <p:sp>
        <p:nvSpPr>
          <p:cNvPr id="40" name="Text 38"/>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6B7B7D"/>
                </a:solidFill>
                <a:latin typeface="Calibri" pitchFamily="34" charset="0"/>
                <a:ea typeface="Calibri" pitchFamily="34" charset="-122"/>
                <a:cs typeface="Calibri" pitchFamily="34" charset="-120"/>
              </a:rPr>
              <a:t>04</a:t>
            </a:r>
            <a:endParaRPr lang="en-US" sz="1100" dirty="0"/>
          </a:p>
        </p:txBody>
      </p:sp>
      <p:graphicFrame>
        <p:nvGraphicFramePr>
          <p:cNvPr id="41" name="Table 40"/>
          <p:cNvGraphicFramePr>
            <a:graphicFrameLocks noGrp="1"/>
          </p:cNvGraphicFramePr>
          <p:nvPr/>
        </p:nvGraphicFramePr>
        <p:xfrm>
          <a:off x="548640" y="1500000"/>
          <a:ext cx="11064240" cy="4820000"/>
        </p:xfrm>
        <a:graphic>
          <a:graphicData uri="http://schemas.openxmlformats.org/drawingml/2006/table">
            <a:tbl>
              <a:tblPr>
                <a:tableStyleId>{5C22544A-7EE6-4342-B048-85BDC9FD1C3A}</a:tableStyleId>
              </a:tblPr>
              <a:tblGrid>
                <a:gridCol w="2350000">
                  <a:extLst>
                    <a:ext uri="{9D8B030D-6E8A-4147-A177-3AD203B41FA5}">
                      <a16:colId xmlns:a16="http://schemas.microsoft.com/office/drawing/2014/main" val="20000"/>
                    </a:ext>
                  </a:extLst>
                </a:gridCol>
                <a:gridCol w="2450000">
                  <a:extLst>
                    <a:ext uri="{9D8B030D-6E8A-4147-A177-3AD203B41FA5}">
                      <a16:colId xmlns:a16="http://schemas.microsoft.com/office/drawing/2014/main" val="20001"/>
                    </a:ext>
                  </a:extLst>
                </a:gridCol>
                <a:gridCol w="1550000">
                  <a:extLst>
                    <a:ext uri="{9D8B030D-6E8A-4147-A177-3AD203B41FA5}">
                      <a16:colId xmlns:a16="http://schemas.microsoft.com/office/drawing/2014/main" val="20002"/>
                    </a:ext>
                  </a:extLst>
                </a:gridCol>
                <a:gridCol w="3050000">
                  <a:extLst>
                    <a:ext uri="{9D8B030D-6E8A-4147-A177-3AD203B41FA5}">
                      <a16:colId xmlns:a16="http://schemas.microsoft.com/office/drawing/2014/main" val="20003"/>
                    </a:ext>
                  </a:extLst>
                </a:gridCol>
                <a:gridCol w="1664240">
                  <a:extLst>
                    <a:ext uri="{9D8B030D-6E8A-4147-A177-3AD203B41FA5}">
                      <a16:colId xmlns:a16="http://schemas.microsoft.com/office/drawing/2014/main" val="20004"/>
                    </a:ext>
                  </a:extLst>
                </a:gridCol>
              </a:tblGrid>
              <a:tr h="500000">
                <a:tc>
                  <a:txBody>
                    <a:bodyPr/>
                    <a:lstStyle/>
                    <a:p>
                      <a:pPr algn="l"/>
                      <a:r>
                        <a:rPr sz="1200" b="1">
                          <a:solidFill>
                            <a:srgbClr val="FFFFFF"/>
                          </a:solidFill>
                          <a:latin typeface="Calibri"/>
                        </a:rPr>
                        <a:t>Model / Paper</a:t>
                      </a:r>
                    </a:p>
                  </a:txBody>
                  <a:tcPr marL="45720" marR="45720" marT="30000" marB="30000" anchor="ctr">
                    <a:solidFill>
                      <a:srgbClr val="028090"/>
                    </a:solidFill>
                  </a:tcPr>
                </a:tc>
                <a:tc>
                  <a:txBody>
                    <a:bodyPr/>
                    <a:lstStyle/>
                    <a:p>
                      <a:pPr algn="l"/>
                      <a:r>
                        <a:rPr sz="1200" b="1">
                          <a:solidFill>
                            <a:srgbClr val="FFFFFF"/>
                          </a:solidFill>
                          <a:latin typeface="Calibri"/>
                        </a:rPr>
                        <a:t>Algorithm Used</a:t>
                      </a:r>
                    </a:p>
                  </a:txBody>
                  <a:tcPr marL="45720" marR="45720" marT="30000" marB="30000" anchor="ctr">
                    <a:solidFill>
                      <a:srgbClr val="028090"/>
                    </a:solidFill>
                  </a:tcPr>
                </a:tc>
                <a:tc>
                  <a:txBody>
                    <a:bodyPr/>
                    <a:lstStyle/>
                    <a:p>
                      <a:pPr algn="l"/>
                      <a:r>
                        <a:rPr sz="1200" b="1">
                          <a:solidFill>
                            <a:srgbClr val="FFFFFF"/>
                          </a:solidFill>
                          <a:latin typeface="Calibri"/>
                        </a:rPr>
                        <a:t>Accuracy</a:t>
                      </a:r>
                    </a:p>
                  </a:txBody>
                  <a:tcPr marL="45720" marR="45720" marT="30000" marB="30000" anchor="ctr">
                    <a:solidFill>
                      <a:srgbClr val="028090"/>
                    </a:solidFill>
                  </a:tcPr>
                </a:tc>
                <a:tc>
                  <a:txBody>
                    <a:bodyPr/>
                    <a:lstStyle/>
                    <a:p>
                      <a:pPr algn="l"/>
                      <a:r>
                        <a:rPr sz="1200" b="1">
                          <a:solidFill>
                            <a:srgbClr val="FFFFFF"/>
                          </a:solidFill>
                          <a:latin typeface="Calibri"/>
                        </a:rPr>
                        <a:t>Key Limitation</a:t>
                      </a:r>
                    </a:p>
                  </a:txBody>
                  <a:tcPr marL="45720" marR="45720" marT="30000" marB="30000" anchor="ctr">
                    <a:solidFill>
                      <a:srgbClr val="028090"/>
                    </a:solidFill>
                  </a:tcPr>
                </a:tc>
                <a:tc>
                  <a:txBody>
                    <a:bodyPr/>
                    <a:lstStyle/>
                    <a:p>
                      <a:pPr algn="l"/>
                      <a:r>
                        <a:rPr sz="1200" b="1">
                          <a:solidFill>
                            <a:srgbClr val="FFFFFF"/>
                          </a:solidFill>
                          <a:latin typeface="Calibri"/>
                        </a:rPr>
                        <a:t>Dataset (Link)</a:t>
                      </a:r>
                    </a:p>
                  </a:txBody>
                  <a:tcPr marL="45720" marR="45720" marT="30000" marB="30000" anchor="ctr">
                    <a:solidFill>
                      <a:srgbClr val="028090"/>
                    </a:solidFill>
                  </a:tcPr>
                </a:tc>
                <a:extLst>
                  <a:ext uri="{0D108BD9-81ED-4DB2-BD59-A6C34878D82A}">
                    <a16:rowId xmlns:a16="http://schemas.microsoft.com/office/drawing/2014/main" val="10000"/>
                  </a:ext>
                </a:extLst>
              </a:tr>
              <a:tr h="864000">
                <a:tc>
                  <a:txBody>
                    <a:bodyPr/>
                    <a:lstStyle/>
                    <a:p>
                      <a:pPr algn="l"/>
                      <a:r>
                        <a:rPr sz="1000" b="0">
                          <a:solidFill>
                            <a:srgbClr val="DCE9E9"/>
                          </a:solidFill>
                          <a:latin typeface="Calibri"/>
                        </a:rPr>
                        <a:t>WLASL</a:t>
                      </a:r>
                    </a:p>
                    <a:p>
                      <a:pPr algn="l"/>
                      <a:r>
                        <a:rPr sz="950" b="0">
                          <a:solidFill>
                            <a:srgbClr val="DCE9E9"/>
                          </a:solidFill>
                          <a:latin typeface="Calibri"/>
                        </a:rPr>
                        <a:t>Li et al., 2020 (WACV)</a:t>
                      </a:r>
                    </a:p>
                  </a:txBody>
                  <a:tcPr marL="45720" marR="45720" marT="30000" marB="30000" anchor="ctr">
                    <a:solidFill>
                      <a:srgbClr val="0F2529"/>
                    </a:solidFill>
                  </a:tcPr>
                </a:tc>
                <a:tc>
                  <a:txBody>
                    <a:bodyPr/>
                    <a:lstStyle/>
                    <a:p>
                      <a:pPr algn="l"/>
                      <a:r>
                        <a:rPr sz="1000" b="0">
                          <a:solidFill>
                            <a:srgbClr val="DCE9E9"/>
                          </a:solidFill>
                          <a:latin typeface="Calibri"/>
                        </a:rPr>
                        <a:t>I3D (3D-CNN) &amp;</a:t>
                      </a:r>
                    </a:p>
                    <a:p>
                      <a:pPr algn="l"/>
                      <a:r>
                        <a:rPr sz="950" b="0">
                          <a:solidFill>
                            <a:srgbClr val="DCE9E9"/>
                          </a:solidFill>
                          <a:latin typeface="Calibri"/>
                        </a:rPr>
                        <a:t>Pose-TGCN (skeleton GCN)</a:t>
                      </a:r>
                    </a:p>
                  </a:txBody>
                  <a:tcPr marL="45720" marR="45720" marT="30000" marB="30000" anchor="ctr">
                    <a:solidFill>
                      <a:srgbClr val="0F2529"/>
                    </a:solidFill>
                  </a:tcPr>
                </a:tc>
                <a:tc>
                  <a:txBody>
                    <a:bodyPr/>
                    <a:lstStyle/>
                    <a:p>
                      <a:pPr algn="l"/>
                      <a:r>
                        <a:rPr sz="1000" b="0">
                          <a:solidFill>
                            <a:srgbClr val="DCE9E9"/>
                          </a:solidFill>
                          <a:latin typeface="Calibri"/>
                        </a:rPr>
                        <a:t>Pose-TGCN: 23.65% Top-1 /</a:t>
                      </a:r>
                    </a:p>
                    <a:p>
                      <a:pPr algn="l"/>
                      <a:r>
                        <a:rPr sz="950" b="0">
                          <a:solidFill>
                            <a:srgbClr val="DCE9E9"/>
                          </a:solidFill>
                          <a:latin typeface="Calibri"/>
                        </a:rPr>
                        <a:t>51.75% Top-5 (WLASL2000)</a:t>
                      </a:r>
                    </a:p>
                  </a:txBody>
                  <a:tcPr marL="45720" marR="45720" marT="30000" marB="30000" anchor="ctr">
                    <a:solidFill>
                      <a:srgbClr val="0F2529"/>
                    </a:solidFill>
                  </a:tcPr>
                </a:tc>
                <a:tc>
                  <a:txBody>
                    <a:bodyPr/>
                    <a:lstStyle/>
                    <a:p>
                      <a:pPr algn="l"/>
                      <a:r>
                        <a:rPr sz="1000" b="0">
                          <a:solidFill>
                            <a:srgbClr val="DCE9E9"/>
                          </a:solidFill>
                          <a:latin typeface="Calibri"/>
                        </a:rPr>
                        <a:t>Accuracy drops sharply as vocabulary grows; can't handle continuous sentences</a:t>
                      </a:r>
                    </a:p>
                  </a:txBody>
                  <a:tcPr marL="45720" marR="45720" marT="30000" marB="30000" anchor="ctr">
                    <a:solidFill>
                      <a:srgbClr val="0F2529"/>
                    </a:solidFill>
                  </a:tcPr>
                </a:tc>
                <a:tc>
                  <a:txBody>
                    <a:bodyPr/>
                    <a:lstStyle/>
                    <a:p>
                      <a:pPr algn="l"/>
                      <a:r>
                        <a:rPr sz="1000" b="0">
                          <a:solidFill>
                            <a:srgbClr val="DCE9E9"/>
                          </a:solidFill>
                          <a:latin typeface="Calibri"/>
                        </a:rPr>
                        <a:t>WLASL</a:t>
                      </a:r>
                    </a:p>
                    <a:p>
                      <a:pPr algn="l"/>
                      <a:r>
                        <a:rPr sz="950" b="0">
                          <a:solidFill>
                            <a:srgbClr val="DCE9E9"/>
                          </a:solidFill>
                          <a:latin typeface="Calibri"/>
                        </a:rPr>
                        <a:t>dxli94.github.io/WLASL</a:t>
                      </a:r>
                    </a:p>
                  </a:txBody>
                  <a:tcPr marL="45720" marR="45720" marT="30000" marB="30000" anchor="ctr">
                    <a:solidFill>
                      <a:srgbClr val="0F2529"/>
                    </a:solidFill>
                  </a:tcPr>
                </a:tc>
                <a:extLst>
                  <a:ext uri="{0D108BD9-81ED-4DB2-BD59-A6C34878D82A}">
                    <a16:rowId xmlns:a16="http://schemas.microsoft.com/office/drawing/2014/main" val="10001"/>
                  </a:ext>
                </a:extLst>
              </a:tr>
              <a:tr h="864000">
                <a:tc>
                  <a:txBody>
                    <a:bodyPr/>
                    <a:lstStyle/>
                    <a:p>
                      <a:pPr algn="l"/>
                      <a:r>
                        <a:rPr sz="1000" b="0">
                          <a:solidFill>
                            <a:srgbClr val="DCE9E9"/>
                          </a:solidFill>
                          <a:latin typeface="Calibri"/>
                        </a:rPr>
                        <a:t>SignBERT</a:t>
                      </a:r>
                    </a:p>
                    <a:p>
                      <a:pPr algn="l"/>
                      <a:r>
                        <a:rPr sz="950" b="0">
                          <a:solidFill>
                            <a:srgbClr val="DCE9E9"/>
                          </a:solidFill>
                          <a:latin typeface="Calibri"/>
                        </a:rPr>
                        <a:t>Hu et al., 2021 (ICCV)</a:t>
                      </a:r>
                    </a:p>
                  </a:txBody>
                  <a:tcPr marL="45720" marR="45720" marT="30000" marB="30000" anchor="ctr">
                    <a:solidFill>
                      <a:srgbClr val="112E33"/>
                    </a:solidFill>
                  </a:tcPr>
                </a:tc>
                <a:tc>
                  <a:txBody>
                    <a:bodyPr/>
                    <a:lstStyle/>
                    <a:p>
                      <a:pPr algn="l"/>
                      <a:r>
                        <a:rPr sz="1000" b="0">
                          <a:solidFill>
                            <a:srgbClr val="DCE9E9"/>
                          </a:solidFill>
                          <a:latin typeface="Calibri"/>
                        </a:rPr>
                        <a:t>Self-supervised, hand-model-aware pre-training of a Transformer encoder on hand-pose tokens</a:t>
                      </a:r>
                    </a:p>
                  </a:txBody>
                  <a:tcPr marL="45720" marR="45720" marT="30000" marB="30000" anchor="ctr">
                    <a:solidFill>
                      <a:srgbClr val="112E33"/>
                    </a:solidFill>
                  </a:tcPr>
                </a:tc>
                <a:tc>
                  <a:txBody>
                    <a:bodyPr/>
                    <a:lstStyle/>
                    <a:p>
                      <a:pPr algn="l"/>
                      <a:r>
                        <a:rPr sz="1000" b="0">
                          <a:solidFill>
                            <a:srgbClr val="DCE9E9"/>
                          </a:solidFill>
                          <a:latin typeface="Calibri"/>
                        </a:rPr>
                        <a:t>39.40% Top-1 (hands) /</a:t>
                      </a:r>
                    </a:p>
                    <a:p>
                      <a:pPr algn="l"/>
                      <a:r>
                        <a:rPr sz="950" b="0">
                          <a:solidFill>
                            <a:srgbClr val="DCE9E9"/>
                          </a:solidFill>
                          <a:latin typeface="Calibri"/>
                        </a:rPr>
                        <a:t>54.69% hands + RGB (WLASL2000)</a:t>
                      </a:r>
                    </a:p>
                  </a:txBody>
                  <a:tcPr marL="45720" marR="45720" marT="30000" marB="30000" anchor="ctr">
                    <a:solidFill>
                      <a:srgbClr val="112E33"/>
                    </a:solidFill>
                  </a:tcPr>
                </a:tc>
                <a:tc>
                  <a:txBody>
                    <a:bodyPr/>
                    <a:lstStyle/>
                    <a:p>
                      <a:pPr algn="l"/>
                      <a:r>
                        <a:rPr sz="1000" b="0">
                          <a:solidFill>
                            <a:srgbClr val="DCE9E9"/>
                          </a:solidFill>
                          <a:latin typeface="Calibri"/>
                        </a:rPr>
                        <a:t>Hand-pose tokens only; RGB joined only by summing scores; needs pre-training; not evaluated on ISL</a:t>
                      </a:r>
                    </a:p>
                  </a:txBody>
                  <a:tcPr marL="45720" marR="45720" marT="30000" marB="30000" anchor="ctr">
                    <a:solidFill>
                      <a:srgbClr val="112E33"/>
                    </a:solidFill>
                  </a:tcPr>
                </a:tc>
                <a:tc>
                  <a:txBody>
                    <a:bodyPr/>
                    <a:lstStyle/>
                    <a:p>
                      <a:pPr algn="l"/>
                      <a:r>
                        <a:rPr sz="1000" b="0">
                          <a:solidFill>
                            <a:srgbClr val="DCE9E9"/>
                          </a:solidFill>
                          <a:latin typeface="Calibri"/>
                        </a:rPr>
                        <a:t>WLASL</a:t>
                      </a:r>
                    </a:p>
                    <a:p>
                      <a:pPr algn="l"/>
                      <a:r>
                        <a:rPr sz="950" b="0">
                          <a:solidFill>
                            <a:srgbClr val="DCE9E9"/>
                          </a:solidFill>
                          <a:latin typeface="Calibri"/>
                        </a:rPr>
                        <a:t>dxli94.github.io/WLASL</a:t>
                      </a:r>
                    </a:p>
                  </a:txBody>
                  <a:tcPr marL="45720" marR="45720" marT="30000" marB="30000" anchor="ctr">
                    <a:solidFill>
                      <a:srgbClr val="112E33"/>
                    </a:solidFill>
                  </a:tcPr>
                </a:tc>
                <a:extLst>
                  <a:ext uri="{0D108BD9-81ED-4DB2-BD59-A6C34878D82A}">
                    <a16:rowId xmlns:a16="http://schemas.microsoft.com/office/drawing/2014/main" val="10002"/>
                  </a:ext>
                </a:extLst>
              </a:tr>
              <a:tr h="864000">
                <a:tc>
                  <a:txBody>
                    <a:bodyPr/>
                    <a:lstStyle/>
                    <a:p>
                      <a:pPr algn="l"/>
                      <a:r>
                        <a:rPr sz="1000" b="0">
                          <a:solidFill>
                            <a:srgbClr val="DCE9E9"/>
                          </a:solidFill>
                          <a:latin typeface="Calibri"/>
                        </a:rPr>
                        <a:t>SPOTER</a:t>
                      </a:r>
                    </a:p>
                    <a:p>
                      <a:pPr algn="l"/>
                      <a:r>
                        <a:rPr sz="950" b="0">
                          <a:solidFill>
                            <a:srgbClr val="DCE9E9"/>
                          </a:solidFill>
                          <a:latin typeface="Calibri"/>
                        </a:rPr>
                        <a:t>Boháček &amp; Hrúz, 2022 (WACV-W)</a:t>
                      </a:r>
                    </a:p>
                  </a:txBody>
                  <a:tcPr marL="45720" marR="45720" marT="30000" marB="30000" anchor="ctr">
                    <a:solidFill>
                      <a:srgbClr val="0F2529"/>
                    </a:solidFill>
                  </a:tcPr>
                </a:tc>
                <a:tc>
                  <a:txBody>
                    <a:bodyPr/>
                    <a:lstStyle/>
                    <a:p>
                      <a:pPr algn="l"/>
                      <a:r>
                        <a:rPr sz="1000" b="0">
                          <a:solidFill>
                            <a:srgbClr val="DCE9E9"/>
                          </a:solidFill>
                          <a:latin typeface="Calibri"/>
                        </a:rPr>
                        <a:t>Pose-based Transformer on Apple Vision API body and hand keypoints</a:t>
                      </a:r>
                    </a:p>
                  </a:txBody>
                  <a:tcPr marL="45720" marR="45720" marT="30000" marB="30000" anchor="ctr">
                    <a:solidFill>
                      <a:srgbClr val="0F2529"/>
                    </a:solidFill>
                  </a:tcPr>
                </a:tc>
                <a:tc>
                  <a:txBody>
                    <a:bodyPr/>
                    <a:lstStyle/>
                    <a:p>
                      <a:pPr algn="l"/>
                      <a:r>
                        <a:rPr sz="1000" b="0">
                          <a:solidFill>
                            <a:srgbClr val="DCE9E9"/>
                          </a:solidFill>
                          <a:latin typeface="Calibri"/>
                        </a:rPr>
                        <a:t>63.18% Top-1</a:t>
                      </a:r>
                    </a:p>
                    <a:p>
                      <a:pPr algn="l"/>
                      <a:r>
                        <a:rPr sz="950" b="0">
                          <a:solidFill>
                            <a:srgbClr val="DCE9E9"/>
                          </a:solidFill>
                          <a:latin typeface="Calibri"/>
                        </a:rPr>
                        <a:t>(WLASL100)</a:t>
                      </a:r>
                    </a:p>
                  </a:txBody>
                  <a:tcPr marL="45720" marR="45720" marT="30000" marB="30000" anchor="ctr">
                    <a:solidFill>
                      <a:srgbClr val="0F2529"/>
                    </a:solidFill>
                  </a:tcPr>
                </a:tc>
                <a:tc>
                  <a:txBody>
                    <a:bodyPr/>
                    <a:lstStyle/>
                    <a:p>
                      <a:pPr algn="l"/>
                      <a:r>
                        <a:rPr sz="1000" b="0">
                          <a:solidFill>
                            <a:srgbClr val="DCE9E9"/>
                          </a:solidFill>
                          <a:latin typeface="Calibri"/>
                        </a:rPr>
                        <a:t>One concatenated pose vector; no face mesh; missing points zero-filled; 43.78% on WLASL300</a:t>
                      </a:r>
                    </a:p>
                  </a:txBody>
                  <a:tcPr marL="45720" marR="45720" marT="30000" marB="30000" anchor="ctr">
                    <a:solidFill>
                      <a:srgbClr val="0F2529"/>
                    </a:solidFill>
                  </a:tcPr>
                </a:tc>
                <a:tc>
                  <a:txBody>
                    <a:bodyPr/>
                    <a:lstStyle/>
                    <a:p>
                      <a:pPr algn="l"/>
                      <a:r>
                        <a:rPr sz="1000" b="0">
                          <a:solidFill>
                            <a:srgbClr val="DCE9E9"/>
                          </a:solidFill>
                          <a:latin typeface="Calibri"/>
                        </a:rPr>
                        <a:t>WLASL100</a:t>
                      </a:r>
                    </a:p>
                    <a:p>
                      <a:pPr algn="l"/>
                      <a:r>
                        <a:rPr sz="950" b="0">
                          <a:solidFill>
                            <a:srgbClr val="DCE9E9"/>
                          </a:solidFill>
                          <a:latin typeface="Calibri"/>
                        </a:rPr>
                        <a:t>github.com/matyasbohacek/spoter</a:t>
                      </a:r>
                    </a:p>
                  </a:txBody>
                  <a:tcPr marL="45720" marR="45720" marT="30000" marB="30000" anchor="ctr">
                    <a:solidFill>
                      <a:srgbClr val="0F2529"/>
                    </a:solidFill>
                  </a:tcPr>
                </a:tc>
                <a:extLst>
                  <a:ext uri="{0D108BD9-81ED-4DB2-BD59-A6C34878D82A}">
                    <a16:rowId xmlns:a16="http://schemas.microsoft.com/office/drawing/2014/main" val="10003"/>
                  </a:ext>
                </a:extLst>
              </a:tr>
              <a:tr h="864000">
                <a:tc>
                  <a:txBody>
                    <a:bodyPr/>
                    <a:lstStyle/>
                    <a:p>
                      <a:pPr algn="l"/>
                      <a:r>
                        <a:rPr sz="1000" b="0">
                          <a:solidFill>
                            <a:srgbClr val="DCE9E9"/>
                          </a:solidFill>
                          <a:latin typeface="Calibri"/>
                        </a:rPr>
                        <a:t>Sign Language Transformers</a:t>
                      </a:r>
                    </a:p>
                    <a:p>
                      <a:pPr algn="l"/>
                      <a:r>
                        <a:rPr sz="950" b="0">
                          <a:solidFill>
                            <a:srgbClr val="DCE9E9"/>
                          </a:solidFill>
                          <a:latin typeface="Calibri"/>
                        </a:rPr>
                        <a:t>Camgoz et al., 2020 (CVPR)</a:t>
                      </a:r>
                    </a:p>
                  </a:txBody>
                  <a:tcPr marL="45720" marR="45720" marT="30000" marB="30000" anchor="ctr">
                    <a:solidFill>
                      <a:srgbClr val="112E33"/>
                    </a:solidFill>
                  </a:tcPr>
                </a:tc>
                <a:tc>
                  <a:txBody>
                    <a:bodyPr/>
                    <a:lstStyle/>
                    <a:p>
                      <a:pPr algn="l"/>
                      <a:r>
                        <a:rPr sz="1000" b="0">
                          <a:solidFill>
                            <a:srgbClr val="DCE9E9"/>
                          </a:solidFill>
                          <a:latin typeface="Calibri"/>
                        </a:rPr>
                        <a:t>Joint Transformer + CTC</a:t>
                      </a:r>
                    </a:p>
                    <a:p>
                      <a:pPr algn="l"/>
                      <a:r>
                        <a:rPr sz="950" b="0">
                          <a:solidFill>
                            <a:srgbClr val="DCE9E9"/>
                          </a:solidFill>
                          <a:latin typeface="Calibri"/>
                        </a:rPr>
                        <a:t>(recognition + translation)</a:t>
                      </a:r>
                    </a:p>
                  </a:txBody>
                  <a:tcPr marL="45720" marR="45720" marT="30000" marB="30000" anchor="ctr">
                    <a:solidFill>
                      <a:srgbClr val="112E33"/>
                    </a:solidFill>
                  </a:tcPr>
                </a:tc>
                <a:tc>
                  <a:txBody>
                    <a:bodyPr/>
                    <a:lstStyle/>
                    <a:p>
                      <a:pPr algn="l"/>
                      <a:r>
                        <a:rPr sz="1000" b="0">
                          <a:solidFill>
                            <a:srgbClr val="DCE9E9"/>
                          </a:solidFill>
                          <a:latin typeface="Calibri"/>
                        </a:rPr>
                        <a:t>24.49% WER</a:t>
                      </a:r>
                    </a:p>
                    <a:p>
                      <a:pPr algn="l"/>
                      <a:r>
                        <a:rPr sz="950" b="0">
                          <a:solidFill>
                            <a:srgbClr val="DCE9E9"/>
                          </a:solidFill>
                          <a:latin typeface="Calibri"/>
                        </a:rPr>
                        <a:t>(recognition, test set)</a:t>
                      </a:r>
                    </a:p>
                  </a:txBody>
                  <a:tcPr marL="45720" marR="45720" marT="30000" marB="30000" anchor="ctr">
                    <a:solidFill>
                      <a:srgbClr val="112E33"/>
                    </a:solidFill>
                  </a:tcPr>
                </a:tc>
                <a:tc>
                  <a:txBody>
                    <a:bodyPr/>
                    <a:lstStyle/>
                    <a:p>
                      <a:pPr algn="l"/>
                      <a:r>
                        <a:rPr sz="1000" b="0">
                          <a:solidFill>
                            <a:srgbClr val="DCE9E9"/>
                          </a:solidFill>
                          <a:latin typeface="Calibri"/>
                        </a:rPr>
                        <a:t>Gloss-dependent; RGB only; continuous German SL (9 signers), not isolated ISL</a:t>
                      </a:r>
                    </a:p>
                  </a:txBody>
                  <a:tcPr marL="45720" marR="45720" marT="30000" marB="30000" anchor="ctr">
                    <a:solidFill>
                      <a:srgbClr val="112E33"/>
                    </a:solidFill>
                  </a:tcPr>
                </a:tc>
                <a:tc>
                  <a:txBody>
                    <a:bodyPr/>
                    <a:lstStyle/>
                    <a:p>
                      <a:pPr algn="l"/>
                      <a:r>
                        <a:rPr sz="1000" b="0">
                          <a:solidFill>
                            <a:srgbClr val="DCE9E9"/>
                          </a:solidFill>
                          <a:latin typeface="Calibri"/>
                        </a:rPr>
                        <a:t>RWTH-PHOENIX-Weather-2014T</a:t>
                      </a:r>
                    </a:p>
                    <a:p>
                      <a:pPr algn="l"/>
                      <a:r>
                        <a:rPr sz="950" b="0">
                          <a:solidFill>
                            <a:srgbClr val="DCE9E9"/>
                          </a:solidFill>
                          <a:latin typeface="Calibri"/>
                        </a:rPr>
                        <a:t>www-i6.informatik.rwth-aachen.de</a:t>
                      </a:r>
                    </a:p>
                  </a:txBody>
                  <a:tcPr marL="45720" marR="45720" marT="30000" marB="30000" anchor="ctr">
                    <a:solidFill>
                      <a:srgbClr val="112E33"/>
                    </a:solidFill>
                  </a:tcPr>
                </a:tc>
                <a:extLst>
                  <a:ext uri="{0D108BD9-81ED-4DB2-BD59-A6C34878D82A}">
                    <a16:rowId xmlns:a16="http://schemas.microsoft.com/office/drawing/2014/main" val="10004"/>
                  </a:ext>
                </a:extLst>
              </a:tr>
              <a:tr h="864000">
                <a:tc>
                  <a:txBody>
                    <a:bodyPr/>
                    <a:lstStyle/>
                    <a:p>
                      <a:pPr algn="l"/>
                      <a:r>
                        <a:rPr sz="1000" b="0">
                          <a:solidFill>
                            <a:srgbClr val="DCE9E9"/>
                          </a:solidFill>
                          <a:latin typeface="Calibri"/>
                        </a:rPr>
                        <a:t>INCLUDE</a:t>
                      </a:r>
                    </a:p>
                    <a:p>
                      <a:pPr algn="l"/>
                      <a:r>
                        <a:rPr sz="950" b="0">
                          <a:solidFill>
                            <a:srgbClr val="DCE9E9"/>
                          </a:solidFill>
                          <a:latin typeface="Calibri"/>
                        </a:rPr>
                        <a:t>Sridhar et al., 2020 (ACM MM)</a:t>
                      </a:r>
                    </a:p>
                  </a:txBody>
                  <a:tcPr marL="45720" marR="45720" marT="30000" marB="30000" anchor="ctr">
                    <a:solidFill>
                      <a:srgbClr val="0F2529"/>
                    </a:solidFill>
                  </a:tcPr>
                </a:tc>
                <a:tc>
                  <a:txBody>
                    <a:bodyPr/>
                    <a:lstStyle/>
                    <a:p>
                      <a:pPr algn="l"/>
                      <a:r>
                        <a:rPr sz="1000" b="0">
                          <a:solidFill>
                            <a:srgbClr val="DCE9E9"/>
                          </a:solidFill>
                          <a:latin typeface="Calibri"/>
                        </a:rPr>
                        <a:t>OpenPose pose video +</a:t>
                      </a:r>
                    </a:p>
                    <a:p>
                      <a:pPr algn="l"/>
                      <a:r>
                        <a:rPr sz="950" b="0">
                          <a:solidFill>
                            <a:srgbClr val="DCE9E9"/>
                          </a:solidFill>
                          <a:latin typeface="Calibri"/>
                        </a:rPr>
                        <a:t>frozen MobileNetV2 + BiLSTM</a:t>
                      </a:r>
                    </a:p>
                  </a:txBody>
                  <a:tcPr marL="45720" marR="45720" marT="30000" marB="30000" anchor="ctr">
                    <a:solidFill>
                      <a:srgbClr val="0F2529"/>
                    </a:solidFill>
                  </a:tcPr>
                </a:tc>
                <a:tc>
                  <a:txBody>
                    <a:bodyPr/>
                    <a:lstStyle/>
                    <a:p>
                      <a:pPr algn="l"/>
                      <a:r>
                        <a:rPr sz="1000" b="0">
                          <a:solidFill>
                            <a:srgbClr val="DCE9E9"/>
                          </a:solidFill>
                          <a:latin typeface="Calibri"/>
                        </a:rPr>
                        <a:t>85.6% (263 classes)</a:t>
                      </a:r>
                    </a:p>
                    <a:p>
                      <a:pPr algn="l"/>
                      <a:r>
                        <a:rPr sz="950" b="0">
                          <a:solidFill>
                            <a:srgbClr val="DCE9E9"/>
                          </a:solidFill>
                          <a:latin typeface="Calibri"/>
                        </a:rPr>
                        <a:t>94.5% (INCLUDE-50)</a:t>
                      </a:r>
                    </a:p>
                  </a:txBody>
                  <a:tcPr marL="45720" marR="45720" marT="30000" marB="30000" anchor="ctr">
                    <a:solidFill>
                      <a:srgbClr val="0F2529"/>
                    </a:solidFill>
                  </a:tcPr>
                </a:tc>
                <a:tc>
                  <a:txBody>
                    <a:bodyPr/>
                    <a:lstStyle/>
                    <a:p>
                      <a:pPr algn="l"/>
                      <a:r>
                        <a:rPr sz="1000" b="0">
                          <a:solidFill>
                            <a:srgbClr val="DCE9E9"/>
                          </a:solidFill>
                          <a:latin typeface="Calibri"/>
                        </a:rPr>
                        <a:t>Face keypoints discarded; only the decoder is trained; random stratified 20% test split</a:t>
                      </a:r>
                    </a:p>
                  </a:txBody>
                  <a:tcPr marL="45720" marR="45720" marT="30000" marB="30000" anchor="ctr">
                    <a:solidFill>
                      <a:srgbClr val="0F2529"/>
                    </a:solidFill>
                  </a:tcPr>
                </a:tc>
                <a:tc>
                  <a:txBody>
                    <a:bodyPr/>
                    <a:lstStyle/>
                    <a:p>
                      <a:pPr algn="l"/>
                      <a:r>
                        <a:rPr sz="1000" b="0">
                          <a:solidFill>
                            <a:srgbClr val="DCE9E9"/>
                          </a:solidFill>
                          <a:latin typeface="Calibri"/>
                        </a:rPr>
                        <a:t>INCLUDE</a:t>
                      </a:r>
                    </a:p>
                    <a:p>
                      <a:pPr algn="l"/>
                      <a:r>
                        <a:rPr sz="950" b="0">
                          <a:solidFill>
                            <a:srgbClr val="DCE9E9"/>
                          </a:solidFill>
                          <a:latin typeface="Calibri"/>
                        </a:rPr>
                        <a:t>zenodo.org/record/4010759</a:t>
                      </a:r>
                    </a:p>
                  </a:txBody>
                  <a:tcPr marL="45720" marR="45720" marT="30000" marB="30000" anchor="ctr">
                    <a:solidFill>
                      <a:srgbClr val="0F2529"/>
                    </a:solidFill>
                  </a:tcPr>
                </a:tc>
                <a:extLst>
                  <a:ext uri="{0D108BD9-81ED-4DB2-BD59-A6C34878D82A}">
                    <a16:rowId xmlns:a16="http://schemas.microsoft.com/office/drawing/2014/main" val="10005"/>
                  </a:ext>
                </a:extLst>
              </a:tr>
            </a:tbl>
          </a:graphicData>
        </a:graphic>
      </p:graphicFrame>
      <p:pic>
        <p:nvPicPr>
          <p:cNvPr id="42" name="Picture 41"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04 · RESEARCH GAP</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05386B"/>
                </a:solidFill>
                <a:latin typeface="Cambria" pitchFamily="34" charset="0"/>
                <a:ea typeface="Cambria" pitchFamily="34" charset="-122"/>
                <a:cs typeface="Cambria" pitchFamily="34" charset="-120"/>
              </a:rPr>
              <a:t>What existing systems still miss</a:t>
            </a:r>
            <a:endParaRPr lang="en-US" sz="3200" dirty="0"/>
          </a:p>
        </p:txBody>
      </p:sp>
      <p:sp>
        <p:nvSpPr>
          <p:cNvPr id="4" name="Shape 2"/>
          <p:cNvSpPr/>
          <p:nvPr/>
        </p:nvSpPr>
        <p:spPr>
          <a:xfrm>
            <a:off x="548640" y="1600200"/>
            <a:ext cx="11064240" cy="841248"/>
          </a:xfrm>
          <a:prstGeom prst="roundRect">
            <a:avLst>
              <a:gd name="adj" fmla="val 8696"/>
            </a:avLst>
          </a:prstGeom>
          <a:solidFill>
            <a:srgbClr val="F4FAF9"/>
          </a:solidFill>
          <a:ln/>
        </p:spPr>
        <p:txBody>
          <a:bodyPr/>
          <a:p/>
        </p:txBody>
      </p:sp>
      <p:sp>
        <p:nvSpPr>
          <p:cNvPr id="5" name="Shape 3"/>
          <p:cNvSpPr/>
          <p:nvPr/>
        </p:nvSpPr>
        <p:spPr>
          <a:xfrm>
            <a:off x="731520" y="1764792"/>
            <a:ext cx="502920" cy="502920"/>
          </a:xfrm>
          <a:prstGeom prst="roundRect">
            <a:avLst>
              <a:gd name="adj" fmla="val 50909"/>
            </a:avLst>
          </a:prstGeom>
          <a:solidFill>
            <a:srgbClr val="02C39A"/>
          </a:solidFill>
          <a:ln/>
        </p:spPr>
        <p:txBody>
          <a:bodyPr/>
          <a:p/>
        </p:txBody>
      </p:sp>
      <p:sp>
        <p:nvSpPr>
          <p:cNvPr id="6" name="Text 4"/>
          <p:cNvSpPr/>
          <p:nvPr/>
        </p:nvSpPr>
        <p:spPr>
          <a:xfrm>
            <a:off x="731520" y="1764792"/>
            <a:ext cx="502920" cy="502920"/>
          </a:xfrm>
          <a:prstGeom prst="rect">
            <a:avLst/>
          </a:prstGeom>
          <a:noFill/>
          <a:ln/>
        </p:spPr>
        <p:txBody>
          <a:bodyPr wrap="square" rtlCol="0" anchor="ctr"/>
          <a:lstStyle/>
          <a:p>
            <a:pPr marL="0" indent="0" algn="ctr">
              <a:buNone/>
            </a:pPr>
            <a:r>
              <a:rPr lang="en-US" sz="1500" b="1" dirty="0">
                <a:solidFill>
                  <a:srgbClr val="0B2027"/>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417320" y="1673352"/>
            <a:ext cx="3017520" cy="694944"/>
          </a:xfrm>
          <a:prstGeom prst="rect">
            <a:avLst/>
          </a:prstGeom>
          <a:noFill/>
          <a:ln/>
        </p:spPr>
        <p:txBody>
          <a:bodyPr wrap="square" rtlCol="0" anchor="ctr"/>
          <a:lstStyle/>
          <a:p>
            <a:pPr marL="0" indent="0">
              <a:buNone/>
            </a:pPr>
            <a:r>
              <a:rPr lang="en-US" sz="1350" b="1" dirty="0">
                <a:solidFill>
                  <a:srgbClr val="05386B"/>
                </a:solidFill>
                <a:latin typeface="Cambria" pitchFamily="34" charset="0"/>
                <a:ea typeface="Cambria" pitchFamily="34" charset="-122"/>
                <a:cs typeface="Cambria" pitchFamily="34" charset="-120"/>
              </a:rPr>
              <a:t>Limited vocabularies</a:t>
            </a:r>
            <a:endParaRPr lang="en-US" sz="1350" dirty="0"/>
          </a:p>
        </p:txBody>
      </p:sp>
      <p:sp>
        <p:nvSpPr>
          <p:cNvPr id="8" name="Text 6"/>
          <p:cNvSpPr/>
          <p:nvPr/>
        </p:nvSpPr>
        <p:spPr>
          <a:xfrm>
            <a:off x="4526280" y="1673352"/>
            <a:ext cx="6903720" cy="694944"/>
          </a:xfrm>
          <a:prstGeom prst="rect">
            <a:avLst/>
          </a:prstGeom>
          <a:noFill/>
          <a:ln/>
        </p:spPr>
        <p:txBody>
          <a:bodyPr wrap="square" rtlCol="0" anchor="ctr"/>
          <a:lstStyle/>
          <a:p>
            <a:pPr marL="0" indent="0">
              <a:lnSpc>
                <a:spcPct val="115000"/>
              </a:lnSpc>
              <a:buNone/>
            </a:pPr>
            <a:r>
              <a:rPr lang="en-US" sz="1200" dirty="0">
                <a:solidFill>
                  <a:srgbClr val="4A5A5D"/>
                </a:solidFill>
                <a:latin typeface="Calibri" pitchFamily="34" charset="0"/>
                <a:ea typeface="Calibri" pitchFamily="34" charset="-122"/>
                <a:cs typeface="Calibri" pitchFamily="34" charset="-120"/>
              </a:rPr>
              <a:t>Many systems are evaluated on small vocabularies or subsets; we evaluate all 262 INCLUDE classes. Continuous recognition is outside our current scope.</a:t>
            </a:r>
            <a:endParaRPr lang="en-US" sz="1200" dirty="0"/>
          </a:p>
        </p:txBody>
      </p:sp>
      <p:sp>
        <p:nvSpPr>
          <p:cNvPr id="9" name="Shape 7"/>
          <p:cNvSpPr/>
          <p:nvPr/>
        </p:nvSpPr>
        <p:spPr>
          <a:xfrm>
            <a:off x="548640" y="2532888"/>
            <a:ext cx="11064240" cy="841248"/>
          </a:xfrm>
          <a:prstGeom prst="roundRect">
            <a:avLst>
              <a:gd name="adj" fmla="val 8696"/>
            </a:avLst>
          </a:prstGeom>
          <a:solidFill>
            <a:srgbClr val="FFFFFF"/>
          </a:solidFill>
          <a:ln/>
        </p:spPr>
        <p:txBody>
          <a:bodyPr/>
          <a:p/>
        </p:txBody>
      </p:sp>
      <p:sp>
        <p:nvSpPr>
          <p:cNvPr id="10" name="Shape 8"/>
          <p:cNvSpPr/>
          <p:nvPr/>
        </p:nvSpPr>
        <p:spPr>
          <a:xfrm>
            <a:off x="731520" y="2697480"/>
            <a:ext cx="502920" cy="502920"/>
          </a:xfrm>
          <a:prstGeom prst="roundRect">
            <a:avLst>
              <a:gd name="adj" fmla="val 50909"/>
            </a:avLst>
          </a:prstGeom>
          <a:solidFill>
            <a:srgbClr val="02C39A"/>
          </a:solidFill>
          <a:ln/>
        </p:spPr>
        <p:txBody>
          <a:bodyPr/>
          <a:p/>
        </p:txBody>
      </p:sp>
      <p:sp>
        <p:nvSpPr>
          <p:cNvPr id="11" name="Text 9"/>
          <p:cNvSpPr/>
          <p:nvPr/>
        </p:nvSpPr>
        <p:spPr>
          <a:xfrm>
            <a:off x="731520" y="2697480"/>
            <a:ext cx="502920" cy="502920"/>
          </a:xfrm>
          <a:prstGeom prst="rect">
            <a:avLst/>
          </a:prstGeom>
          <a:noFill/>
          <a:ln/>
        </p:spPr>
        <p:txBody>
          <a:bodyPr wrap="square" rtlCol="0" anchor="ctr"/>
          <a:lstStyle/>
          <a:p>
            <a:pPr marL="0" indent="0" algn="ctr">
              <a:buNone/>
            </a:pPr>
            <a:r>
              <a:rPr lang="en-US" sz="1500" b="1" dirty="0">
                <a:solidFill>
                  <a:srgbClr val="0B2027"/>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417320" y="2606040"/>
            <a:ext cx="3017520" cy="694944"/>
          </a:xfrm>
          <a:prstGeom prst="rect">
            <a:avLst/>
          </a:prstGeom>
          <a:noFill/>
          <a:ln/>
        </p:spPr>
        <p:txBody>
          <a:bodyPr wrap="square" rtlCol="0" anchor="ctr"/>
          <a:lstStyle/>
          <a:p>
            <a:pPr marL="0" indent="0">
              <a:buNone/>
            </a:pPr>
            <a:r>
              <a:rPr lang="en-US" sz="1350" b="1" dirty="0">
                <a:solidFill>
                  <a:srgbClr val="05386B"/>
                </a:solidFill>
                <a:latin typeface="Cambria" pitchFamily="34" charset="0"/>
                <a:ea typeface="Cambria" pitchFamily="34" charset="-122"/>
                <a:cs typeface="Cambria" pitchFamily="34" charset="-120"/>
              </a:rPr>
              <a:t>Signer and recording variation</a:t>
            </a:r>
            <a:endParaRPr lang="en-US" sz="1350" dirty="0"/>
          </a:p>
        </p:txBody>
      </p:sp>
      <p:sp>
        <p:nvSpPr>
          <p:cNvPr id="13" name="Text 11"/>
          <p:cNvSpPr/>
          <p:nvPr/>
        </p:nvSpPr>
        <p:spPr>
          <a:xfrm>
            <a:off x="4526280" y="2606040"/>
            <a:ext cx="6903720" cy="694944"/>
          </a:xfrm>
          <a:prstGeom prst="rect">
            <a:avLst/>
          </a:prstGeom>
          <a:noFill/>
          <a:ln/>
        </p:spPr>
        <p:txBody>
          <a:bodyPr wrap="square" rtlCol="0" anchor="ctr"/>
          <a:lstStyle/>
          <a:p>
            <a:pPr marL="0" indent="0">
              <a:lnSpc>
                <a:spcPct val="115000"/>
              </a:lnSpc>
              <a:buNone/>
            </a:pPr>
            <a:r>
              <a:rPr lang="en-US" sz="1200" dirty="0">
                <a:solidFill>
                  <a:srgbClr val="4A5A5D"/>
                </a:solidFill>
                <a:latin typeface="Calibri" pitchFamily="34" charset="0"/>
                <a:ea typeface="Calibri" pitchFamily="34" charset="-122"/>
                <a:cs typeface="Calibri" pitchFamily="34" charset="-120"/>
              </a:rPr>
              <a:t>Recognition performance can be affected by signer variation, lighting, clothing and background conditions.</a:t>
            </a:r>
            <a:endParaRPr lang="en-US" sz="1200" dirty="0"/>
          </a:p>
        </p:txBody>
      </p:sp>
      <p:sp>
        <p:nvSpPr>
          <p:cNvPr id="14" name="Shape 12"/>
          <p:cNvSpPr/>
          <p:nvPr/>
        </p:nvSpPr>
        <p:spPr>
          <a:xfrm>
            <a:off x="548640" y="3465576"/>
            <a:ext cx="11064240" cy="841248"/>
          </a:xfrm>
          <a:prstGeom prst="roundRect">
            <a:avLst>
              <a:gd name="adj" fmla="val 8696"/>
            </a:avLst>
          </a:prstGeom>
          <a:solidFill>
            <a:srgbClr val="F4FAF9"/>
          </a:solidFill>
          <a:ln/>
        </p:spPr>
        <p:txBody>
          <a:bodyPr/>
          <a:p/>
        </p:txBody>
      </p:sp>
      <p:sp>
        <p:nvSpPr>
          <p:cNvPr id="15" name="Shape 13"/>
          <p:cNvSpPr/>
          <p:nvPr/>
        </p:nvSpPr>
        <p:spPr>
          <a:xfrm>
            <a:off x="731520" y="3630168"/>
            <a:ext cx="502920" cy="502920"/>
          </a:xfrm>
          <a:prstGeom prst="roundRect">
            <a:avLst>
              <a:gd name="adj" fmla="val 50909"/>
            </a:avLst>
          </a:prstGeom>
          <a:solidFill>
            <a:srgbClr val="02C39A"/>
          </a:solidFill>
          <a:ln/>
        </p:spPr>
        <p:txBody>
          <a:bodyPr/>
          <a:p/>
        </p:txBody>
      </p:sp>
      <p:sp>
        <p:nvSpPr>
          <p:cNvPr id="16" name="Text 14"/>
          <p:cNvSpPr/>
          <p:nvPr/>
        </p:nvSpPr>
        <p:spPr>
          <a:xfrm>
            <a:off x="731520" y="3630168"/>
            <a:ext cx="502920" cy="502920"/>
          </a:xfrm>
          <a:prstGeom prst="rect">
            <a:avLst/>
          </a:prstGeom>
          <a:noFill/>
          <a:ln/>
        </p:spPr>
        <p:txBody>
          <a:bodyPr wrap="square" rtlCol="0" anchor="ctr"/>
          <a:lstStyle/>
          <a:p>
            <a:pPr marL="0" indent="0" algn="ctr">
              <a:buNone/>
            </a:pPr>
            <a:r>
              <a:rPr lang="en-US" sz="1500" b="1" dirty="0">
                <a:solidFill>
                  <a:srgbClr val="0B2027"/>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417320" y="3538728"/>
            <a:ext cx="3017520" cy="694944"/>
          </a:xfrm>
          <a:prstGeom prst="rect">
            <a:avLst/>
          </a:prstGeom>
          <a:noFill/>
          <a:ln/>
        </p:spPr>
        <p:txBody>
          <a:bodyPr wrap="square" rtlCol="0" anchor="ctr"/>
          <a:lstStyle/>
          <a:p>
            <a:pPr marL="0" indent="0">
              <a:buNone/>
            </a:pPr>
            <a:r>
              <a:rPr lang="en-US" sz="1350" b="1" dirty="0">
                <a:solidFill>
                  <a:srgbClr val="05386B"/>
                </a:solidFill>
                <a:latin typeface="Cambria" pitchFamily="34" charset="0"/>
                <a:ea typeface="Cambria" pitchFamily="34" charset="-122"/>
                <a:cs typeface="Cambria" pitchFamily="34" charset="-120"/>
              </a:rPr>
              <a:t>Generic keypoint sequences</a:t>
            </a:r>
            <a:endParaRPr lang="en-US" sz="1350" dirty="0"/>
          </a:p>
        </p:txBody>
      </p:sp>
      <p:sp>
        <p:nvSpPr>
          <p:cNvPr id="18" name="Text 16"/>
          <p:cNvSpPr/>
          <p:nvPr/>
        </p:nvSpPr>
        <p:spPr>
          <a:xfrm>
            <a:off x="4526280" y="3538728"/>
            <a:ext cx="6903720" cy="694944"/>
          </a:xfrm>
          <a:prstGeom prst="rect">
            <a:avLst/>
          </a:prstGeom>
          <a:noFill/>
          <a:ln/>
        </p:spPr>
        <p:txBody>
          <a:bodyPr wrap="square" rtlCol="0" anchor="ctr"/>
          <a:lstStyle/>
          <a:p>
            <a:pPr marL="0" indent="0">
              <a:lnSpc>
                <a:spcPct val="115000"/>
              </a:lnSpc>
              <a:buNone/>
            </a:pPr>
            <a:r>
              <a:rPr lang="en-US" sz="1200" dirty="0">
                <a:solidFill>
                  <a:srgbClr val="4A5A5D"/>
                </a:solidFill>
                <a:latin typeface="Calibri" pitchFamily="34" charset="0"/>
                <a:ea typeface="Calibri" pitchFamily="34" charset="-122"/>
                <a:cs typeface="Calibri" pitchFamily="34" charset="-120"/>
              </a:rPr>
              <a:t>Many pose systems flatten all keypoints into one vector; body parts, geometry and missing detections are rarely modelled explicitly.</a:t>
            </a:r>
            <a:endParaRPr lang="en-US" sz="1200" dirty="0"/>
          </a:p>
        </p:txBody>
      </p:sp>
      <p:sp>
        <p:nvSpPr>
          <p:cNvPr id="19" name="Shape 17"/>
          <p:cNvSpPr/>
          <p:nvPr/>
        </p:nvSpPr>
        <p:spPr>
          <a:xfrm>
            <a:off x="548640" y="4398264"/>
            <a:ext cx="11064240" cy="841248"/>
          </a:xfrm>
          <a:prstGeom prst="roundRect">
            <a:avLst>
              <a:gd name="adj" fmla="val 8696"/>
            </a:avLst>
          </a:prstGeom>
          <a:solidFill>
            <a:srgbClr val="FFFFFF"/>
          </a:solidFill>
          <a:ln/>
        </p:spPr>
        <p:txBody>
          <a:bodyPr/>
          <a:p/>
        </p:txBody>
      </p:sp>
      <p:sp>
        <p:nvSpPr>
          <p:cNvPr id="20" name="Shape 18"/>
          <p:cNvSpPr/>
          <p:nvPr/>
        </p:nvSpPr>
        <p:spPr>
          <a:xfrm>
            <a:off x="731520" y="4562856"/>
            <a:ext cx="502920" cy="502920"/>
          </a:xfrm>
          <a:prstGeom prst="roundRect">
            <a:avLst>
              <a:gd name="adj" fmla="val 50909"/>
            </a:avLst>
          </a:prstGeom>
          <a:solidFill>
            <a:srgbClr val="02C39A"/>
          </a:solidFill>
          <a:ln/>
        </p:spPr>
        <p:txBody>
          <a:bodyPr/>
          <a:p/>
        </p:txBody>
      </p:sp>
      <p:sp>
        <p:nvSpPr>
          <p:cNvPr id="21" name="Text 19"/>
          <p:cNvSpPr/>
          <p:nvPr/>
        </p:nvSpPr>
        <p:spPr>
          <a:xfrm>
            <a:off x="731520" y="4562856"/>
            <a:ext cx="502920" cy="502920"/>
          </a:xfrm>
          <a:prstGeom prst="rect">
            <a:avLst/>
          </a:prstGeom>
          <a:noFill/>
          <a:ln/>
        </p:spPr>
        <p:txBody>
          <a:bodyPr wrap="square" rtlCol="0" anchor="ctr"/>
          <a:lstStyle/>
          <a:p>
            <a:pPr marL="0" indent="0" algn="ctr">
              <a:buNone/>
            </a:pPr>
            <a:r>
              <a:rPr lang="en-US" sz="1500" b="1" dirty="0">
                <a:solidFill>
                  <a:srgbClr val="0B2027"/>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417320" y="4471416"/>
            <a:ext cx="3017520" cy="694944"/>
          </a:xfrm>
          <a:prstGeom prst="rect">
            <a:avLst/>
          </a:prstGeom>
          <a:noFill/>
          <a:ln/>
        </p:spPr>
        <p:txBody>
          <a:bodyPr wrap="square" rtlCol="0" anchor="ctr"/>
          <a:lstStyle/>
          <a:p>
            <a:pPr marL="0" indent="0">
              <a:buNone/>
            </a:pPr>
            <a:r>
              <a:rPr lang="en-US" sz="1350" b="1" dirty="0">
                <a:solidFill>
                  <a:srgbClr val="05386B"/>
                </a:solidFill>
                <a:latin typeface="Cambria" pitchFamily="34" charset="0"/>
                <a:ea typeface="Cambria" pitchFamily="34" charset="-122"/>
                <a:cs typeface="Cambria" pitchFamily="34" charset="-120"/>
              </a:rPr>
              <a:t>Practical deployment</a:t>
            </a:r>
            <a:endParaRPr lang="en-US" sz="1350" dirty="0"/>
          </a:p>
        </p:txBody>
      </p:sp>
      <p:sp>
        <p:nvSpPr>
          <p:cNvPr id="23" name="Text 21"/>
          <p:cNvSpPr/>
          <p:nvPr/>
        </p:nvSpPr>
        <p:spPr>
          <a:xfrm>
            <a:off x="4526280" y="4471416"/>
            <a:ext cx="6903720" cy="694944"/>
          </a:xfrm>
          <a:prstGeom prst="rect">
            <a:avLst/>
          </a:prstGeom>
          <a:noFill/>
          <a:ln/>
        </p:spPr>
        <p:txBody>
          <a:bodyPr wrap="square" rtlCol="0" anchor="ctr"/>
          <a:lstStyle/>
          <a:p>
            <a:pPr marL="0" indent="0">
              <a:lnSpc>
                <a:spcPct val="115000"/>
              </a:lnSpc>
              <a:buNone/>
            </a:pPr>
            <a:r>
              <a:rPr lang="en-US" sz="1200" dirty="0">
                <a:solidFill>
                  <a:srgbClr val="4A5A5D"/>
                </a:solidFill>
                <a:latin typeface="Calibri" pitchFamily="34" charset="0"/>
                <a:ea typeface="Calibri" pitchFamily="34" charset="-122"/>
                <a:cs typeface="Calibri" pitchFamily="34" charset="-120"/>
              </a:rPr>
              <a:t>Practical deployment requires efficient inference and robust handling of real-world video conditions.</a:t>
            </a:r>
            <a:endParaRPr lang="en-US" sz="1200" dirty="0"/>
          </a:p>
        </p:txBody>
      </p:sp>
      <p:sp>
        <p:nvSpPr>
          <p:cNvPr id="24" name="Shape 22"/>
          <p:cNvSpPr/>
          <p:nvPr/>
        </p:nvSpPr>
        <p:spPr>
          <a:xfrm>
            <a:off x="548640" y="5330952"/>
            <a:ext cx="11064240" cy="841248"/>
          </a:xfrm>
          <a:prstGeom prst="roundRect">
            <a:avLst>
              <a:gd name="adj" fmla="val 8696"/>
            </a:avLst>
          </a:prstGeom>
          <a:solidFill>
            <a:srgbClr val="F4FAF9"/>
          </a:solidFill>
          <a:ln/>
        </p:spPr>
        <p:txBody>
          <a:bodyPr/>
          <a:p/>
        </p:txBody>
      </p:sp>
      <p:sp>
        <p:nvSpPr>
          <p:cNvPr id="25" name="Shape 23"/>
          <p:cNvSpPr/>
          <p:nvPr/>
        </p:nvSpPr>
        <p:spPr>
          <a:xfrm>
            <a:off x="731520" y="5495544"/>
            <a:ext cx="502920" cy="502920"/>
          </a:xfrm>
          <a:prstGeom prst="roundRect">
            <a:avLst>
              <a:gd name="adj" fmla="val 50909"/>
            </a:avLst>
          </a:prstGeom>
          <a:solidFill>
            <a:srgbClr val="02C39A"/>
          </a:solidFill>
          <a:ln/>
        </p:spPr>
        <p:txBody>
          <a:bodyPr/>
          <a:p/>
        </p:txBody>
      </p:sp>
      <p:sp>
        <p:nvSpPr>
          <p:cNvPr id="26" name="Text 24"/>
          <p:cNvSpPr/>
          <p:nvPr/>
        </p:nvSpPr>
        <p:spPr>
          <a:xfrm>
            <a:off x="731520" y="5495544"/>
            <a:ext cx="502920" cy="502920"/>
          </a:xfrm>
          <a:prstGeom prst="rect">
            <a:avLst/>
          </a:prstGeom>
          <a:noFill/>
          <a:ln/>
        </p:spPr>
        <p:txBody>
          <a:bodyPr wrap="square" rtlCol="0" anchor="ctr"/>
          <a:lstStyle/>
          <a:p>
            <a:pPr marL="0" indent="0" algn="ctr">
              <a:buNone/>
            </a:pPr>
            <a:r>
              <a:rPr lang="en-US" sz="1500" b="1" dirty="0">
                <a:solidFill>
                  <a:srgbClr val="0B2027"/>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1417320" y="5404104"/>
            <a:ext cx="3017520" cy="694944"/>
          </a:xfrm>
          <a:prstGeom prst="rect">
            <a:avLst/>
          </a:prstGeom>
          <a:noFill/>
          <a:ln/>
        </p:spPr>
        <p:txBody>
          <a:bodyPr wrap="square" rtlCol="0" anchor="ctr"/>
          <a:lstStyle/>
          <a:p>
            <a:pPr marL="0" indent="0">
              <a:buNone/>
            </a:pPr>
            <a:r>
              <a:rPr lang="en-US" sz="1350" b="1" dirty="0">
                <a:solidFill>
                  <a:srgbClr val="05386B"/>
                </a:solidFill>
                <a:latin typeface="Cambria" pitchFamily="34" charset="0"/>
                <a:ea typeface="Cambria" pitchFamily="34" charset="-122"/>
                <a:cs typeface="Cambria" pitchFamily="34" charset="-120"/>
              </a:rPr>
              <a:t>Regional sign languages underrepresented</a:t>
            </a:r>
            <a:endParaRPr lang="en-US" sz="1350" dirty="0"/>
          </a:p>
        </p:txBody>
      </p:sp>
      <p:sp>
        <p:nvSpPr>
          <p:cNvPr id="28" name="Text 26"/>
          <p:cNvSpPr/>
          <p:nvPr/>
        </p:nvSpPr>
        <p:spPr>
          <a:xfrm>
            <a:off x="4526280" y="5404104"/>
            <a:ext cx="6903720" cy="694944"/>
          </a:xfrm>
          <a:prstGeom prst="rect">
            <a:avLst/>
          </a:prstGeom>
          <a:noFill/>
          <a:ln/>
        </p:spPr>
        <p:txBody>
          <a:bodyPr wrap="square" rtlCol="0" anchor="ctr"/>
          <a:lstStyle/>
          <a:p>
            <a:pPr marL="0" indent="0">
              <a:lnSpc>
                <a:spcPct val="115000"/>
              </a:lnSpc>
              <a:buNone/>
            </a:pPr>
            <a:r>
              <a:rPr lang="en-US" sz="1200" dirty="0">
                <a:solidFill>
                  <a:srgbClr val="4A5A5D"/>
                </a:solidFill>
                <a:latin typeface="Calibri" pitchFamily="34" charset="0"/>
                <a:ea typeface="Calibri" pitchFamily="34" charset="-122"/>
                <a:cs typeface="Calibri" pitchFamily="34" charset="-120"/>
              </a:rPr>
              <a:t>Research concentrates on ASL/German Sign Language; languages like Indian Sign Language (ISL) have far fewer benchmarked systems.</a:t>
            </a:r>
            <a:endParaRPr lang="en-US" sz="1200" dirty="0"/>
          </a:p>
        </p:txBody>
      </p:sp>
      <p:sp>
        <p:nvSpPr>
          <p:cNvPr id="29" name="Text 27"/>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A9B4B6"/>
                </a:solidFill>
                <a:latin typeface="Calibri" pitchFamily="34" charset="0"/>
                <a:ea typeface="Calibri" pitchFamily="34" charset="-122"/>
                <a:cs typeface="Calibri" pitchFamily="34" charset="-120"/>
              </a:rPr>
              <a:t>05</a:t>
            </a:r>
            <a:endParaRPr lang="en-US" sz="1100" dirty="0"/>
          </a:p>
        </p:txBody>
      </p:sp>
      <p:pic>
        <p:nvPicPr>
          <p:cNvPr id="30" name="Picture 29"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05 · INNOVATION, CREATIVITY &amp; NOVELTY</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What makes this approach different</a:t>
            </a:r>
            <a:endParaRPr lang="en-US" sz="3200" dirty="0"/>
          </a:p>
        </p:txBody>
      </p:sp>
      <p:sp>
        <p:nvSpPr>
          <p:cNvPr id="4" name="Shape 2"/>
          <p:cNvSpPr/>
          <p:nvPr/>
        </p:nvSpPr>
        <p:spPr>
          <a:xfrm>
            <a:off x="548640" y="1600200"/>
            <a:ext cx="3520440" cy="2331720"/>
          </a:xfrm>
          <a:prstGeom prst="roundRect">
            <a:avLst>
              <a:gd name="adj" fmla="val 3922"/>
            </a:avLst>
          </a:prstGeom>
          <a:solidFill>
            <a:srgbClr val="0F2E33"/>
          </a:solidFill>
          <a:ln w="12700">
            <a:solidFill>
              <a:srgbClr val="1C4A52"/>
            </a:solidFill>
            <a:prstDash val="solid"/>
          </a:ln>
        </p:spPr>
        <p:txBody>
          <a:bodyPr/>
          <a:p/>
        </p:txBody>
      </p:sp>
      <p:sp>
        <p:nvSpPr>
          <p:cNvPr id="5" name="Text 3"/>
          <p:cNvSpPr/>
          <p:nvPr/>
        </p:nvSpPr>
        <p:spPr>
          <a:xfrm>
            <a:off x="749808" y="1783080"/>
            <a:ext cx="3118104" cy="502920"/>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Part-aware encoding</a:t>
            </a:r>
            <a:endParaRPr lang="en-US" sz="1500" dirty="0"/>
          </a:p>
        </p:txBody>
      </p:sp>
      <p:sp>
        <p:nvSpPr>
          <p:cNvPr id="6" name="Text 4"/>
          <p:cNvSpPr/>
          <p:nvPr/>
        </p:nvSpPr>
        <p:spPr>
          <a:xfrm>
            <a:off x="749808" y="2286000"/>
            <a:ext cx="3118104" cy="1508760"/>
          </a:xfrm>
          <a:prstGeom prst="rect">
            <a:avLst/>
          </a:prstGeom>
          <a:noFill/>
          <a:ln/>
        </p:spPr>
        <p:txBody>
          <a:bodyPr wrap="square" rtlCol="0" anchor="ctr"/>
          <a:lstStyle/>
          <a:p>
            <a:pPr marL="0" indent="0">
              <a:lnSpc>
                <a:spcPct val="120000"/>
              </a:lnSpc>
              <a:buNone/>
            </a:pPr>
            <a:r>
              <a:rPr lang="en-US" sz="1200" dirty="0">
                <a:solidFill>
                  <a:srgbClr val="D7E4E4"/>
                </a:solidFill>
                <a:latin typeface="Calibri" pitchFamily="34" charset="0"/>
                <a:ea typeface="Calibri" pitchFamily="34" charset="-122"/>
                <a:cs typeface="Calibri" pitchFamily="34" charset="-120"/>
              </a:rPr>
              <a:t>Separate temporal Conv1D encoders for the left hand, right hand, pose, face and geometry, instead of one generic keypoint vector.</a:t>
            </a:r>
            <a:endParaRPr lang="en-US" sz="1200" dirty="0"/>
          </a:p>
        </p:txBody>
      </p:sp>
      <p:sp>
        <p:nvSpPr>
          <p:cNvPr id="7" name="Shape 5"/>
          <p:cNvSpPr/>
          <p:nvPr/>
        </p:nvSpPr>
        <p:spPr>
          <a:xfrm>
            <a:off x="4251960" y="1600200"/>
            <a:ext cx="3520440" cy="2331720"/>
          </a:xfrm>
          <a:prstGeom prst="roundRect">
            <a:avLst>
              <a:gd name="adj" fmla="val 3922"/>
            </a:avLst>
          </a:prstGeom>
          <a:solidFill>
            <a:srgbClr val="0F2E33"/>
          </a:solidFill>
          <a:ln w="12700">
            <a:solidFill>
              <a:srgbClr val="1C4A52"/>
            </a:solidFill>
            <a:prstDash val="solid"/>
          </a:ln>
        </p:spPr>
        <p:txBody>
          <a:bodyPr/>
          <a:p/>
        </p:txBody>
      </p:sp>
      <p:sp>
        <p:nvSpPr>
          <p:cNvPr id="8" name="Text 6"/>
          <p:cNvSpPr/>
          <p:nvPr/>
        </p:nvSpPr>
        <p:spPr>
          <a:xfrm>
            <a:off x="4453128" y="1783080"/>
            <a:ext cx="3118104" cy="502920"/>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Attention-based temporal pooling</a:t>
            </a:r>
            <a:endParaRPr lang="en-US" sz="1500" dirty="0"/>
          </a:p>
        </p:txBody>
      </p:sp>
      <p:sp>
        <p:nvSpPr>
          <p:cNvPr id="9" name="Text 7"/>
          <p:cNvSpPr/>
          <p:nvPr/>
        </p:nvSpPr>
        <p:spPr>
          <a:xfrm>
            <a:off x="4453128" y="2286000"/>
            <a:ext cx="3118104" cy="1508760"/>
          </a:xfrm>
          <a:prstGeom prst="rect">
            <a:avLst/>
          </a:prstGeom>
          <a:noFill/>
          <a:ln/>
        </p:spPr>
        <p:txBody>
          <a:bodyPr wrap="square" rtlCol="0" anchor="ctr"/>
          <a:lstStyle/>
          <a:p>
            <a:pPr marL="0" indent="0">
              <a:lnSpc>
                <a:spcPct val="120000"/>
              </a:lnSpc>
              <a:buNone/>
            </a:pPr>
            <a:r>
              <a:rPr lang="en-US" sz="1200" dirty="0">
                <a:solidFill>
                  <a:srgbClr val="D7E4E4"/>
                </a:solidFill>
                <a:latin typeface="Calibri" pitchFamily="34" charset="0"/>
                <a:ea typeface="Calibri" pitchFamily="34" charset="-122"/>
                <a:cs typeface="Calibri" pitchFamily="34" charset="-120"/>
              </a:rPr>
              <a:t>A CLS token combined with learned attention pooling over all 64 frames summarises the whole sign.</a:t>
            </a:r>
            <a:endParaRPr lang="en-US" sz="1200" dirty="0"/>
          </a:p>
        </p:txBody>
      </p:sp>
      <p:sp>
        <p:nvSpPr>
          <p:cNvPr id="10" name="Shape 8"/>
          <p:cNvSpPr/>
          <p:nvPr/>
        </p:nvSpPr>
        <p:spPr>
          <a:xfrm>
            <a:off x="7955280" y="1600200"/>
            <a:ext cx="3520440" cy="2331720"/>
          </a:xfrm>
          <a:prstGeom prst="roundRect">
            <a:avLst>
              <a:gd name="adj" fmla="val 3922"/>
            </a:avLst>
          </a:prstGeom>
          <a:solidFill>
            <a:srgbClr val="0F2E33"/>
          </a:solidFill>
          <a:ln w="12700">
            <a:solidFill>
              <a:srgbClr val="1C4A52"/>
            </a:solidFill>
            <a:prstDash val="solid"/>
          </a:ln>
        </p:spPr>
        <p:txBody>
          <a:bodyPr/>
          <a:p/>
        </p:txBody>
      </p:sp>
      <p:sp>
        <p:nvSpPr>
          <p:cNvPr id="11" name="Text 9"/>
          <p:cNvSpPr/>
          <p:nvPr/>
        </p:nvSpPr>
        <p:spPr>
          <a:xfrm>
            <a:off x="8156448" y="1783080"/>
            <a:ext cx="3118104" cy="502920"/>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Availability-aware gated fusion</a:t>
            </a:r>
            <a:endParaRPr lang="en-US" sz="1500" dirty="0"/>
          </a:p>
        </p:txBody>
      </p:sp>
      <p:sp>
        <p:nvSpPr>
          <p:cNvPr id="12" name="Text 10"/>
          <p:cNvSpPr/>
          <p:nvPr/>
        </p:nvSpPr>
        <p:spPr>
          <a:xfrm>
            <a:off x="8156448" y="2286000"/>
            <a:ext cx="3118104" cy="1508760"/>
          </a:xfrm>
          <a:prstGeom prst="rect">
            <a:avLst/>
          </a:prstGeom>
          <a:noFill/>
          <a:ln/>
        </p:spPr>
        <p:txBody>
          <a:bodyPr wrap="square" rtlCol="0" anchor="ctr"/>
          <a:lstStyle/>
          <a:p>
            <a:pPr marL="0" indent="0">
              <a:lnSpc>
                <a:spcPct val="120000"/>
              </a:lnSpc>
              <a:buNone/>
            </a:pPr>
            <a:r>
              <a:rPr lang="en-US" sz="1200" dirty="0">
                <a:solidFill>
                  <a:srgbClr val="D7E4E4"/>
                </a:solidFill>
                <a:latin typeface="Calibri" pitchFamily="34" charset="0"/>
                <a:ea typeface="Calibri" pitchFamily="34" charset="-122"/>
                <a:cs typeface="Calibri" pitchFamily="34" charset="-120"/>
              </a:rPr>
              <a:t>Five learned gates weight each stream frame by frame, and a 4-D availability mask marks missing detections.</a:t>
            </a:r>
            <a:endParaRPr lang="en-US" sz="1200" dirty="0"/>
          </a:p>
        </p:txBody>
      </p:sp>
      <p:sp>
        <p:nvSpPr>
          <p:cNvPr id="13" name="Shape 11"/>
          <p:cNvSpPr/>
          <p:nvPr/>
        </p:nvSpPr>
        <p:spPr>
          <a:xfrm>
            <a:off x="3326130" y="4160520"/>
            <a:ext cx="3520440" cy="2331720"/>
          </a:xfrm>
          <a:prstGeom prst="roundRect">
            <a:avLst>
              <a:gd name="adj" fmla="val 3922"/>
            </a:avLst>
          </a:prstGeom>
          <a:solidFill>
            <a:srgbClr val="0F2E33"/>
          </a:solidFill>
          <a:ln w="12700">
            <a:solidFill>
              <a:srgbClr val="1C4A52"/>
            </a:solidFill>
            <a:prstDash val="solid"/>
          </a:ln>
        </p:spPr>
        <p:txBody>
          <a:bodyPr/>
          <a:p/>
        </p:txBody>
      </p:sp>
      <p:sp>
        <p:nvSpPr>
          <p:cNvPr id="14" name="Text 12"/>
          <p:cNvSpPr/>
          <p:nvPr/>
        </p:nvSpPr>
        <p:spPr>
          <a:xfrm>
            <a:off x="3527298" y="4343400"/>
            <a:ext cx="3118104" cy="502920"/>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Head-Token Mixing Attention</a:t>
            </a:r>
            <a:endParaRPr lang="en-US" sz="1500" dirty="0"/>
          </a:p>
        </p:txBody>
      </p:sp>
      <p:sp>
        <p:nvSpPr>
          <p:cNvPr id="15" name="Text 13"/>
          <p:cNvSpPr/>
          <p:nvPr/>
        </p:nvSpPr>
        <p:spPr>
          <a:xfrm>
            <a:off x="3527298" y="4846320"/>
            <a:ext cx="3118104" cy="1508760"/>
          </a:xfrm>
          <a:prstGeom prst="rect">
            <a:avLst/>
          </a:prstGeom>
          <a:noFill/>
          <a:ln/>
        </p:spPr>
        <p:txBody>
          <a:bodyPr wrap="square" rtlCol="0" anchor="ctr"/>
          <a:lstStyle/>
          <a:p>
            <a:pPr marL="0" indent="0">
              <a:lnSpc>
                <a:spcPct val="120000"/>
              </a:lnSpc>
              <a:buNone/>
            </a:pPr>
            <a:r>
              <a:rPr lang="en-US" sz="1200" dirty="0">
                <a:solidFill>
                  <a:srgbClr val="D7E4E4"/>
                </a:solidFill>
                <a:latin typeface="Calibri" pitchFamily="34" charset="0"/>
                <a:ea typeface="Calibri" pitchFamily="34" charset="-122"/>
                <a:cs typeface="Calibri" pitchFamily="34" charset="-120"/>
              </a:rPr>
              <a:t>Four HTMA blocks (8 heads, d = 320) model long-range temporal relationships after local Conv1D encoding.</a:t>
            </a:r>
            <a:endParaRPr lang="en-US" sz="1200" dirty="0"/>
          </a:p>
        </p:txBody>
      </p:sp>
      <p:sp>
        <p:nvSpPr>
          <p:cNvPr id="16" name="Shape 14"/>
          <p:cNvSpPr/>
          <p:nvPr/>
        </p:nvSpPr>
        <p:spPr>
          <a:xfrm>
            <a:off x="7029450" y="4160520"/>
            <a:ext cx="3520440" cy="2331720"/>
          </a:xfrm>
          <a:prstGeom prst="roundRect">
            <a:avLst>
              <a:gd name="adj" fmla="val 3922"/>
            </a:avLst>
          </a:prstGeom>
          <a:solidFill>
            <a:srgbClr val="0F2E33"/>
          </a:solidFill>
          <a:ln w="12700">
            <a:solidFill>
              <a:srgbClr val="1C4A52"/>
            </a:solidFill>
            <a:prstDash val="solid"/>
          </a:ln>
        </p:spPr>
        <p:txBody>
          <a:bodyPr/>
          <a:p/>
        </p:txBody>
      </p:sp>
      <p:sp>
        <p:nvSpPr>
          <p:cNvPr id="17" name="Text 15"/>
          <p:cNvSpPr/>
          <p:nvPr/>
        </p:nvSpPr>
        <p:spPr>
          <a:xfrm>
            <a:off x="7230618" y="4343400"/>
            <a:ext cx="3118104" cy="502920"/>
          </a:xfrm>
          <a:prstGeom prst="rect">
            <a:avLst/>
          </a:prstGeom>
          <a:noFill/>
          <a:ln/>
        </p:spPr>
        <p:txBody>
          <a:bodyPr wrap="square" rtlCol="0" anchor="ctr"/>
          <a:lstStyle/>
          <a:p>
            <a:pPr marL="0" indent="0">
              <a:buNone/>
            </a:pPr>
            <a:r>
              <a:rPr lang="en-US" sz="1500" b="1" dirty="0">
                <a:solidFill>
                  <a:srgbClr val="02C39A"/>
                </a:solidFill>
                <a:latin typeface="Cambria" pitchFamily="34" charset="0"/>
                <a:ea typeface="Cambria" pitchFamily="34" charset="-122"/>
                <a:cs typeface="Cambria" pitchFamily="34" charset="-120"/>
              </a:rPr>
              <a:t>Indian Sign Language focus</a:t>
            </a:r>
            <a:endParaRPr lang="en-US" sz="1500" dirty="0"/>
          </a:p>
        </p:txBody>
      </p:sp>
      <p:sp>
        <p:nvSpPr>
          <p:cNvPr id="18" name="Text 16"/>
          <p:cNvSpPr/>
          <p:nvPr/>
        </p:nvSpPr>
        <p:spPr>
          <a:xfrm>
            <a:off x="7230618" y="4846320"/>
            <a:ext cx="3118104" cy="1508760"/>
          </a:xfrm>
          <a:prstGeom prst="rect">
            <a:avLst/>
          </a:prstGeom>
          <a:noFill/>
          <a:ln/>
        </p:spPr>
        <p:txBody>
          <a:bodyPr wrap="square" rtlCol="0" anchor="ctr"/>
          <a:lstStyle/>
          <a:p>
            <a:pPr marL="0" indent="0">
              <a:lnSpc>
                <a:spcPct val="120000"/>
              </a:lnSpc>
              <a:buNone/>
            </a:pPr>
            <a:r>
              <a:rPr lang="en-US" sz="1200" dirty="0">
                <a:solidFill>
                  <a:srgbClr val="D7E4E4"/>
                </a:solidFill>
                <a:latin typeface="Calibri" pitchFamily="34" charset="0"/>
                <a:ea typeface="Calibri" pitchFamily="34" charset="-122"/>
                <a:cs typeface="Calibri" pitchFamily="34" charset="-120"/>
              </a:rPr>
              <a:t>Evaluated on the 262-class INCLUDE benchmark, an under-served language compared with ASL and German SL.</a:t>
            </a:r>
            <a:endParaRPr lang="en-US" sz="1200" dirty="0"/>
          </a:p>
        </p:txBody>
      </p:sp>
      <p:sp>
        <p:nvSpPr>
          <p:cNvPr id="19" name="Text 17"/>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6B7B7D"/>
                </a:solidFill>
                <a:latin typeface="Calibri" pitchFamily="34" charset="0"/>
                <a:ea typeface="Calibri" pitchFamily="34" charset="-122"/>
                <a:cs typeface="Calibri" pitchFamily="34" charset="-120"/>
              </a:rPr>
              <a:t>06</a:t>
            </a:r>
            <a:endParaRPr lang="en-US" sz="1100" dirty="0"/>
          </a:p>
        </p:txBody>
      </p:sp>
      <p:pic>
        <p:nvPicPr>
          <p:cNvPr id="20" name="Picture 19"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06 · FEASIBILITY</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05386B"/>
                </a:solidFill>
                <a:latin typeface="Cambria" pitchFamily="34" charset="0"/>
                <a:ea typeface="Cambria" pitchFamily="34" charset="-122"/>
                <a:cs typeface="Cambria" pitchFamily="34" charset="-120"/>
              </a:rPr>
              <a:t>Why this project is achievable in an academic timeline</a:t>
            </a:r>
            <a:endParaRPr lang="en-US" sz="3200" dirty="0"/>
          </a:p>
        </p:txBody>
      </p:sp>
      <p:sp>
        <p:nvSpPr>
          <p:cNvPr id="4" name="Shape 2"/>
          <p:cNvSpPr/>
          <p:nvPr/>
        </p:nvSpPr>
        <p:spPr>
          <a:xfrm>
            <a:off x="548640" y="1600200"/>
            <a:ext cx="3611880" cy="4480560"/>
          </a:xfrm>
          <a:prstGeom prst="roundRect">
            <a:avLst>
              <a:gd name="adj" fmla="val 2532"/>
            </a:avLst>
          </a:prstGeom>
          <a:solidFill>
            <a:srgbClr val="F4FAF9"/>
          </a:solidFill>
          <a:ln/>
        </p:spPr>
        <p:txBody>
          <a:bodyPr/>
          <a:p/>
        </p:txBody>
      </p:sp>
      <p:sp>
        <p:nvSpPr>
          <p:cNvPr id="5" name="Shape 3"/>
          <p:cNvSpPr/>
          <p:nvPr/>
        </p:nvSpPr>
        <p:spPr>
          <a:xfrm>
            <a:off x="777240" y="1828800"/>
            <a:ext cx="3154680" cy="502920"/>
          </a:xfrm>
          <a:prstGeom prst="roundRect">
            <a:avLst>
              <a:gd name="adj" fmla="val 14545"/>
            </a:avLst>
          </a:prstGeom>
          <a:solidFill>
            <a:srgbClr val="028090"/>
          </a:solidFill>
          <a:ln/>
        </p:spPr>
        <p:txBody>
          <a:bodyPr/>
          <a:p/>
        </p:txBody>
      </p:sp>
      <p:sp>
        <p:nvSpPr>
          <p:cNvPr id="6" name="Text 4"/>
          <p:cNvSpPr/>
          <p:nvPr/>
        </p:nvSpPr>
        <p:spPr>
          <a:xfrm>
            <a:off x="777240" y="1828800"/>
            <a:ext cx="3154680" cy="50292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Data</a:t>
            </a:r>
            <a:endParaRPr lang="en-US" sz="1500" dirty="0"/>
          </a:p>
        </p:txBody>
      </p:sp>
      <p:sp>
        <p:nvSpPr>
          <p:cNvPr id="7" name="Shape 5"/>
          <p:cNvSpPr/>
          <p:nvPr/>
        </p:nvSpPr>
        <p:spPr>
          <a:xfrm>
            <a:off x="822960" y="2660904"/>
            <a:ext cx="109728" cy="109728"/>
          </a:xfrm>
          <a:prstGeom prst="ellipse">
            <a:avLst/>
          </a:prstGeom>
          <a:solidFill>
            <a:srgbClr val="00A896"/>
          </a:solidFill>
          <a:ln/>
        </p:spPr>
        <p:txBody>
          <a:bodyPr/>
          <a:p/>
        </p:txBody>
      </p:sp>
      <p:sp>
        <p:nvSpPr>
          <p:cNvPr id="8" name="Text 6"/>
          <p:cNvSpPr/>
          <p:nvPr/>
        </p:nvSpPr>
        <p:spPr>
          <a:xfrm>
            <a:off x="1051560" y="2606040"/>
            <a:ext cx="2880360" cy="1188720"/>
          </a:xfrm>
          <a:prstGeom prst="rect">
            <a:avLst/>
          </a:prstGeom>
          <a:noFill/>
          <a:ln/>
        </p:spPr>
        <p:txBody>
          <a:bodyPr wrap="square" rtlCol="0" anchor="t"/>
          <a:lstStyle/>
          <a:p>
            <a:pPr marL="0" indent="0">
              <a:lnSpc>
                <a:spcPct val="120000"/>
              </a:lnSpc>
              <a:buNone/>
            </a:pPr>
            <a:r>
              <a:rPr lang="en-US" sz="1200" dirty="0">
                <a:solidFill>
                  <a:srgbClr val="4A5A5D"/>
                </a:solidFill>
                <a:latin typeface="Calibri" pitchFamily="34" charset="0"/>
                <a:ea typeface="Calibri" pitchFamily="34" charset="-122"/>
                <a:cs typeface="Calibri" pitchFamily="34" charset="-120"/>
              </a:rPr>
              <a:t>INCLUDE is a public Indian Sign Language dataset with an official train / validation / test partition.</a:t>
            </a:r>
            <a:endParaRPr lang="en-US" sz="1200" dirty="0"/>
          </a:p>
        </p:txBody>
      </p:sp>
      <p:sp>
        <p:nvSpPr>
          <p:cNvPr id="9" name="Shape 7"/>
          <p:cNvSpPr/>
          <p:nvPr/>
        </p:nvSpPr>
        <p:spPr>
          <a:xfrm>
            <a:off x="822960" y="4078224"/>
            <a:ext cx="109728" cy="109728"/>
          </a:xfrm>
          <a:prstGeom prst="ellipse">
            <a:avLst/>
          </a:prstGeom>
          <a:solidFill>
            <a:srgbClr val="00A896"/>
          </a:solidFill>
          <a:ln/>
        </p:spPr>
        <p:txBody>
          <a:bodyPr/>
          <a:p/>
        </p:txBody>
      </p:sp>
      <p:sp>
        <p:nvSpPr>
          <p:cNvPr id="10" name="Text 8"/>
          <p:cNvSpPr/>
          <p:nvPr/>
        </p:nvSpPr>
        <p:spPr>
          <a:xfrm>
            <a:off x="1051560" y="4023360"/>
            <a:ext cx="2880360" cy="1188720"/>
          </a:xfrm>
          <a:prstGeom prst="rect">
            <a:avLst/>
          </a:prstGeom>
          <a:noFill/>
          <a:ln/>
        </p:spPr>
        <p:txBody>
          <a:bodyPr wrap="square" rtlCol="0" anchor="t"/>
          <a:lstStyle/>
          <a:p>
            <a:pPr marL="0" indent="0">
              <a:lnSpc>
                <a:spcPct val="120000"/>
              </a:lnSpc>
              <a:buNone/>
            </a:pPr>
            <a:r>
              <a:rPr lang="en-US" sz="1200" dirty="0">
                <a:solidFill>
                  <a:srgbClr val="4A5A5D"/>
                </a:solidFill>
                <a:latin typeface="Calibri" pitchFamily="34" charset="0"/>
                <a:ea typeface="Calibri" pitchFamily="34" charset="-122"/>
                <a:cs typeface="Calibri" pitchFamily="34" charset="-120"/>
              </a:rPr>
              <a:t>Landmark extraction (MediaPipe) removes the need for custom sensor hardware.</a:t>
            </a:r>
            <a:endParaRPr lang="en-US" sz="1200" dirty="0"/>
          </a:p>
        </p:txBody>
      </p:sp>
      <p:sp>
        <p:nvSpPr>
          <p:cNvPr id="11" name="Shape 9"/>
          <p:cNvSpPr/>
          <p:nvPr/>
        </p:nvSpPr>
        <p:spPr>
          <a:xfrm>
            <a:off x="4389120" y="1600200"/>
            <a:ext cx="3611880" cy="4480560"/>
          </a:xfrm>
          <a:prstGeom prst="roundRect">
            <a:avLst>
              <a:gd name="adj" fmla="val 2532"/>
            </a:avLst>
          </a:prstGeom>
          <a:solidFill>
            <a:srgbClr val="F4FAF9"/>
          </a:solidFill>
          <a:ln/>
        </p:spPr>
        <p:txBody>
          <a:bodyPr/>
          <a:p/>
        </p:txBody>
      </p:sp>
      <p:sp>
        <p:nvSpPr>
          <p:cNvPr id="12" name="Shape 10"/>
          <p:cNvSpPr/>
          <p:nvPr/>
        </p:nvSpPr>
        <p:spPr>
          <a:xfrm>
            <a:off x="4617720" y="1828800"/>
            <a:ext cx="3154680" cy="502920"/>
          </a:xfrm>
          <a:prstGeom prst="roundRect">
            <a:avLst>
              <a:gd name="adj" fmla="val 14545"/>
            </a:avLst>
          </a:prstGeom>
          <a:solidFill>
            <a:srgbClr val="028090"/>
          </a:solidFill>
          <a:ln/>
        </p:spPr>
        <p:txBody>
          <a:bodyPr/>
          <a:p/>
        </p:txBody>
      </p:sp>
      <p:sp>
        <p:nvSpPr>
          <p:cNvPr id="13" name="Text 11"/>
          <p:cNvSpPr/>
          <p:nvPr/>
        </p:nvSpPr>
        <p:spPr>
          <a:xfrm>
            <a:off x="4617720" y="1828800"/>
            <a:ext cx="3154680" cy="50292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Tools &amp; Compute</a:t>
            </a:r>
            <a:endParaRPr lang="en-US" sz="1500" dirty="0"/>
          </a:p>
        </p:txBody>
      </p:sp>
      <p:sp>
        <p:nvSpPr>
          <p:cNvPr id="14" name="Shape 12"/>
          <p:cNvSpPr/>
          <p:nvPr/>
        </p:nvSpPr>
        <p:spPr>
          <a:xfrm>
            <a:off x="4663440" y="2660904"/>
            <a:ext cx="109728" cy="109728"/>
          </a:xfrm>
          <a:prstGeom prst="ellipse">
            <a:avLst/>
          </a:prstGeom>
          <a:solidFill>
            <a:srgbClr val="00A896"/>
          </a:solidFill>
          <a:ln/>
        </p:spPr>
        <p:txBody>
          <a:bodyPr/>
          <a:p/>
        </p:txBody>
      </p:sp>
      <p:sp>
        <p:nvSpPr>
          <p:cNvPr id="15" name="Text 13"/>
          <p:cNvSpPr/>
          <p:nvPr/>
        </p:nvSpPr>
        <p:spPr>
          <a:xfrm>
            <a:off x="4892040" y="2606040"/>
            <a:ext cx="2880360" cy="1188720"/>
          </a:xfrm>
          <a:prstGeom prst="rect">
            <a:avLst/>
          </a:prstGeom>
          <a:noFill/>
          <a:ln/>
        </p:spPr>
        <p:txBody>
          <a:bodyPr wrap="square" rtlCol="0" anchor="t"/>
          <a:lstStyle/>
          <a:p>
            <a:pPr marL="0" indent="0">
              <a:lnSpc>
                <a:spcPct val="120000"/>
              </a:lnSpc>
              <a:buNone/>
            </a:pPr>
            <a:r>
              <a:rPr lang="en-US" sz="1200" dirty="0">
                <a:solidFill>
                  <a:srgbClr val="4A5A5D"/>
                </a:solidFill>
                <a:latin typeface="Calibri" pitchFamily="34" charset="0"/>
                <a:ea typeface="Calibri" pitchFamily="34" charset="-122"/>
                <a:cs typeface="Calibri" pitchFamily="34" charset="-120"/>
              </a:rPr>
              <a:t>Open-source stack: Python, PyTorch, MediaPipe, OpenCV, FastAPI and React.</a:t>
            </a:r>
            <a:endParaRPr lang="en-US" sz="1200" dirty="0"/>
          </a:p>
        </p:txBody>
      </p:sp>
      <p:sp>
        <p:nvSpPr>
          <p:cNvPr id="16" name="Shape 14"/>
          <p:cNvSpPr/>
          <p:nvPr/>
        </p:nvSpPr>
        <p:spPr>
          <a:xfrm>
            <a:off x="4663440" y="4078224"/>
            <a:ext cx="109728" cy="109728"/>
          </a:xfrm>
          <a:prstGeom prst="ellipse">
            <a:avLst/>
          </a:prstGeom>
          <a:solidFill>
            <a:srgbClr val="00A896"/>
          </a:solidFill>
          <a:ln/>
        </p:spPr>
        <p:txBody>
          <a:bodyPr/>
          <a:p/>
        </p:txBody>
      </p:sp>
      <p:sp>
        <p:nvSpPr>
          <p:cNvPr id="17" name="Text 15"/>
          <p:cNvSpPr/>
          <p:nvPr/>
        </p:nvSpPr>
        <p:spPr>
          <a:xfrm>
            <a:off x="4892040" y="4023360"/>
            <a:ext cx="2880360" cy="1188720"/>
          </a:xfrm>
          <a:prstGeom prst="rect">
            <a:avLst/>
          </a:prstGeom>
          <a:noFill/>
          <a:ln/>
        </p:spPr>
        <p:txBody>
          <a:bodyPr wrap="square" rtlCol="0" anchor="t"/>
          <a:lstStyle/>
          <a:p>
            <a:pPr marL="0" indent="0">
              <a:lnSpc>
                <a:spcPct val="120000"/>
              </a:lnSpc>
              <a:buNone/>
            </a:pPr>
            <a:r>
              <a:rPr lang="en-US" sz="1200" dirty="0">
                <a:solidFill>
                  <a:srgbClr val="4A5A5D"/>
                </a:solidFill>
                <a:latin typeface="Calibri" pitchFamily="34" charset="0"/>
                <a:ea typeface="Calibri" pitchFamily="34" charset="-122"/>
                <a:cs typeface="Calibri" pitchFamily="34" charset="-120"/>
              </a:rPr>
              <a:t>Compact landmark and geometry sequences mean the recognition network does not process raw RGB frames.</a:t>
            </a:r>
            <a:endParaRPr lang="en-US" sz="1200" dirty="0"/>
          </a:p>
        </p:txBody>
      </p:sp>
      <p:sp>
        <p:nvSpPr>
          <p:cNvPr id="18" name="Shape 16"/>
          <p:cNvSpPr/>
          <p:nvPr/>
        </p:nvSpPr>
        <p:spPr>
          <a:xfrm>
            <a:off x="8229600" y="1600200"/>
            <a:ext cx="3611880" cy="4480560"/>
          </a:xfrm>
          <a:prstGeom prst="roundRect">
            <a:avLst>
              <a:gd name="adj" fmla="val 2532"/>
            </a:avLst>
          </a:prstGeom>
          <a:solidFill>
            <a:srgbClr val="F4FAF9"/>
          </a:solidFill>
          <a:ln/>
        </p:spPr>
        <p:txBody>
          <a:bodyPr/>
          <a:p/>
        </p:txBody>
      </p:sp>
      <p:sp>
        <p:nvSpPr>
          <p:cNvPr id="19" name="Shape 17"/>
          <p:cNvSpPr/>
          <p:nvPr/>
        </p:nvSpPr>
        <p:spPr>
          <a:xfrm>
            <a:off x="8458200" y="1828800"/>
            <a:ext cx="3154680" cy="502920"/>
          </a:xfrm>
          <a:prstGeom prst="roundRect">
            <a:avLst>
              <a:gd name="adj" fmla="val 14545"/>
            </a:avLst>
          </a:prstGeom>
          <a:solidFill>
            <a:srgbClr val="028090"/>
          </a:solidFill>
          <a:ln/>
        </p:spPr>
        <p:txBody>
          <a:bodyPr/>
          <a:p/>
        </p:txBody>
      </p:sp>
      <p:sp>
        <p:nvSpPr>
          <p:cNvPr id="20" name="Text 18"/>
          <p:cNvSpPr/>
          <p:nvPr/>
        </p:nvSpPr>
        <p:spPr>
          <a:xfrm>
            <a:off x="8458200" y="1828800"/>
            <a:ext cx="3154680" cy="50292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Skills &amp; Scope</a:t>
            </a:r>
            <a:endParaRPr lang="en-US" sz="1500" dirty="0"/>
          </a:p>
        </p:txBody>
      </p:sp>
      <p:sp>
        <p:nvSpPr>
          <p:cNvPr id="21" name="Shape 19"/>
          <p:cNvSpPr/>
          <p:nvPr/>
        </p:nvSpPr>
        <p:spPr>
          <a:xfrm>
            <a:off x="8503920" y="2660904"/>
            <a:ext cx="109728" cy="109728"/>
          </a:xfrm>
          <a:prstGeom prst="ellipse">
            <a:avLst/>
          </a:prstGeom>
          <a:solidFill>
            <a:srgbClr val="00A896"/>
          </a:solidFill>
          <a:ln/>
        </p:spPr>
        <p:txBody>
          <a:bodyPr/>
          <a:p/>
        </p:txBody>
      </p:sp>
      <p:sp>
        <p:nvSpPr>
          <p:cNvPr id="22" name="Text 20"/>
          <p:cNvSpPr/>
          <p:nvPr/>
        </p:nvSpPr>
        <p:spPr>
          <a:xfrm>
            <a:off x="8732520" y="2606040"/>
            <a:ext cx="2880360" cy="1188720"/>
          </a:xfrm>
          <a:prstGeom prst="rect">
            <a:avLst/>
          </a:prstGeom>
          <a:noFill/>
          <a:ln/>
        </p:spPr>
        <p:txBody>
          <a:bodyPr wrap="square" rtlCol="0" anchor="t"/>
          <a:lstStyle/>
          <a:p>
            <a:pPr marL="0" indent="0">
              <a:lnSpc>
                <a:spcPct val="120000"/>
              </a:lnSpc>
              <a:buNone/>
            </a:pPr>
            <a:r>
              <a:rPr lang="en-US" sz="1200" dirty="0">
                <a:solidFill>
                  <a:srgbClr val="4A5A5D"/>
                </a:solidFill>
                <a:latin typeface="Calibri" pitchFamily="34" charset="0"/>
                <a:ea typeface="Calibri" pitchFamily="34" charset="-122"/>
                <a:cs typeface="Calibri" pitchFamily="34" charset="-120"/>
              </a:rPr>
              <a:t>Builds on well-documented techniques (temporal convolution, gated fusion, attention) rather than unproven methods.</a:t>
            </a:r>
            <a:endParaRPr lang="en-US" sz="1200" dirty="0"/>
          </a:p>
        </p:txBody>
      </p:sp>
      <p:sp>
        <p:nvSpPr>
          <p:cNvPr id="23" name="Shape 21"/>
          <p:cNvSpPr/>
          <p:nvPr/>
        </p:nvSpPr>
        <p:spPr>
          <a:xfrm>
            <a:off x="8503920" y="4078224"/>
            <a:ext cx="109728" cy="109728"/>
          </a:xfrm>
          <a:prstGeom prst="ellipse">
            <a:avLst/>
          </a:prstGeom>
          <a:solidFill>
            <a:srgbClr val="00A896"/>
          </a:solidFill>
          <a:ln/>
        </p:spPr>
        <p:txBody>
          <a:bodyPr/>
          <a:p/>
        </p:txBody>
      </p:sp>
      <p:sp>
        <p:nvSpPr>
          <p:cNvPr id="24" name="Text 22"/>
          <p:cNvSpPr/>
          <p:nvPr/>
        </p:nvSpPr>
        <p:spPr>
          <a:xfrm>
            <a:off x="8732520" y="4023360"/>
            <a:ext cx="2880360" cy="1188720"/>
          </a:xfrm>
          <a:prstGeom prst="rect">
            <a:avLst/>
          </a:prstGeom>
          <a:noFill/>
          <a:ln/>
        </p:spPr>
        <p:txBody>
          <a:bodyPr wrap="square" rtlCol="0" anchor="t"/>
          <a:lstStyle/>
          <a:p>
            <a:pPr marL="0" indent="0">
              <a:lnSpc>
                <a:spcPct val="120000"/>
              </a:lnSpc>
              <a:buNone/>
            </a:pPr>
            <a:r>
              <a:rPr lang="en-US" sz="1200" dirty="0">
                <a:solidFill>
                  <a:srgbClr val="4A5A5D"/>
                </a:solidFill>
                <a:latin typeface="Calibri" pitchFamily="34" charset="0"/>
                <a:ea typeface="Calibri" pitchFamily="34" charset="-122"/>
                <a:cs typeface="Calibri" pitchFamily="34" charset="-120"/>
              </a:rPr>
              <a:t>Current scope is isolated-sign recognition; continuous sign recognition is future work.</a:t>
            </a:r>
            <a:endParaRPr lang="en-US" sz="1200" dirty="0"/>
          </a:p>
        </p:txBody>
      </p:sp>
      <p:sp>
        <p:nvSpPr>
          <p:cNvPr id="25" name="Text 23"/>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A9B4B6"/>
                </a:solidFill>
                <a:latin typeface="Calibri" pitchFamily="34" charset="0"/>
                <a:ea typeface="Calibri" pitchFamily="34" charset="-122"/>
                <a:cs typeface="Calibri" pitchFamily="34" charset="-120"/>
              </a:rPr>
              <a:t>07</a:t>
            </a:r>
            <a:endParaRPr lang="en-US" sz="1100" dirty="0"/>
          </a:p>
        </p:txBody>
      </p:sp>
      <p:pic>
        <p:nvPicPr>
          <p:cNvPr id="26" name="Picture 25"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3"/>
          <p:cNvSpPr/>
          <p:nvPr/>
        </p:nvSpPr>
        <p:spPr>
          <a:xfrm>
            <a:off x="1325880" y="164592"/>
            <a:ext cx="6537960" cy="274320"/>
          </a:xfrm>
          <a:prstGeom prst="rect">
            <a:avLst/>
          </a:prstGeom>
          <a:noFill/>
          <a:ln/>
        </p:spPr>
        <p:txBody>
          <a:bodyPr wrap="square" rtlCol="0" anchor="ctr"/>
          <a:lstStyle/>
          <a:p>
            <a:pPr marL="0" indent="0" algn="l">
              <a:buNone/>
            </a:pPr>
            <a:r>
              <a:rPr lang="en-US" sz="1200" b="1" dirty="0">
                <a:solidFill>
                  <a:srgbClr val="028090"/>
                </a:solidFill>
                <a:latin typeface="Calibri" pitchFamily="34" charset="0"/>
                <a:ea typeface="Calibri" pitchFamily="34" charset="-122"/>
                <a:cs typeface="Calibri" pitchFamily="34" charset="-120"/>
              </a:rPr>
              <a:t>07 · SYSTEM ARCHITECTURE</a:t>
            </a:r>
            <a:endParaRPr lang="en-US" sz="1200" dirty="0"/>
          </a:p>
        </p:txBody>
      </p:sp>
      <p:sp>
        <p:nvSpPr>
          <p:cNvPr id="4" name="Text 4"/>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05386B"/>
                </a:solidFill>
                <a:latin typeface="Cambria" pitchFamily="34" charset="0"/>
                <a:ea typeface="Cambria" pitchFamily="34" charset="-122"/>
                <a:cs typeface="Cambria" pitchFamily="34" charset="-120"/>
              </a:rPr>
              <a:t>How the system flows from camera to speech</a:t>
            </a:r>
            <a:endParaRPr lang="en-US" sz="3200" dirty="0"/>
          </a:p>
        </p:txBody>
      </p:sp>
      <p:sp>
        <p:nvSpPr>
          <p:cNvPr id="5" name="Shape 5"/>
          <p:cNvSpPr/>
          <p:nvPr/>
        </p:nvSpPr>
        <p:spPr>
          <a:xfrm>
            <a:off x="548640" y="1600200"/>
            <a:ext cx="3545840" cy="2223093"/>
          </a:xfrm>
          <a:prstGeom prst="roundRect">
            <a:avLst>
              <a:gd name="adj" fmla="val 2532"/>
            </a:avLst>
          </a:prstGeom>
          <a:solidFill>
            <a:srgbClr val="F4FAF9"/>
          </a:solidFill>
          <a:ln w="12700">
            <a:solidFill>
              <a:srgbClr val="D5E6E6"/>
            </a:solidFill>
            <a:prstDash val="solid"/>
          </a:ln>
        </p:spPr>
        <p:txBody>
          <a:bodyPr/>
          <a:p/>
        </p:txBody>
      </p:sp>
      <p:sp>
        <p:nvSpPr>
          <p:cNvPr id="6" name="Shape 6"/>
          <p:cNvSpPr/>
          <p:nvPr/>
        </p:nvSpPr>
        <p:spPr>
          <a:xfrm>
            <a:off x="731520" y="1783080"/>
            <a:ext cx="365760" cy="365760"/>
          </a:xfrm>
          <a:prstGeom prst="ellipse">
            <a:avLst/>
          </a:prstGeom>
          <a:solidFill>
            <a:srgbClr val="05386B"/>
          </a:solidFill>
          <a:ln w="0">
            <a:solidFill>
              <a:srgbClr val="FFFFFF"/>
            </a:solidFill>
            <a:prstDash val="solid"/>
          </a:ln>
        </p:spPr>
        <p:txBody>
          <a:bodyPr/>
          <a:p/>
        </p:txBody>
      </p:sp>
      <p:sp>
        <p:nvSpPr>
          <p:cNvPr id="7" name="Text 7"/>
          <p:cNvSpPr/>
          <p:nvPr/>
        </p:nvSpPr>
        <p:spPr>
          <a:xfrm>
            <a:off x="73152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8"/>
          <p:cNvSpPr/>
          <p:nvPr/>
        </p:nvSpPr>
        <p:spPr>
          <a:xfrm>
            <a:off x="1234440" y="1783080"/>
            <a:ext cx="2677160" cy="365760"/>
          </a:xfrm>
          <a:prstGeom prst="rect">
            <a:avLst/>
          </a:prstGeom>
          <a:noFill/>
          <a:ln/>
        </p:spPr>
        <p:txBody>
          <a:bodyPr wrap="square" rtlCol="0" anchor="ctr"/>
          <a:lstStyle/>
          <a:p>
            <a:pPr marL="0" indent="0" algn="l">
              <a:buNone/>
            </a:pPr>
            <a:r>
              <a:rPr lang="en-US" sz="1400" b="1" dirty="0">
                <a:solidFill>
                  <a:srgbClr val="028090"/>
                </a:solidFill>
                <a:latin typeface="Calibri" pitchFamily="34" charset="0"/>
                <a:ea typeface="Calibri" pitchFamily="34" charset="-122"/>
                <a:cs typeface="Calibri" pitchFamily="34" charset="-120"/>
              </a:rPr>
              <a:t>Data Ingestion</a:t>
            </a:r>
            <a:endParaRPr lang="en-US" sz="1400" dirty="0"/>
          </a:p>
        </p:txBody>
      </p:sp>
      <p:sp>
        <p:nvSpPr>
          <p:cNvPr id="9" name="Text 9"/>
          <p:cNvSpPr/>
          <p:nvPr/>
        </p:nvSpPr>
        <p:spPr>
          <a:xfrm>
            <a:off x="731520" y="2258568"/>
            <a:ext cx="3180080" cy="1381845"/>
          </a:xfrm>
          <a:prstGeom prst="rect">
            <a:avLst/>
          </a:prstGeom>
          <a:noFill/>
          <a:ln/>
        </p:spPr>
        <p:txBody>
          <a:bodyPr wrap="square" rtlCol="0" anchor="t"/>
          <a:lstStyle/>
          <a:p>
            <a:pPr marL="0" indent="0" algn="l">
              <a:lnSpc>
                <a:spcPct val="115000"/>
              </a:lnSpc>
              <a:buNone/>
            </a:pPr>
            <a:r>
              <a:rPr lang="en-US" sz="950" b="0" dirty="0">
                <a:solidFill>
                  <a:srgbClr val="4A5A5D"/>
                </a:solidFill>
                <a:latin typeface="Calibri" pitchFamily="34" charset="0"/>
                <a:ea typeface="Calibri" pitchFamily="34" charset="-122"/>
                <a:cs typeface="Calibri" pitchFamily="34" charset="-120"/>
              </a:rPr>
              <a:t>Load INCLUDE sign videos for training and evaluation; the application also accepts uploaded or webcam-recorded clips (WebM / MP4).</a:t>
            </a:r>
            <a:endParaRPr lang="en-US" sz="950" dirty="0"/>
          </a:p>
        </p:txBody>
      </p:sp>
      <p:sp>
        <p:nvSpPr>
          <p:cNvPr id="10" name="Shape 10"/>
          <p:cNvSpPr/>
          <p:nvPr/>
        </p:nvSpPr>
        <p:spPr>
          <a:xfrm>
            <a:off x="4323080" y="1600200"/>
            <a:ext cx="3545840" cy="2223093"/>
          </a:xfrm>
          <a:prstGeom prst="roundRect">
            <a:avLst>
              <a:gd name="adj" fmla="val 2532"/>
            </a:avLst>
          </a:prstGeom>
          <a:solidFill>
            <a:srgbClr val="F4FAF9"/>
          </a:solidFill>
          <a:ln w="12700">
            <a:solidFill>
              <a:srgbClr val="D5E6E6"/>
            </a:solidFill>
            <a:prstDash val="solid"/>
          </a:ln>
        </p:spPr>
        <p:txBody>
          <a:bodyPr/>
          <a:p/>
        </p:txBody>
      </p:sp>
      <p:sp>
        <p:nvSpPr>
          <p:cNvPr id="11" name="Shape 11"/>
          <p:cNvSpPr/>
          <p:nvPr/>
        </p:nvSpPr>
        <p:spPr>
          <a:xfrm>
            <a:off x="4505960" y="1783080"/>
            <a:ext cx="365760" cy="365760"/>
          </a:xfrm>
          <a:prstGeom prst="ellipse">
            <a:avLst/>
          </a:prstGeom>
          <a:solidFill>
            <a:srgbClr val="05386B"/>
          </a:solidFill>
          <a:ln w="0">
            <a:solidFill>
              <a:srgbClr val="FFFFFF"/>
            </a:solidFill>
            <a:prstDash val="solid"/>
          </a:ln>
        </p:spPr>
        <p:txBody>
          <a:bodyPr/>
          <a:p/>
        </p:txBody>
      </p:sp>
      <p:sp>
        <p:nvSpPr>
          <p:cNvPr id="12" name="Text 12"/>
          <p:cNvSpPr/>
          <p:nvPr/>
        </p:nvSpPr>
        <p:spPr>
          <a:xfrm>
            <a:off x="450596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3"/>
          <p:cNvSpPr/>
          <p:nvPr/>
        </p:nvSpPr>
        <p:spPr>
          <a:xfrm>
            <a:off x="5008880" y="1783080"/>
            <a:ext cx="2677160" cy="365760"/>
          </a:xfrm>
          <a:prstGeom prst="rect">
            <a:avLst/>
          </a:prstGeom>
          <a:noFill/>
          <a:ln/>
        </p:spPr>
        <p:txBody>
          <a:bodyPr wrap="square" rtlCol="0" anchor="ctr"/>
          <a:lstStyle/>
          <a:p>
            <a:pPr marL="0" indent="0" algn="l">
              <a:buNone/>
            </a:pPr>
            <a:r>
              <a:rPr lang="en-US" sz="1400" b="1" dirty="0">
                <a:solidFill>
                  <a:srgbClr val="028090"/>
                </a:solidFill>
                <a:latin typeface="Calibri" pitchFamily="34" charset="0"/>
                <a:ea typeface="Calibri" pitchFamily="34" charset="-122"/>
                <a:cs typeface="Calibri" pitchFamily="34" charset="-120"/>
              </a:rPr>
              <a:t>Preprocessing &amp; Sampling</a:t>
            </a:r>
            <a:endParaRPr lang="en-US" sz="1400" dirty="0"/>
          </a:p>
        </p:txBody>
      </p:sp>
      <p:sp>
        <p:nvSpPr>
          <p:cNvPr id="14" name="Text 14"/>
          <p:cNvSpPr/>
          <p:nvPr/>
        </p:nvSpPr>
        <p:spPr>
          <a:xfrm>
            <a:off x="4505960" y="2258568"/>
            <a:ext cx="3180080" cy="1381845"/>
          </a:xfrm>
          <a:prstGeom prst="rect">
            <a:avLst/>
          </a:prstGeom>
          <a:noFill/>
          <a:ln/>
        </p:spPr>
        <p:txBody>
          <a:bodyPr wrap="square" rtlCol="0" anchor="t"/>
          <a:lstStyle/>
          <a:p>
            <a:pPr marL="0" indent="0" algn="l">
              <a:lnSpc>
                <a:spcPct val="115000"/>
              </a:lnSpc>
              <a:buNone/>
            </a:pPr>
            <a:r>
              <a:rPr lang="en-US" sz="950" b="0" dirty="0">
                <a:solidFill>
                  <a:srgbClr val="4A5A5D"/>
                </a:solidFill>
                <a:latin typeface="Calibri" pitchFamily="34" charset="0"/>
                <a:ea typeface="Calibri" pitchFamily="34" charset="-122"/>
                <a:cs typeface="Calibri" pitchFamily="34" charset="-120"/>
              </a:rPr>
              <a:t>Read frames with OpenCV and uniformly sample exactly 64 frames per video (np.linspace); short videos are padded with their last frame.</a:t>
            </a:r>
            <a:endParaRPr lang="en-US" sz="950" dirty="0"/>
          </a:p>
        </p:txBody>
      </p:sp>
      <p:sp>
        <p:nvSpPr>
          <p:cNvPr id="15" name="Shape 15"/>
          <p:cNvSpPr/>
          <p:nvPr/>
        </p:nvSpPr>
        <p:spPr>
          <a:xfrm>
            <a:off x="8097520" y="1600200"/>
            <a:ext cx="3545840" cy="2223093"/>
          </a:xfrm>
          <a:prstGeom prst="roundRect">
            <a:avLst>
              <a:gd name="adj" fmla="val 2532"/>
            </a:avLst>
          </a:prstGeom>
          <a:solidFill>
            <a:srgbClr val="F4FAF9"/>
          </a:solidFill>
          <a:ln w="12700">
            <a:solidFill>
              <a:srgbClr val="D5E6E6"/>
            </a:solidFill>
            <a:prstDash val="solid"/>
          </a:ln>
        </p:spPr>
        <p:txBody>
          <a:bodyPr/>
          <a:p/>
        </p:txBody>
      </p:sp>
      <p:sp>
        <p:nvSpPr>
          <p:cNvPr id="16" name="Shape 16"/>
          <p:cNvSpPr/>
          <p:nvPr/>
        </p:nvSpPr>
        <p:spPr>
          <a:xfrm>
            <a:off x="8280400" y="1783080"/>
            <a:ext cx="365760" cy="365760"/>
          </a:xfrm>
          <a:prstGeom prst="ellipse">
            <a:avLst/>
          </a:prstGeom>
          <a:solidFill>
            <a:srgbClr val="05386B"/>
          </a:solidFill>
          <a:ln w="0">
            <a:solidFill>
              <a:srgbClr val="FFFFFF"/>
            </a:solidFill>
            <a:prstDash val="solid"/>
          </a:ln>
        </p:spPr>
        <p:txBody>
          <a:bodyPr/>
          <a:p/>
        </p:txBody>
      </p:sp>
      <p:sp>
        <p:nvSpPr>
          <p:cNvPr id="17" name="Text 17"/>
          <p:cNvSpPr/>
          <p:nvPr/>
        </p:nvSpPr>
        <p:spPr>
          <a:xfrm>
            <a:off x="8280400" y="178308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8"/>
          <p:cNvSpPr/>
          <p:nvPr/>
        </p:nvSpPr>
        <p:spPr>
          <a:xfrm>
            <a:off x="8783320" y="1783080"/>
            <a:ext cx="2677160" cy="365760"/>
          </a:xfrm>
          <a:prstGeom prst="rect">
            <a:avLst/>
          </a:prstGeom>
          <a:noFill/>
          <a:ln/>
        </p:spPr>
        <p:txBody>
          <a:bodyPr wrap="square" rtlCol="0" anchor="ctr"/>
          <a:lstStyle/>
          <a:p>
            <a:pPr marL="0" indent="0" algn="l">
              <a:buNone/>
            </a:pPr>
            <a:r>
              <a:rPr lang="en-US" sz="1400" b="1" dirty="0">
                <a:solidFill>
                  <a:srgbClr val="028090"/>
                </a:solidFill>
                <a:latin typeface="Calibri" pitchFamily="34" charset="0"/>
                <a:ea typeface="Calibri" pitchFamily="34" charset="-122"/>
                <a:cs typeface="Calibri" pitchFamily="34" charset="-120"/>
              </a:rPr>
              <a:t>Landmark &amp; Feature Extraction</a:t>
            </a:r>
            <a:endParaRPr lang="en-US" sz="1400" dirty="0"/>
          </a:p>
        </p:txBody>
      </p:sp>
      <p:sp>
        <p:nvSpPr>
          <p:cNvPr id="19" name="Text 19"/>
          <p:cNvSpPr/>
          <p:nvPr/>
        </p:nvSpPr>
        <p:spPr>
          <a:xfrm>
            <a:off x="8280400" y="2258568"/>
            <a:ext cx="3180080" cy="1381845"/>
          </a:xfrm>
          <a:prstGeom prst="rect">
            <a:avLst/>
          </a:prstGeom>
          <a:noFill/>
          <a:ln/>
        </p:spPr>
        <p:txBody>
          <a:bodyPr wrap="square" rtlCol="0" anchor="t"/>
          <a:lstStyle/>
          <a:p>
            <a:pPr marL="0" indent="0" algn="l">
              <a:lnSpc>
                <a:spcPct val="115000"/>
              </a:lnSpc>
              <a:buNone/>
            </a:pPr>
            <a:r>
              <a:rPr lang="en-US" sz="950" b="0" dirty="0">
                <a:solidFill>
                  <a:srgbClr val="4A5A5D"/>
                </a:solidFill>
                <a:latin typeface="Calibri" pitchFamily="34" charset="0"/>
                <a:ea typeface="Calibri" pitchFamily="34" charset="-122"/>
                <a:cs typeface="Calibri" pitchFamily="34" charset="-120"/>
              </a:rPr>
              <a:t>MediaPipe extracts hand, pose and selected face landmarks (534-D) with pose-guided hand rescue; 469-D geometry and a 4-D availability mask are built per frame.</a:t>
            </a:r>
            <a:endParaRPr lang="en-US" sz="950" dirty="0"/>
          </a:p>
        </p:txBody>
      </p:sp>
      <p:sp>
        <p:nvSpPr>
          <p:cNvPr id="20" name="Shape 20"/>
          <p:cNvSpPr/>
          <p:nvPr/>
        </p:nvSpPr>
        <p:spPr>
          <a:xfrm>
            <a:off x="548640" y="4051893"/>
            <a:ext cx="3545840" cy="2223093"/>
          </a:xfrm>
          <a:prstGeom prst="roundRect">
            <a:avLst>
              <a:gd name="adj" fmla="val 2532"/>
            </a:avLst>
          </a:prstGeom>
          <a:solidFill>
            <a:srgbClr val="F4FAF9"/>
          </a:solidFill>
          <a:ln w="12700">
            <a:solidFill>
              <a:srgbClr val="D5E6E6"/>
            </a:solidFill>
            <a:prstDash val="solid"/>
          </a:ln>
        </p:spPr>
        <p:txBody>
          <a:bodyPr/>
          <a:p/>
        </p:txBody>
      </p:sp>
      <p:sp>
        <p:nvSpPr>
          <p:cNvPr id="21" name="Shape 21"/>
          <p:cNvSpPr/>
          <p:nvPr/>
        </p:nvSpPr>
        <p:spPr>
          <a:xfrm>
            <a:off x="731520" y="4234773"/>
            <a:ext cx="365760" cy="365760"/>
          </a:xfrm>
          <a:prstGeom prst="ellipse">
            <a:avLst/>
          </a:prstGeom>
          <a:solidFill>
            <a:srgbClr val="05386B"/>
          </a:solidFill>
          <a:ln w="0">
            <a:solidFill>
              <a:srgbClr val="FFFFFF"/>
            </a:solidFill>
            <a:prstDash val="solid"/>
          </a:ln>
        </p:spPr>
        <p:txBody>
          <a:bodyPr/>
          <a:p/>
        </p:txBody>
      </p:sp>
      <p:sp>
        <p:nvSpPr>
          <p:cNvPr id="22" name="Text 22"/>
          <p:cNvSpPr/>
          <p:nvPr/>
        </p:nvSpPr>
        <p:spPr>
          <a:xfrm>
            <a:off x="731520" y="4234773"/>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3"/>
          <p:cNvSpPr/>
          <p:nvPr/>
        </p:nvSpPr>
        <p:spPr>
          <a:xfrm>
            <a:off x="1234440" y="4234773"/>
            <a:ext cx="2677160" cy="365760"/>
          </a:xfrm>
          <a:prstGeom prst="rect">
            <a:avLst/>
          </a:prstGeom>
          <a:noFill/>
          <a:ln/>
        </p:spPr>
        <p:txBody>
          <a:bodyPr wrap="square" rtlCol="0" anchor="ctr"/>
          <a:lstStyle/>
          <a:p>
            <a:pPr marL="0" indent="0" algn="l">
              <a:buNone/>
            </a:pPr>
            <a:r>
              <a:rPr lang="en-US" sz="1400" b="1" dirty="0">
                <a:solidFill>
                  <a:srgbClr val="028090"/>
                </a:solidFill>
                <a:latin typeface="Calibri" pitchFamily="34" charset="0"/>
                <a:ea typeface="Calibri" pitchFamily="34" charset="-122"/>
                <a:cs typeface="Calibri" pitchFamily="34" charset="-120"/>
              </a:rPr>
              <a:t>Feature Fusion &amp; Modeling</a:t>
            </a:r>
            <a:endParaRPr lang="en-US" sz="1400" dirty="0"/>
          </a:p>
        </p:txBody>
      </p:sp>
      <p:sp>
        <p:nvSpPr>
          <p:cNvPr id="24" name="Text 24"/>
          <p:cNvSpPr/>
          <p:nvPr/>
        </p:nvSpPr>
        <p:spPr>
          <a:xfrm>
            <a:off x="731520" y="4710261"/>
            <a:ext cx="3180080" cy="1381845"/>
          </a:xfrm>
          <a:prstGeom prst="rect">
            <a:avLst/>
          </a:prstGeom>
          <a:noFill/>
          <a:ln/>
        </p:spPr>
        <p:txBody>
          <a:bodyPr wrap="square" rtlCol="0" anchor="t"/>
          <a:lstStyle/>
          <a:p>
            <a:pPr marL="0" indent="0" algn="l">
              <a:lnSpc>
                <a:spcPct val="115000"/>
              </a:lnSpc>
              <a:buNone/>
            </a:pPr>
            <a:r>
              <a:rPr lang="en-US" sz="950" b="0" dirty="0">
                <a:solidFill>
                  <a:srgbClr val="4A5A5D"/>
                </a:solidFill>
                <a:latin typeface="Calibri" pitchFamily="34" charset="0"/>
                <a:ea typeface="Calibri" pitchFamily="34" charset="-122"/>
                <a:cs typeface="Calibri" pitchFamily="34" charset="-120"/>
              </a:rPr>
              <a:t>Part-aware temporal Conv1D encoders process each stream; five learned gates fuse them (400 → 320); four HTMA blocks model the 64-frame sequence.</a:t>
            </a:r>
            <a:endParaRPr lang="en-US" sz="950" dirty="0"/>
          </a:p>
        </p:txBody>
      </p:sp>
      <p:sp>
        <p:nvSpPr>
          <p:cNvPr id="25" name="Shape 25"/>
          <p:cNvSpPr/>
          <p:nvPr/>
        </p:nvSpPr>
        <p:spPr>
          <a:xfrm>
            <a:off x="4323080" y="4051893"/>
            <a:ext cx="3545840" cy="2223093"/>
          </a:xfrm>
          <a:prstGeom prst="roundRect">
            <a:avLst>
              <a:gd name="adj" fmla="val 2532"/>
            </a:avLst>
          </a:prstGeom>
          <a:solidFill>
            <a:srgbClr val="F4FAF9"/>
          </a:solidFill>
          <a:ln w="12700">
            <a:solidFill>
              <a:srgbClr val="D5E6E6"/>
            </a:solidFill>
            <a:prstDash val="solid"/>
          </a:ln>
        </p:spPr>
        <p:txBody>
          <a:bodyPr/>
          <a:p/>
        </p:txBody>
      </p:sp>
      <p:sp>
        <p:nvSpPr>
          <p:cNvPr id="26" name="Shape 26"/>
          <p:cNvSpPr/>
          <p:nvPr/>
        </p:nvSpPr>
        <p:spPr>
          <a:xfrm>
            <a:off x="4505960" y="4234773"/>
            <a:ext cx="365760" cy="365760"/>
          </a:xfrm>
          <a:prstGeom prst="ellipse">
            <a:avLst/>
          </a:prstGeom>
          <a:solidFill>
            <a:srgbClr val="05386B"/>
          </a:solidFill>
          <a:ln w="0">
            <a:solidFill>
              <a:srgbClr val="FFFFFF"/>
            </a:solidFill>
            <a:prstDash val="solid"/>
          </a:ln>
        </p:spPr>
        <p:txBody>
          <a:bodyPr/>
          <a:p/>
        </p:txBody>
      </p:sp>
      <p:sp>
        <p:nvSpPr>
          <p:cNvPr id="27" name="Text 27"/>
          <p:cNvSpPr/>
          <p:nvPr/>
        </p:nvSpPr>
        <p:spPr>
          <a:xfrm>
            <a:off x="4505960" y="4234773"/>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8" name="Text 28"/>
          <p:cNvSpPr/>
          <p:nvPr/>
        </p:nvSpPr>
        <p:spPr>
          <a:xfrm>
            <a:off x="5008880" y="4234773"/>
            <a:ext cx="2677160" cy="365760"/>
          </a:xfrm>
          <a:prstGeom prst="rect">
            <a:avLst/>
          </a:prstGeom>
          <a:noFill/>
          <a:ln/>
        </p:spPr>
        <p:txBody>
          <a:bodyPr wrap="square" rtlCol="0" anchor="ctr"/>
          <a:lstStyle/>
          <a:p>
            <a:pPr marL="0" indent="0" algn="l">
              <a:buNone/>
            </a:pPr>
            <a:r>
              <a:rPr lang="en-US" sz="1400" b="1" dirty="0">
                <a:solidFill>
                  <a:srgbClr val="028090"/>
                </a:solidFill>
                <a:latin typeface="Calibri" pitchFamily="34" charset="0"/>
                <a:ea typeface="Calibri" pitchFamily="34" charset="-122"/>
                <a:cs typeface="Calibri" pitchFamily="34" charset="-120"/>
              </a:rPr>
              <a:t>Recognition &amp; Evaluation</a:t>
            </a:r>
            <a:endParaRPr lang="en-US" sz="1400" dirty="0"/>
          </a:p>
        </p:txBody>
      </p:sp>
      <p:sp>
        <p:nvSpPr>
          <p:cNvPr id="29" name="Text 29"/>
          <p:cNvSpPr/>
          <p:nvPr/>
        </p:nvSpPr>
        <p:spPr>
          <a:xfrm>
            <a:off x="4505960" y="4710261"/>
            <a:ext cx="3180080" cy="1381845"/>
          </a:xfrm>
          <a:prstGeom prst="rect">
            <a:avLst/>
          </a:prstGeom>
          <a:noFill/>
          <a:ln/>
        </p:spPr>
        <p:txBody>
          <a:bodyPr wrap="square" rtlCol="0" anchor="t"/>
          <a:lstStyle/>
          <a:p>
            <a:pPr marL="0" indent="0" algn="l">
              <a:lnSpc>
                <a:spcPct val="115000"/>
              </a:lnSpc>
              <a:buNone/>
            </a:pPr>
            <a:r>
              <a:rPr lang="en-US" sz="950" b="0" dirty="0">
                <a:solidFill>
                  <a:srgbClr val="4A5A5D"/>
                </a:solidFill>
                <a:latin typeface="Calibri" pitchFamily="34" charset="0"/>
                <a:ea typeface="Calibri" pitchFamily="34" charset="-122"/>
                <a:cs typeface="Calibri" pitchFamily="34" charset="-120"/>
              </a:rPr>
              <a:t>A CLS token plus learned attention pooling feeds a 262-class softmax classifier. Evaluate with Top-1, Top-5, Macro-F1 and balanced accuracy.</a:t>
            </a:r>
            <a:endParaRPr lang="en-US" sz="950" dirty="0"/>
          </a:p>
        </p:txBody>
      </p:sp>
      <p:sp>
        <p:nvSpPr>
          <p:cNvPr id="30" name="Shape 30"/>
          <p:cNvSpPr/>
          <p:nvPr/>
        </p:nvSpPr>
        <p:spPr>
          <a:xfrm>
            <a:off x="8097520" y="4051893"/>
            <a:ext cx="3545840" cy="2223093"/>
          </a:xfrm>
          <a:prstGeom prst="roundRect">
            <a:avLst>
              <a:gd name="adj" fmla="val 2532"/>
            </a:avLst>
          </a:prstGeom>
          <a:solidFill>
            <a:srgbClr val="F4FAF9"/>
          </a:solidFill>
          <a:ln w="12700">
            <a:solidFill>
              <a:srgbClr val="D5E6E6"/>
            </a:solidFill>
            <a:prstDash val="solid"/>
          </a:ln>
        </p:spPr>
        <p:txBody>
          <a:bodyPr/>
          <a:p/>
        </p:txBody>
      </p:sp>
      <p:sp>
        <p:nvSpPr>
          <p:cNvPr id="31" name="Shape 31"/>
          <p:cNvSpPr/>
          <p:nvPr/>
        </p:nvSpPr>
        <p:spPr>
          <a:xfrm>
            <a:off x="8280400" y="4234773"/>
            <a:ext cx="365760" cy="365760"/>
          </a:xfrm>
          <a:prstGeom prst="ellipse">
            <a:avLst/>
          </a:prstGeom>
          <a:solidFill>
            <a:srgbClr val="05386B"/>
          </a:solidFill>
          <a:ln w="0">
            <a:solidFill>
              <a:srgbClr val="FFFFFF"/>
            </a:solidFill>
            <a:prstDash val="solid"/>
          </a:ln>
        </p:spPr>
        <p:txBody>
          <a:bodyPr/>
          <a:p/>
        </p:txBody>
      </p:sp>
      <p:sp>
        <p:nvSpPr>
          <p:cNvPr id="32" name="Text 32"/>
          <p:cNvSpPr/>
          <p:nvPr/>
        </p:nvSpPr>
        <p:spPr>
          <a:xfrm>
            <a:off x="8280400" y="4234773"/>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3" name="Text 33"/>
          <p:cNvSpPr/>
          <p:nvPr/>
        </p:nvSpPr>
        <p:spPr>
          <a:xfrm>
            <a:off x="8783320" y="4234773"/>
            <a:ext cx="2677160" cy="365760"/>
          </a:xfrm>
          <a:prstGeom prst="rect">
            <a:avLst/>
          </a:prstGeom>
          <a:noFill/>
          <a:ln/>
        </p:spPr>
        <p:txBody>
          <a:bodyPr wrap="square" rtlCol="0" anchor="ctr"/>
          <a:lstStyle/>
          <a:p>
            <a:pPr marL="0" indent="0" algn="l">
              <a:buNone/>
            </a:pPr>
            <a:r>
              <a:rPr lang="en-US" sz="1400" b="1" dirty="0">
                <a:solidFill>
                  <a:srgbClr val="028090"/>
                </a:solidFill>
                <a:latin typeface="Calibri" pitchFamily="34" charset="0"/>
                <a:ea typeface="Calibri" pitchFamily="34" charset="-122"/>
                <a:cs typeface="Calibri" pitchFamily="34" charset="-120"/>
              </a:rPr>
              <a:t>Output &amp; Deployment</a:t>
            </a:r>
            <a:endParaRPr lang="en-US" sz="1400" dirty="0"/>
          </a:p>
        </p:txBody>
      </p:sp>
      <p:sp>
        <p:nvSpPr>
          <p:cNvPr id="34" name="Text 34"/>
          <p:cNvSpPr/>
          <p:nvPr/>
        </p:nvSpPr>
        <p:spPr>
          <a:xfrm>
            <a:off x="8280400" y="4710261"/>
            <a:ext cx="3180080" cy="1381845"/>
          </a:xfrm>
          <a:prstGeom prst="rect">
            <a:avLst/>
          </a:prstGeom>
          <a:noFill/>
          <a:ln/>
        </p:spPr>
        <p:txBody>
          <a:bodyPr wrap="square" rtlCol="0" anchor="t"/>
          <a:lstStyle/>
          <a:p>
            <a:pPr marL="0" indent="0" algn="l">
              <a:lnSpc>
                <a:spcPct val="115000"/>
              </a:lnSpc>
              <a:buNone/>
            </a:pPr>
            <a:r>
              <a:rPr lang="en-US" sz="950" b="0" dirty="0">
                <a:solidFill>
                  <a:srgbClr val="4A5A5D"/>
                </a:solidFill>
                <a:latin typeface="Calibri" pitchFamily="34" charset="0"/>
                <a:ea typeface="Calibri" pitchFamily="34" charset="-122"/>
                <a:cs typeface="Calibri" pitchFamily="34" charset="-120"/>
              </a:rPr>
              <a:t>Display the recognized sign as text, speak it with the browser Web Speech API, and serve the model through a FastAPI + React application.</a:t>
            </a:r>
            <a:endParaRPr lang="en-US" sz="950" dirty="0"/>
          </a:p>
        </p:txBody>
      </p:sp>
      <p:sp>
        <p:nvSpPr>
          <p:cNvPr id="35" name="Text 35"/>
          <p:cNvSpPr/>
          <p:nvPr/>
        </p:nvSpPr>
        <p:spPr>
          <a:xfrm>
            <a:off x="11475720" y="6446520"/>
            <a:ext cx="548640" cy="320040"/>
          </a:xfrm>
          <a:prstGeom prst="rect">
            <a:avLst/>
          </a:prstGeom>
          <a:noFill/>
          <a:ln/>
        </p:spPr>
        <p:txBody>
          <a:bodyPr wrap="square" rtlCol="0" anchor="ctr"/>
          <a:lstStyle/>
          <a:p>
            <a:pPr marL="0" indent="0" algn="r">
              <a:buNone/>
            </a:pPr>
            <a:r>
              <a:rPr lang="en-US" sz="1100" b="0" dirty="0">
                <a:solidFill>
                  <a:srgbClr val="A9B4B6"/>
                </a:solidFill>
                <a:latin typeface="Calibri" pitchFamily="34" charset="0"/>
                <a:ea typeface="Calibri" pitchFamily="34" charset="-122"/>
                <a:cs typeface="Calibri" pitchFamily="34" charset="-120"/>
              </a:rPr>
              <a:t>08</a:t>
            </a:r>
            <a:endParaRPr lang="en-US" sz="1100" dirty="0"/>
          </a:p>
        </p:txBody>
      </p:sp>
      <p:pic>
        <p:nvPicPr>
          <p:cNvPr id="36" name="Picture 35"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027"/>
        </a:solidFill>
        <a:effectLst/>
      </p:bgPr>
    </p:bg>
    <p:spTree>
      <p:nvGrpSpPr>
        <p:cNvPr id="1" name=""/>
        <p:cNvGrpSpPr/>
        <p:nvPr/>
      </p:nvGrpSpPr>
      <p:grpSpPr>
        <a:xfrm>
          <a:off x="0" y="0"/>
          <a:ext cx="0" cy="0"/>
          <a:chOff x="0" y="0"/>
          <a:chExt cx="0" cy="0"/>
        </a:xfrm>
      </p:grpSpPr>
      <p:sp>
        <p:nvSpPr>
          <p:cNvPr id="2" name="Text 0"/>
          <p:cNvSpPr/>
          <p:nvPr/>
        </p:nvSpPr>
        <p:spPr>
          <a:xfrm>
            <a:off x="1325880" y="164592"/>
            <a:ext cx="6537960" cy="274320"/>
          </a:xfrm>
          <a:prstGeom prst="rect">
            <a:avLst/>
          </a:prstGeom>
          <a:noFill/>
          <a:ln/>
        </p:spPr>
        <p:txBody>
          <a:bodyPr wrap="square" rtlCol="0" anchor="ctr"/>
          <a:lstStyle/>
          <a:p>
            <a:pPr marL="0" indent="0">
              <a:buNone/>
            </a:pPr>
            <a:r>
              <a:rPr lang="en-US" sz="1200" b="1" kern="0" spc="200" dirty="0">
                <a:solidFill>
                  <a:srgbClr val="02C39A"/>
                </a:solidFill>
                <a:latin typeface="Calibri" pitchFamily="34" charset="0"/>
                <a:ea typeface="Calibri" pitchFamily="34" charset="-122"/>
                <a:cs typeface="Calibri" pitchFamily="34" charset="-120"/>
              </a:rPr>
              <a:t>08 · EVALUATION &amp; EXPECTED IMPACT</a:t>
            </a:r>
            <a:endParaRPr lang="en-US" sz="1200" dirty="0"/>
          </a:p>
        </p:txBody>
      </p:sp>
      <p:sp>
        <p:nvSpPr>
          <p:cNvPr id="3" name="Text 1"/>
          <p:cNvSpPr/>
          <p:nvPr/>
        </p:nvSpPr>
        <p:spPr>
          <a:xfrm>
            <a:off x="1325880" y="411480"/>
            <a:ext cx="10287000"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How success will be measured</a:t>
            </a:r>
            <a:endParaRPr lang="en-US" sz="3200" dirty="0"/>
          </a:p>
        </p:txBody>
      </p:sp>
      <p:sp>
        <p:nvSpPr>
          <p:cNvPr id="4" name="Shape 2"/>
          <p:cNvSpPr/>
          <p:nvPr/>
        </p:nvSpPr>
        <p:spPr>
          <a:xfrm>
            <a:off x="548640" y="1645920"/>
            <a:ext cx="2606040" cy="1737360"/>
          </a:xfrm>
          <a:prstGeom prst="roundRect">
            <a:avLst>
              <a:gd name="adj" fmla="val 5263"/>
            </a:avLst>
          </a:prstGeom>
          <a:solidFill>
            <a:srgbClr val="0F2E33"/>
          </a:solidFill>
          <a:ln w="12700">
            <a:solidFill>
              <a:srgbClr val="1C4A52"/>
            </a:solidFill>
            <a:prstDash val="solid"/>
          </a:ln>
        </p:spPr>
        <p:txBody>
          <a:bodyPr/>
          <a:p/>
        </p:txBody>
      </p:sp>
      <p:sp>
        <p:nvSpPr>
          <p:cNvPr id="5" name="Text 3"/>
          <p:cNvSpPr/>
          <p:nvPr/>
        </p:nvSpPr>
        <p:spPr>
          <a:xfrm>
            <a:off x="731520" y="1828800"/>
            <a:ext cx="2240280" cy="594360"/>
          </a:xfrm>
          <a:prstGeom prst="rect">
            <a:avLst/>
          </a:prstGeom>
          <a:noFill/>
          <a:ln/>
        </p:spPr>
        <p:txBody>
          <a:bodyPr wrap="square"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Top-1 / Top-5 Accuracy</a:t>
            </a:r>
            <a:endParaRPr lang="en-US" sz="1400" dirty="0"/>
          </a:p>
        </p:txBody>
      </p:sp>
      <p:sp>
        <p:nvSpPr>
          <p:cNvPr id="6" name="Text 4"/>
          <p:cNvSpPr/>
          <p:nvPr/>
        </p:nvSpPr>
        <p:spPr>
          <a:xfrm>
            <a:off x="731520" y="2423160"/>
            <a:ext cx="2240280" cy="868680"/>
          </a:xfrm>
          <a:prstGeom prst="rect">
            <a:avLst/>
          </a:prstGeom>
          <a:noFill/>
          <a:ln/>
        </p:spPr>
        <p:txBody>
          <a:bodyPr wrap="square" rtlCol="0" anchor="ctr"/>
          <a:lstStyle/>
          <a:p>
            <a:pPr marL="0" indent="0">
              <a:lnSpc>
                <a:spcPct val="115000"/>
              </a:lnSpc>
              <a:buNone/>
            </a:pPr>
            <a:r>
              <a:rPr lang="en-US" sz="1100" dirty="0">
                <a:solidFill>
                  <a:srgbClr val="D7E4E4"/>
                </a:solidFill>
                <a:latin typeface="Calibri" pitchFamily="34" charset="0"/>
                <a:ea typeface="Calibri" pitchFamily="34" charset="-122"/>
                <a:cs typeface="Calibri" pitchFamily="34" charset="-120"/>
              </a:rPr>
              <a:t>Isolated-sign recognition on the locked INCLUDE test set</a:t>
            </a:r>
            <a:endParaRPr lang="en-US" sz="1100" dirty="0"/>
          </a:p>
        </p:txBody>
      </p:sp>
      <p:sp>
        <p:nvSpPr>
          <p:cNvPr id="7" name="Shape 5"/>
          <p:cNvSpPr/>
          <p:nvPr/>
        </p:nvSpPr>
        <p:spPr>
          <a:xfrm>
            <a:off x="3337560" y="1645920"/>
            <a:ext cx="2606040" cy="1737360"/>
          </a:xfrm>
          <a:prstGeom prst="roundRect">
            <a:avLst>
              <a:gd name="adj" fmla="val 5263"/>
            </a:avLst>
          </a:prstGeom>
          <a:solidFill>
            <a:srgbClr val="0F2E33"/>
          </a:solidFill>
          <a:ln w="12700">
            <a:solidFill>
              <a:srgbClr val="1C4A52"/>
            </a:solidFill>
            <a:prstDash val="solid"/>
          </a:ln>
        </p:spPr>
        <p:txBody>
          <a:bodyPr/>
          <a:p/>
        </p:txBody>
      </p:sp>
      <p:sp>
        <p:nvSpPr>
          <p:cNvPr id="8" name="Text 6"/>
          <p:cNvSpPr/>
          <p:nvPr/>
        </p:nvSpPr>
        <p:spPr>
          <a:xfrm>
            <a:off x="3520440" y="1828800"/>
            <a:ext cx="2240280" cy="594360"/>
          </a:xfrm>
          <a:prstGeom prst="rect">
            <a:avLst/>
          </a:prstGeom>
          <a:noFill/>
          <a:ln/>
        </p:spPr>
        <p:txBody>
          <a:bodyPr wrap="square"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Balanced Accuracy</a:t>
            </a:r>
            <a:endParaRPr lang="en-US" sz="1400" dirty="0"/>
          </a:p>
        </p:txBody>
      </p:sp>
      <p:sp>
        <p:nvSpPr>
          <p:cNvPr id="9" name="Text 7"/>
          <p:cNvSpPr/>
          <p:nvPr/>
        </p:nvSpPr>
        <p:spPr>
          <a:xfrm>
            <a:off x="3520440" y="2423160"/>
            <a:ext cx="2240280" cy="868680"/>
          </a:xfrm>
          <a:prstGeom prst="rect">
            <a:avLst/>
          </a:prstGeom>
          <a:noFill/>
          <a:ln/>
        </p:spPr>
        <p:txBody>
          <a:bodyPr wrap="square" rtlCol="0" anchor="ctr"/>
          <a:lstStyle/>
          <a:p>
            <a:pPr marL="0" indent="0">
              <a:lnSpc>
                <a:spcPct val="115000"/>
              </a:lnSpc>
              <a:buNone/>
            </a:pPr>
            <a:r>
              <a:rPr lang="en-US" sz="1100" dirty="0">
                <a:solidFill>
                  <a:srgbClr val="D7E4E4"/>
                </a:solidFill>
                <a:latin typeface="Calibri" pitchFamily="34" charset="0"/>
                <a:ea typeface="Calibri" pitchFamily="34" charset="-122"/>
                <a:cs typeface="Calibri" pitchFamily="34" charset="-120"/>
              </a:rPr>
              <a:t>Mean per-class recall across all 262 classes</a:t>
            </a:r>
            <a:endParaRPr lang="en-US" sz="1100" dirty="0"/>
          </a:p>
        </p:txBody>
      </p:sp>
      <p:sp>
        <p:nvSpPr>
          <p:cNvPr id="10" name="Shape 8"/>
          <p:cNvSpPr/>
          <p:nvPr/>
        </p:nvSpPr>
        <p:spPr>
          <a:xfrm>
            <a:off x="6126480" y="1645920"/>
            <a:ext cx="2606040" cy="1737360"/>
          </a:xfrm>
          <a:prstGeom prst="roundRect">
            <a:avLst>
              <a:gd name="adj" fmla="val 5263"/>
            </a:avLst>
          </a:prstGeom>
          <a:solidFill>
            <a:srgbClr val="0F2E33"/>
          </a:solidFill>
          <a:ln w="12700">
            <a:solidFill>
              <a:srgbClr val="1C4A52"/>
            </a:solidFill>
            <a:prstDash val="solid"/>
          </a:ln>
        </p:spPr>
        <p:txBody>
          <a:bodyPr/>
          <a:p/>
        </p:txBody>
      </p:sp>
      <p:sp>
        <p:nvSpPr>
          <p:cNvPr id="11" name="Text 9"/>
          <p:cNvSpPr/>
          <p:nvPr/>
        </p:nvSpPr>
        <p:spPr>
          <a:xfrm>
            <a:off x="6309360" y="1828800"/>
            <a:ext cx="2240280" cy="594360"/>
          </a:xfrm>
          <a:prstGeom prst="rect">
            <a:avLst/>
          </a:prstGeom>
          <a:noFill/>
          <a:ln/>
        </p:spPr>
        <p:txBody>
          <a:bodyPr wrap="square"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Macro-F1</a:t>
            </a:r>
            <a:endParaRPr lang="en-US" sz="1400" dirty="0"/>
          </a:p>
        </p:txBody>
      </p:sp>
      <p:sp>
        <p:nvSpPr>
          <p:cNvPr id="12" name="Text 10"/>
          <p:cNvSpPr/>
          <p:nvPr/>
        </p:nvSpPr>
        <p:spPr>
          <a:xfrm>
            <a:off x="6309360" y="2423160"/>
            <a:ext cx="2240280" cy="868680"/>
          </a:xfrm>
          <a:prstGeom prst="rect">
            <a:avLst/>
          </a:prstGeom>
          <a:noFill/>
          <a:ln/>
        </p:spPr>
        <p:txBody>
          <a:bodyPr wrap="square" rtlCol="0" anchor="ctr"/>
          <a:lstStyle/>
          <a:p>
            <a:pPr marL="0" indent="0">
              <a:lnSpc>
                <a:spcPct val="115000"/>
              </a:lnSpc>
              <a:buNone/>
            </a:pPr>
            <a:r>
              <a:rPr lang="en-US" sz="1100" dirty="0">
                <a:solidFill>
                  <a:srgbClr val="D7E4E4"/>
                </a:solidFill>
                <a:latin typeface="Calibri" pitchFamily="34" charset="0"/>
                <a:ea typeface="Calibri" pitchFamily="34" charset="-122"/>
                <a:cs typeface="Calibri" pitchFamily="34" charset="-120"/>
              </a:rPr>
              <a:t>Balanced performance across common and rare signs</a:t>
            </a:r>
            <a:endParaRPr lang="en-US" sz="1100" dirty="0"/>
          </a:p>
        </p:txBody>
      </p:sp>
      <p:sp>
        <p:nvSpPr>
          <p:cNvPr id="13" name="Shape 11"/>
          <p:cNvSpPr/>
          <p:nvPr/>
        </p:nvSpPr>
        <p:spPr>
          <a:xfrm>
            <a:off x="8915400" y="1645920"/>
            <a:ext cx="2606040" cy="1737360"/>
          </a:xfrm>
          <a:prstGeom prst="roundRect">
            <a:avLst>
              <a:gd name="adj" fmla="val 5263"/>
            </a:avLst>
          </a:prstGeom>
          <a:solidFill>
            <a:srgbClr val="0F2E33"/>
          </a:solidFill>
          <a:ln w="12700">
            <a:solidFill>
              <a:srgbClr val="1C4A52"/>
            </a:solidFill>
            <a:prstDash val="solid"/>
          </a:ln>
        </p:spPr>
        <p:txBody>
          <a:bodyPr/>
          <a:p/>
        </p:txBody>
      </p:sp>
      <p:sp>
        <p:nvSpPr>
          <p:cNvPr id="14" name="Text 12"/>
          <p:cNvSpPr/>
          <p:nvPr/>
        </p:nvSpPr>
        <p:spPr>
          <a:xfrm>
            <a:off x="9098280" y="1828800"/>
            <a:ext cx="2240280" cy="594360"/>
          </a:xfrm>
          <a:prstGeom prst="rect">
            <a:avLst/>
          </a:prstGeom>
          <a:noFill/>
          <a:ln/>
        </p:spPr>
        <p:txBody>
          <a:bodyPr wrap="square" rtlCol="0" anchor="ctr"/>
          <a:lstStyle/>
          <a:p>
            <a:pPr marL="0" indent="0">
              <a:buNone/>
            </a:pPr>
            <a:r>
              <a:rPr lang="en-US" sz="1400" b="1" dirty="0">
                <a:solidFill>
                  <a:srgbClr val="02C39A"/>
                </a:solidFill>
                <a:latin typeface="Cambria" pitchFamily="34" charset="0"/>
                <a:ea typeface="Cambria" pitchFamily="34" charset="-122"/>
                <a:cs typeface="Cambria" pitchFamily="34" charset="-120"/>
              </a:rPr>
              <a:t>Locked Test Protocol</a:t>
            </a:r>
            <a:endParaRPr lang="en-US" sz="1400" dirty="0"/>
          </a:p>
        </p:txBody>
      </p:sp>
      <p:sp>
        <p:nvSpPr>
          <p:cNvPr id="15" name="Text 13"/>
          <p:cNvSpPr/>
          <p:nvPr/>
        </p:nvSpPr>
        <p:spPr>
          <a:xfrm>
            <a:off x="9098280" y="2423160"/>
            <a:ext cx="2240280" cy="868680"/>
          </a:xfrm>
          <a:prstGeom prst="rect">
            <a:avLst/>
          </a:prstGeom>
          <a:noFill/>
          <a:ln/>
        </p:spPr>
        <p:txBody>
          <a:bodyPr wrap="square" rtlCol="0" anchor="ctr"/>
          <a:lstStyle/>
          <a:p>
            <a:pPr marL="0" indent="0">
              <a:lnSpc>
                <a:spcPct val="115000"/>
              </a:lnSpc>
              <a:buNone/>
            </a:pPr>
            <a:r>
              <a:rPr lang="en-US" sz="1100" dirty="0">
                <a:solidFill>
                  <a:srgbClr val="D7E4E4"/>
                </a:solidFill>
                <a:latin typeface="Calibri" pitchFamily="34" charset="0"/>
                <a:ea typeface="Calibri" pitchFamily="34" charset="-122"/>
                <a:cs typeface="Calibri" pitchFamily="34" charset="-120"/>
              </a:rPr>
              <a:t>816 test videos never used for training or checkpoint selection</a:t>
            </a:r>
            <a:endParaRPr lang="en-US" sz="1100" dirty="0"/>
          </a:p>
        </p:txBody>
      </p:sp>
      <p:sp>
        <p:nvSpPr>
          <p:cNvPr id="16" name="Shape 14"/>
          <p:cNvSpPr/>
          <p:nvPr/>
        </p:nvSpPr>
        <p:spPr>
          <a:xfrm>
            <a:off x="548640" y="3794760"/>
            <a:ext cx="11064240" cy="2148840"/>
          </a:xfrm>
          <a:prstGeom prst="roundRect">
            <a:avLst>
              <a:gd name="adj" fmla="val 4255"/>
            </a:avLst>
          </a:prstGeom>
          <a:solidFill>
            <a:srgbClr val="0B242A"/>
          </a:solidFill>
          <a:ln w="12700">
            <a:solidFill>
              <a:srgbClr val="1C4A52"/>
            </a:solidFill>
            <a:prstDash val="solid"/>
          </a:ln>
        </p:spPr>
        <p:txBody>
          <a:bodyPr/>
          <a:p/>
        </p:txBody>
      </p:sp>
      <p:sp>
        <p:nvSpPr>
          <p:cNvPr id="17" name="Text 15"/>
          <p:cNvSpPr/>
          <p:nvPr/>
        </p:nvSpPr>
        <p:spPr>
          <a:xfrm>
            <a:off x="822960" y="4023360"/>
            <a:ext cx="4572000" cy="365760"/>
          </a:xfrm>
          <a:prstGeom prst="rect">
            <a:avLst/>
          </a:prstGeom>
          <a:noFill/>
          <a:ln/>
        </p:spPr>
        <p:txBody>
          <a:bodyPr wrap="square"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Expected outcome</a:t>
            </a:r>
            <a:endParaRPr lang="en-US" sz="1500" dirty="0"/>
          </a:p>
        </p:txBody>
      </p:sp>
      <p:sp>
        <p:nvSpPr>
          <p:cNvPr id="18" name="Text 16"/>
          <p:cNvSpPr/>
          <p:nvPr/>
        </p:nvSpPr>
        <p:spPr>
          <a:xfrm>
            <a:off x="822960" y="4434840"/>
            <a:ext cx="10515600" cy="1371600"/>
          </a:xfrm>
          <a:prstGeom prst="rect">
            <a:avLst/>
          </a:prstGeom>
          <a:noFill/>
          <a:ln/>
        </p:spPr>
        <p:txBody>
          <a:bodyPr wrap="square" rtlCol="0" anchor="ctr"/>
          <a:lstStyle/>
          <a:p>
            <a:pPr marL="0" indent="0">
              <a:lnSpc>
                <a:spcPct val="125000"/>
              </a:lnSpc>
              <a:buNone/>
            </a:pPr>
            <a:r>
              <a:rPr lang="en-US" sz="1300" dirty="0">
                <a:solidFill>
                  <a:srgbClr val="D7E4E4"/>
                </a:solidFill>
                <a:latin typeface="Calibri" pitchFamily="34" charset="0"/>
                <a:ea typeface="Calibri" pitchFamily="34" charset="-122"/>
                <a:cs typeface="Calibri" pitchFamily="34" charset="-120"/>
              </a:rPr>
              <a:t>A working isolated-sign recognition prototype with text and speech output, with results reported transparently on the locked INCLUDE test set. Published results are shown as context only, because datasets, class counts, splits and metrics differ.</a:t>
            </a:r>
            <a:endParaRPr lang="en-US" sz="1300" dirty="0"/>
          </a:p>
        </p:txBody>
      </p:sp>
      <p:sp>
        <p:nvSpPr>
          <p:cNvPr id="19" name="Text 17"/>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6B7B7D"/>
                </a:solidFill>
                <a:latin typeface="Calibri" pitchFamily="34" charset="0"/>
                <a:ea typeface="Calibri" pitchFamily="34" charset="-122"/>
                <a:cs typeface="Calibri" pitchFamily="34" charset="-120"/>
              </a:rPr>
              <a:t>09</a:t>
            </a:r>
            <a:endParaRPr lang="en-US" sz="1100" dirty="0"/>
          </a:p>
        </p:txBody>
      </p:sp>
      <p:pic>
        <p:nvPicPr>
          <p:cNvPr id="20" name="Picture 19"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pic>
        <p:nvPicPr>
          <p:cNvPr id="2"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3" name="Shape 0"/>
          <p:cNvSpPr/>
          <p:nvPr/>
        </p:nvSpPr>
        <p:spPr>
          <a:xfrm>
            <a:off x="7558851" y="975336"/>
            <a:ext cx="365751" cy="0"/>
          </a:xfrm>
          <a:prstGeom prst="line">
            <a:avLst/>
          </a:prstGeom>
          <a:noFill/>
          <a:ln w="25399">
            <a:solidFill>
              <a:srgbClr val="0E9AA7"/>
            </a:solidFill>
            <a:prstDash val="solid"/>
          </a:ln>
        </p:spPr>
        <p:txBody>
          <a:bodyPr/>
          <a:p/>
        </p:txBody>
      </p:sp>
      <p:sp>
        <p:nvSpPr>
          <p:cNvPr id="4" name="Shape 1"/>
          <p:cNvSpPr/>
          <p:nvPr/>
        </p:nvSpPr>
        <p:spPr>
          <a:xfrm>
            <a:off x="7558851" y="975336"/>
            <a:ext cx="0" cy="365751"/>
          </a:xfrm>
          <a:prstGeom prst="line">
            <a:avLst/>
          </a:prstGeom>
          <a:noFill/>
          <a:ln w="25399">
            <a:solidFill>
              <a:srgbClr val="0E9AA7"/>
            </a:solidFill>
            <a:prstDash val="solid"/>
          </a:ln>
        </p:spPr>
        <p:txBody>
          <a:bodyPr/>
          <a:p/>
        </p:txBody>
      </p:sp>
      <p:sp>
        <p:nvSpPr>
          <p:cNvPr id="5" name="Shape 2"/>
          <p:cNvSpPr/>
          <p:nvPr/>
        </p:nvSpPr>
        <p:spPr>
          <a:xfrm>
            <a:off x="11216360" y="975336"/>
            <a:ext cx="365751" cy="0"/>
          </a:xfrm>
          <a:prstGeom prst="line">
            <a:avLst/>
          </a:prstGeom>
          <a:noFill/>
          <a:ln w="25399">
            <a:solidFill>
              <a:srgbClr val="0E9AA7"/>
            </a:solidFill>
            <a:prstDash val="solid"/>
          </a:ln>
        </p:spPr>
        <p:txBody>
          <a:bodyPr/>
          <a:p/>
        </p:txBody>
      </p:sp>
      <p:sp>
        <p:nvSpPr>
          <p:cNvPr id="6" name="Shape 3"/>
          <p:cNvSpPr/>
          <p:nvPr/>
        </p:nvSpPr>
        <p:spPr>
          <a:xfrm>
            <a:off x="11582110" y="975336"/>
            <a:ext cx="0" cy="365751"/>
          </a:xfrm>
          <a:prstGeom prst="line">
            <a:avLst/>
          </a:prstGeom>
          <a:noFill/>
          <a:ln w="25399">
            <a:solidFill>
              <a:srgbClr val="0E9AA7"/>
            </a:solidFill>
            <a:prstDash val="solid"/>
          </a:ln>
        </p:spPr>
        <p:txBody>
          <a:bodyPr/>
          <a:p/>
        </p:txBody>
      </p:sp>
      <p:sp>
        <p:nvSpPr>
          <p:cNvPr id="7" name="Shape 4"/>
          <p:cNvSpPr/>
          <p:nvPr/>
        </p:nvSpPr>
        <p:spPr>
          <a:xfrm>
            <a:off x="7558851" y="5791055"/>
            <a:ext cx="365751" cy="0"/>
          </a:xfrm>
          <a:prstGeom prst="line">
            <a:avLst/>
          </a:prstGeom>
          <a:noFill/>
          <a:ln w="25399">
            <a:solidFill>
              <a:srgbClr val="0E9AA7"/>
            </a:solidFill>
            <a:prstDash val="solid"/>
          </a:ln>
        </p:spPr>
        <p:txBody>
          <a:bodyPr/>
          <a:p/>
        </p:txBody>
      </p:sp>
      <p:sp>
        <p:nvSpPr>
          <p:cNvPr id="8" name="Shape 5"/>
          <p:cNvSpPr/>
          <p:nvPr/>
        </p:nvSpPr>
        <p:spPr>
          <a:xfrm>
            <a:off x="7558851" y="5425304"/>
            <a:ext cx="0" cy="365751"/>
          </a:xfrm>
          <a:prstGeom prst="line">
            <a:avLst/>
          </a:prstGeom>
          <a:noFill/>
          <a:ln w="25399">
            <a:solidFill>
              <a:srgbClr val="0E9AA7"/>
            </a:solidFill>
            <a:prstDash val="solid"/>
          </a:ln>
        </p:spPr>
        <p:txBody>
          <a:bodyPr/>
          <a:p/>
        </p:txBody>
      </p:sp>
      <p:sp>
        <p:nvSpPr>
          <p:cNvPr id="9" name="Shape 6"/>
          <p:cNvSpPr/>
          <p:nvPr/>
        </p:nvSpPr>
        <p:spPr>
          <a:xfrm>
            <a:off x="11216360" y="5791055"/>
            <a:ext cx="365751" cy="0"/>
          </a:xfrm>
          <a:prstGeom prst="line">
            <a:avLst/>
          </a:prstGeom>
          <a:noFill/>
          <a:ln w="25399">
            <a:solidFill>
              <a:srgbClr val="0E9AA7"/>
            </a:solidFill>
            <a:prstDash val="solid"/>
          </a:ln>
        </p:spPr>
        <p:txBody>
          <a:bodyPr/>
          <a:p/>
        </p:txBody>
      </p:sp>
      <p:sp>
        <p:nvSpPr>
          <p:cNvPr id="10" name="Shape 7"/>
          <p:cNvSpPr/>
          <p:nvPr/>
        </p:nvSpPr>
        <p:spPr>
          <a:xfrm>
            <a:off x="11582110" y="5425304"/>
            <a:ext cx="0" cy="365751"/>
          </a:xfrm>
          <a:prstGeom prst="line">
            <a:avLst/>
          </a:prstGeom>
          <a:noFill/>
          <a:ln w="25399">
            <a:solidFill>
              <a:srgbClr val="0E9AA7"/>
            </a:solidFill>
            <a:prstDash val="solid"/>
          </a:ln>
        </p:spPr>
        <p:txBody>
          <a:bodyPr/>
          <a:p/>
        </p:txBody>
      </p:sp>
      <p:sp>
        <p:nvSpPr>
          <p:cNvPr id="11" name="Shape 8"/>
          <p:cNvSpPr/>
          <p:nvPr/>
        </p:nvSpPr>
        <p:spPr>
          <a:xfrm>
            <a:off x="8936513" y="5022978"/>
            <a:ext cx="633968" cy="402326"/>
          </a:xfrm>
          <a:prstGeom prst="line">
            <a:avLst/>
          </a:prstGeom>
          <a:noFill/>
          <a:ln w="25399">
            <a:solidFill>
              <a:srgbClr val="4D6A8C"/>
            </a:solidFill>
            <a:prstDash val="solid"/>
          </a:ln>
        </p:spPr>
        <p:txBody>
          <a:bodyPr/>
          <a:p/>
        </p:txBody>
      </p:sp>
      <p:sp>
        <p:nvSpPr>
          <p:cNvPr id="12" name="Shape 9"/>
          <p:cNvSpPr/>
          <p:nvPr/>
        </p:nvSpPr>
        <p:spPr>
          <a:xfrm>
            <a:off x="8524433" y="4459722"/>
            <a:ext cx="412079" cy="563256"/>
          </a:xfrm>
          <a:prstGeom prst="line">
            <a:avLst/>
          </a:prstGeom>
          <a:noFill/>
          <a:ln w="25399">
            <a:solidFill>
              <a:srgbClr val="4D6A8C"/>
            </a:solidFill>
            <a:prstDash val="solid"/>
          </a:ln>
        </p:spPr>
        <p:txBody>
          <a:bodyPr/>
          <a:p/>
        </p:txBody>
      </p:sp>
      <p:sp>
        <p:nvSpPr>
          <p:cNvPr id="13" name="Shape 10"/>
          <p:cNvSpPr/>
          <p:nvPr/>
        </p:nvSpPr>
        <p:spPr>
          <a:xfrm>
            <a:off x="8239148" y="3896466"/>
            <a:ext cx="285286" cy="563256"/>
          </a:xfrm>
          <a:prstGeom prst="line">
            <a:avLst/>
          </a:prstGeom>
          <a:noFill/>
          <a:ln w="25399">
            <a:solidFill>
              <a:srgbClr val="4D6A8C"/>
            </a:solidFill>
            <a:prstDash val="solid"/>
          </a:ln>
        </p:spPr>
        <p:txBody>
          <a:bodyPr/>
          <a:p/>
        </p:txBody>
      </p:sp>
      <p:sp>
        <p:nvSpPr>
          <p:cNvPr id="14" name="Shape 11"/>
          <p:cNvSpPr/>
          <p:nvPr/>
        </p:nvSpPr>
        <p:spPr>
          <a:xfrm>
            <a:off x="7985560" y="3413675"/>
            <a:ext cx="253587" cy="482791"/>
          </a:xfrm>
          <a:prstGeom prst="line">
            <a:avLst/>
          </a:prstGeom>
          <a:noFill/>
          <a:ln w="25399">
            <a:solidFill>
              <a:srgbClr val="4D6A8C"/>
            </a:solidFill>
            <a:prstDash val="solid"/>
          </a:ln>
        </p:spPr>
        <p:txBody>
          <a:bodyPr/>
          <a:p/>
        </p:txBody>
      </p:sp>
      <p:sp>
        <p:nvSpPr>
          <p:cNvPr id="15" name="Shape 12"/>
          <p:cNvSpPr/>
          <p:nvPr/>
        </p:nvSpPr>
        <p:spPr>
          <a:xfrm>
            <a:off x="9063306" y="3614838"/>
            <a:ext cx="507175" cy="1810467"/>
          </a:xfrm>
          <a:prstGeom prst="line">
            <a:avLst/>
          </a:prstGeom>
          <a:noFill/>
          <a:ln w="25399">
            <a:solidFill>
              <a:srgbClr val="4D6A8C"/>
            </a:solidFill>
            <a:prstDash val="solid"/>
          </a:ln>
        </p:spPr>
        <p:txBody>
          <a:bodyPr/>
          <a:p/>
        </p:txBody>
      </p:sp>
      <p:sp>
        <p:nvSpPr>
          <p:cNvPr id="16" name="Shape 13"/>
          <p:cNvSpPr/>
          <p:nvPr/>
        </p:nvSpPr>
        <p:spPr>
          <a:xfrm>
            <a:off x="8936513" y="2850418"/>
            <a:ext cx="126794" cy="764419"/>
          </a:xfrm>
          <a:prstGeom prst="line">
            <a:avLst/>
          </a:prstGeom>
          <a:noFill/>
          <a:ln w="25399">
            <a:solidFill>
              <a:srgbClr val="4D6A8C"/>
            </a:solidFill>
            <a:prstDash val="solid"/>
          </a:ln>
        </p:spPr>
        <p:txBody>
          <a:bodyPr/>
          <a:p/>
        </p:txBody>
      </p:sp>
      <p:sp>
        <p:nvSpPr>
          <p:cNvPr id="17" name="Shape 14"/>
          <p:cNvSpPr/>
          <p:nvPr/>
        </p:nvSpPr>
        <p:spPr>
          <a:xfrm>
            <a:off x="8873116" y="2287162"/>
            <a:ext cx="63397" cy="563256"/>
          </a:xfrm>
          <a:prstGeom prst="line">
            <a:avLst/>
          </a:prstGeom>
          <a:noFill/>
          <a:ln w="25399">
            <a:solidFill>
              <a:srgbClr val="4D6A8C"/>
            </a:solidFill>
            <a:prstDash val="solid"/>
          </a:ln>
        </p:spPr>
        <p:txBody>
          <a:bodyPr/>
          <a:p/>
        </p:txBody>
      </p:sp>
      <p:sp>
        <p:nvSpPr>
          <p:cNvPr id="18" name="Shape 15"/>
          <p:cNvSpPr/>
          <p:nvPr/>
        </p:nvSpPr>
        <p:spPr>
          <a:xfrm>
            <a:off x="8841417" y="1804371"/>
            <a:ext cx="31698" cy="482791"/>
          </a:xfrm>
          <a:prstGeom prst="line">
            <a:avLst/>
          </a:prstGeom>
          <a:noFill/>
          <a:ln w="25399">
            <a:solidFill>
              <a:srgbClr val="4D6A8C"/>
            </a:solidFill>
            <a:prstDash val="solid"/>
          </a:ln>
        </p:spPr>
        <p:txBody>
          <a:bodyPr/>
          <a:p/>
        </p:txBody>
      </p:sp>
      <p:sp>
        <p:nvSpPr>
          <p:cNvPr id="19" name="Shape 16"/>
          <p:cNvSpPr/>
          <p:nvPr/>
        </p:nvSpPr>
        <p:spPr>
          <a:xfrm flipV="1">
            <a:off x="9063306" y="3494140"/>
            <a:ext cx="507175" cy="120698"/>
          </a:xfrm>
          <a:prstGeom prst="line">
            <a:avLst/>
          </a:prstGeom>
          <a:noFill/>
          <a:ln w="25399">
            <a:solidFill>
              <a:srgbClr val="4D6A8C"/>
            </a:solidFill>
            <a:prstDash val="solid"/>
          </a:ln>
        </p:spPr>
        <p:txBody>
          <a:bodyPr/>
          <a:p/>
        </p:txBody>
      </p:sp>
      <p:sp>
        <p:nvSpPr>
          <p:cNvPr id="20" name="Shape 17"/>
          <p:cNvSpPr/>
          <p:nvPr/>
        </p:nvSpPr>
        <p:spPr>
          <a:xfrm>
            <a:off x="9570481" y="2609023"/>
            <a:ext cx="0" cy="885117"/>
          </a:xfrm>
          <a:prstGeom prst="line">
            <a:avLst/>
          </a:prstGeom>
          <a:noFill/>
          <a:ln w="25399">
            <a:solidFill>
              <a:srgbClr val="4D6A8C"/>
            </a:solidFill>
            <a:prstDash val="solid"/>
          </a:ln>
        </p:spPr>
        <p:txBody>
          <a:bodyPr/>
          <a:p/>
        </p:txBody>
      </p:sp>
      <p:sp>
        <p:nvSpPr>
          <p:cNvPr id="21" name="Shape 18"/>
          <p:cNvSpPr/>
          <p:nvPr/>
        </p:nvSpPr>
        <p:spPr>
          <a:xfrm>
            <a:off x="9570481" y="2005534"/>
            <a:ext cx="0" cy="603489"/>
          </a:xfrm>
          <a:prstGeom prst="line">
            <a:avLst/>
          </a:prstGeom>
          <a:noFill/>
          <a:ln w="25399">
            <a:solidFill>
              <a:srgbClr val="4D6A8C"/>
            </a:solidFill>
            <a:prstDash val="solid"/>
          </a:ln>
        </p:spPr>
        <p:txBody>
          <a:bodyPr/>
          <a:p/>
        </p:txBody>
      </p:sp>
      <p:sp>
        <p:nvSpPr>
          <p:cNvPr id="22" name="Shape 19"/>
          <p:cNvSpPr/>
          <p:nvPr/>
        </p:nvSpPr>
        <p:spPr>
          <a:xfrm>
            <a:off x="9570481" y="1482510"/>
            <a:ext cx="0" cy="523024"/>
          </a:xfrm>
          <a:prstGeom prst="line">
            <a:avLst/>
          </a:prstGeom>
          <a:noFill/>
          <a:ln w="25399">
            <a:solidFill>
              <a:srgbClr val="4D6A8C"/>
            </a:solidFill>
            <a:prstDash val="solid"/>
          </a:ln>
        </p:spPr>
        <p:txBody>
          <a:bodyPr/>
          <a:p/>
        </p:txBody>
      </p:sp>
      <p:sp>
        <p:nvSpPr>
          <p:cNvPr id="23" name="Shape 20"/>
          <p:cNvSpPr/>
          <p:nvPr/>
        </p:nvSpPr>
        <p:spPr>
          <a:xfrm>
            <a:off x="9570481" y="3494140"/>
            <a:ext cx="475476" cy="120698"/>
          </a:xfrm>
          <a:prstGeom prst="line">
            <a:avLst/>
          </a:prstGeom>
          <a:noFill/>
          <a:ln w="25399">
            <a:solidFill>
              <a:srgbClr val="4D6A8C"/>
            </a:solidFill>
            <a:prstDash val="solid"/>
          </a:ln>
        </p:spPr>
        <p:txBody>
          <a:bodyPr/>
          <a:p/>
        </p:txBody>
      </p:sp>
      <p:sp>
        <p:nvSpPr>
          <p:cNvPr id="24" name="Shape 21"/>
          <p:cNvSpPr/>
          <p:nvPr/>
        </p:nvSpPr>
        <p:spPr>
          <a:xfrm flipV="1">
            <a:off x="10045957" y="2769953"/>
            <a:ext cx="95095" cy="844884"/>
          </a:xfrm>
          <a:prstGeom prst="line">
            <a:avLst/>
          </a:prstGeom>
          <a:noFill/>
          <a:ln w="25399">
            <a:solidFill>
              <a:srgbClr val="4D6A8C"/>
            </a:solidFill>
            <a:prstDash val="solid"/>
          </a:ln>
        </p:spPr>
        <p:txBody>
          <a:bodyPr/>
          <a:p/>
        </p:txBody>
      </p:sp>
      <p:sp>
        <p:nvSpPr>
          <p:cNvPr id="25" name="Shape 22"/>
          <p:cNvSpPr/>
          <p:nvPr/>
        </p:nvSpPr>
        <p:spPr>
          <a:xfrm flipV="1">
            <a:off x="10141052" y="2206697"/>
            <a:ext cx="63397" cy="563256"/>
          </a:xfrm>
          <a:prstGeom prst="line">
            <a:avLst/>
          </a:prstGeom>
          <a:noFill/>
          <a:ln w="25399">
            <a:solidFill>
              <a:srgbClr val="4D6A8C"/>
            </a:solidFill>
            <a:prstDash val="solid"/>
          </a:ln>
        </p:spPr>
        <p:txBody>
          <a:bodyPr/>
          <a:p/>
        </p:txBody>
      </p:sp>
      <p:sp>
        <p:nvSpPr>
          <p:cNvPr id="26" name="Shape 23"/>
          <p:cNvSpPr/>
          <p:nvPr/>
        </p:nvSpPr>
        <p:spPr>
          <a:xfrm flipV="1">
            <a:off x="10204449" y="1723906"/>
            <a:ext cx="31698" cy="482791"/>
          </a:xfrm>
          <a:prstGeom prst="line">
            <a:avLst/>
          </a:prstGeom>
          <a:noFill/>
          <a:ln w="25399">
            <a:solidFill>
              <a:srgbClr val="4D6A8C"/>
            </a:solidFill>
            <a:prstDash val="solid"/>
          </a:ln>
        </p:spPr>
        <p:txBody>
          <a:bodyPr/>
          <a:p/>
        </p:txBody>
      </p:sp>
      <p:sp>
        <p:nvSpPr>
          <p:cNvPr id="27" name="Shape 24"/>
          <p:cNvSpPr/>
          <p:nvPr/>
        </p:nvSpPr>
        <p:spPr>
          <a:xfrm>
            <a:off x="10045957" y="3614838"/>
            <a:ext cx="443778" cy="281628"/>
          </a:xfrm>
          <a:prstGeom prst="line">
            <a:avLst/>
          </a:prstGeom>
          <a:noFill/>
          <a:ln w="25399">
            <a:solidFill>
              <a:srgbClr val="4D6A8C"/>
            </a:solidFill>
            <a:prstDash val="solid"/>
          </a:ln>
        </p:spPr>
        <p:txBody>
          <a:bodyPr/>
          <a:p/>
        </p:txBody>
      </p:sp>
      <p:sp>
        <p:nvSpPr>
          <p:cNvPr id="28" name="Shape 25"/>
          <p:cNvSpPr/>
          <p:nvPr/>
        </p:nvSpPr>
        <p:spPr>
          <a:xfrm flipV="1">
            <a:off x="10489735" y="3252744"/>
            <a:ext cx="221889" cy="643722"/>
          </a:xfrm>
          <a:prstGeom prst="line">
            <a:avLst/>
          </a:prstGeom>
          <a:noFill/>
          <a:ln w="25399">
            <a:solidFill>
              <a:srgbClr val="4D6A8C"/>
            </a:solidFill>
            <a:prstDash val="solid"/>
          </a:ln>
        </p:spPr>
        <p:txBody>
          <a:bodyPr/>
          <a:p/>
        </p:txBody>
      </p:sp>
      <p:sp>
        <p:nvSpPr>
          <p:cNvPr id="29" name="Shape 26"/>
          <p:cNvSpPr/>
          <p:nvPr/>
        </p:nvSpPr>
        <p:spPr>
          <a:xfrm flipV="1">
            <a:off x="10711623" y="2850418"/>
            <a:ext cx="126794" cy="402326"/>
          </a:xfrm>
          <a:prstGeom prst="line">
            <a:avLst/>
          </a:prstGeom>
          <a:noFill/>
          <a:ln w="25399">
            <a:solidFill>
              <a:srgbClr val="4D6A8C"/>
            </a:solidFill>
            <a:prstDash val="solid"/>
          </a:ln>
        </p:spPr>
        <p:txBody>
          <a:bodyPr/>
          <a:p/>
        </p:txBody>
      </p:sp>
      <p:sp>
        <p:nvSpPr>
          <p:cNvPr id="30" name="Shape 27"/>
          <p:cNvSpPr/>
          <p:nvPr/>
        </p:nvSpPr>
        <p:spPr>
          <a:xfrm flipV="1">
            <a:off x="10838417" y="2448092"/>
            <a:ext cx="95095" cy="402326"/>
          </a:xfrm>
          <a:prstGeom prst="line">
            <a:avLst/>
          </a:prstGeom>
          <a:noFill/>
          <a:ln w="25399">
            <a:solidFill>
              <a:srgbClr val="4D6A8C"/>
            </a:solidFill>
            <a:prstDash val="solid"/>
          </a:ln>
        </p:spPr>
        <p:txBody>
          <a:bodyPr/>
          <a:p/>
        </p:txBody>
      </p:sp>
      <p:sp>
        <p:nvSpPr>
          <p:cNvPr id="31" name="Shape 28"/>
          <p:cNvSpPr/>
          <p:nvPr/>
        </p:nvSpPr>
        <p:spPr>
          <a:xfrm flipV="1">
            <a:off x="9570481" y="3896466"/>
            <a:ext cx="919254" cy="1528839"/>
          </a:xfrm>
          <a:prstGeom prst="line">
            <a:avLst/>
          </a:prstGeom>
          <a:noFill/>
          <a:ln w="25399">
            <a:solidFill>
              <a:srgbClr val="4D6A8C"/>
            </a:solidFill>
            <a:prstDash val="solid"/>
          </a:ln>
        </p:spPr>
        <p:txBody>
          <a:bodyPr/>
          <a:p/>
        </p:txBody>
      </p:sp>
      <p:sp>
        <p:nvSpPr>
          <p:cNvPr id="32" name="Shape 29"/>
          <p:cNvSpPr/>
          <p:nvPr/>
        </p:nvSpPr>
        <p:spPr>
          <a:xfrm>
            <a:off x="9509522" y="5364346"/>
            <a:ext cx="121917" cy="121917"/>
          </a:xfrm>
          <a:prstGeom prst="ellipse">
            <a:avLst/>
          </a:prstGeom>
          <a:solidFill>
            <a:srgbClr val="0E9AA7"/>
          </a:solidFill>
          <a:ln w="12700">
            <a:solidFill>
              <a:srgbClr val="0F1B2D"/>
            </a:solidFill>
            <a:prstDash val="solid"/>
          </a:ln>
        </p:spPr>
        <p:txBody>
          <a:bodyPr/>
          <a:p/>
        </p:txBody>
      </p:sp>
      <p:sp>
        <p:nvSpPr>
          <p:cNvPr id="33" name="Shape 30"/>
          <p:cNvSpPr/>
          <p:nvPr/>
        </p:nvSpPr>
        <p:spPr>
          <a:xfrm>
            <a:off x="8875554" y="4962020"/>
            <a:ext cx="121917" cy="121917"/>
          </a:xfrm>
          <a:prstGeom prst="ellipse">
            <a:avLst/>
          </a:prstGeom>
          <a:solidFill>
            <a:srgbClr val="0E9AA7"/>
          </a:solidFill>
          <a:ln w="12700">
            <a:solidFill>
              <a:srgbClr val="0F1B2D"/>
            </a:solidFill>
            <a:prstDash val="solid"/>
          </a:ln>
        </p:spPr>
        <p:txBody>
          <a:bodyPr/>
          <a:p/>
        </p:txBody>
      </p:sp>
      <p:sp>
        <p:nvSpPr>
          <p:cNvPr id="34" name="Shape 31"/>
          <p:cNvSpPr/>
          <p:nvPr/>
        </p:nvSpPr>
        <p:spPr>
          <a:xfrm>
            <a:off x="8463475" y="4398764"/>
            <a:ext cx="121917" cy="121917"/>
          </a:xfrm>
          <a:prstGeom prst="ellipse">
            <a:avLst/>
          </a:prstGeom>
          <a:solidFill>
            <a:srgbClr val="0E9AA7"/>
          </a:solidFill>
          <a:ln w="12700">
            <a:solidFill>
              <a:srgbClr val="0F1B2D"/>
            </a:solidFill>
            <a:prstDash val="solid"/>
          </a:ln>
        </p:spPr>
        <p:txBody>
          <a:bodyPr/>
          <a:p/>
        </p:txBody>
      </p:sp>
      <p:sp>
        <p:nvSpPr>
          <p:cNvPr id="35" name="Shape 32"/>
          <p:cNvSpPr/>
          <p:nvPr/>
        </p:nvSpPr>
        <p:spPr>
          <a:xfrm>
            <a:off x="8178189" y="3835507"/>
            <a:ext cx="121917" cy="121917"/>
          </a:xfrm>
          <a:prstGeom prst="ellipse">
            <a:avLst/>
          </a:prstGeom>
          <a:solidFill>
            <a:srgbClr val="0E9AA7"/>
          </a:solidFill>
          <a:ln w="12700">
            <a:solidFill>
              <a:srgbClr val="0F1B2D"/>
            </a:solidFill>
            <a:prstDash val="solid"/>
          </a:ln>
        </p:spPr>
        <p:txBody>
          <a:bodyPr/>
          <a:p/>
        </p:txBody>
      </p:sp>
      <p:sp>
        <p:nvSpPr>
          <p:cNvPr id="36" name="Shape 33"/>
          <p:cNvSpPr/>
          <p:nvPr/>
        </p:nvSpPr>
        <p:spPr>
          <a:xfrm>
            <a:off x="7906314" y="3334429"/>
            <a:ext cx="158492" cy="158492"/>
          </a:xfrm>
          <a:prstGeom prst="ellipse">
            <a:avLst/>
          </a:prstGeom>
          <a:solidFill>
            <a:srgbClr val="F5B031"/>
          </a:solidFill>
          <a:ln w="12700">
            <a:solidFill>
              <a:srgbClr val="0F1B2D"/>
            </a:solidFill>
            <a:prstDash val="solid"/>
          </a:ln>
        </p:spPr>
        <p:txBody>
          <a:bodyPr/>
          <a:p/>
        </p:txBody>
      </p:sp>
      <p:sp>
        <p:nvSpPr>
          <p:cNvPr id="37" name="Shape 34"/>
          <p:cNvSpPr/>
          <p:nvPr/>
        </p:nvSpPr>
        <p:spPr>
          <a:xfrm>
            <a:off x="9002348" y="3553879"/>
            <a:ext cx="121917" cy="121917"/>
          </a:xfrm>
          <a:prstGeom prst="ellipse">
            <a:avLst/>
          </a:prstGeom>
          <a:solidFill>
            <a:srgbClr val="0E9AA7"/>
          </a:solidFill>
          <a:ln w="12700">
            <a:solidFill>
              <a:srgbClr val="0F1B2D"/>
            </a:solidFill>
            <a:prstDash val="solid"/>
          </a:ln>
        </p:spPr>
        <p:txBody>
          <a:bodyPr/>
          <a:p/>
        </p:txBody>
      </p:sp>
      <p:sp>
        <p:nvSpPr>
          <p:cNvPr id="38" name="Shape 35"/>
          <p:cNvSpPr/>
          <p:nvPr/>
        </p:nvSpPr>
        <p:spPr>
          <a:xfrm>
            <a:off x="8875554" y="2789460"/>
            <a:ext cx="121917" cy="121917"/>
          </a:xfrm>
          <a:prstGeom prst="ellipse">
            <a:avLst/>
          </a:prstGeom>
          <a:solidFill>
            <a:srgbClr val="0E9AA7"/>
          </a:solidFill>
          <a:ln w="12700">
            <a:solidFill>
              <a:srgbClr val="0F1B2D"/>
            </a:solidFill>
            <a:prstDash val="solid"/>
          </a:ln>
        </p:spPr>
        <p:txBody>
          <a:bodyPr/>
          <a:p/>
        </p:txBody>
      </p:sp>
      <p:sp>
        <p:nvSpPr>
          <p:cNvPr id="39" name="Shape 36"/>
          <p:cNvSpPr/>
          <p:nvPr/>
        </p:nvSpPr>
        <p:spPr>
          <a:xfrm>
            <a:off x="8812157" y="2226204"/>
            <a:ext cx="121917" cy="121917"/>
          </a:xfrm>
          <a:prstGeom prst="ellipse">
            <a:avLst/>
          </a:prstGeom>
          <a:solidFill>
            <a:srgbClr val="0E9AA7"/>
          </a:solidFill>
          <a:ln w="12700">
            <a:solidFill>
              <a:srgbClr val="0F1B2D"/>
            </a:solidFill>
            <a:prstDash val="solid"/>
          </a:ln>
        </p:spPr>
        <p:txBody>
          <a:bodyPr/>
          <a:p/>
        </p:txBody>
      </p:sp>
      <p:sp>
        <p:nvSpPr>
          <p:cNvPr id="40" name="Shape 37"/>
          <p:cNvSpPr/>
          <p:nvPr/>
        </p:nvSpPr>
        <p:spPr>
          <a:xfrm>
            <a:off x="8762171" y="1725125"/>
            <a:ext cx="158492" cy="158492"/>
          </a:xfrm>
          <a:prstGeom prst="ellipse">
            <a:avLst/>
          </a:prstGeom>
          <a:solidFill>
            <a:srgbClr val="F5B031"/>
          </a:solidFill>
          <a:ln w="12700">
            <a:solidFill>
              <a:srgbClr val="0F1B2D"/>
            </a:solidFill>
            <a:prstDash val="solid"/>
          </a:ln>
        </p:spPr>
        <p:txBody>
          <a:bodyPr/>
          <a:p/>
        </p:txBody>
      </p:sp>
      <p:sp>
        <p:nvSpPr>
          <p:cNvPr id="41" name="Shape 38"/>
          <p:cNvSpPr/>
          <p:nvPr/>
        </p:nvSpPr>
        <p:spPr>
          <a:xfrm>
            <a:off x="9509522" y="3433181"/>
            <a:ext cx="121917" cy="121917"/>
          </a:xfrm>
          <a:prstGeom prst="ellipse">
            <a:avLst/>
          </a:prstGeom>
          <a:solidFill>
            <a:srgbClr val="0E9AA7"/>
          </a:solidFill>
          <a:ln w="12700">
            <a:solidFill>
              <a:srgbClr val="0F1B2D"/>
            </a:solidFill>
            <a:prstDash val="solid"/>
          </a:ln>
        </p:spPr>
        <p:txBody>
          <a:bodyPr/>
          <a:p/>
        </p:txBody>
      </p:sp>
      <p:sp>
        <p:nvSpPr>
          <p:cNvPr id="42" name="Shape 39"/>
          <p:cNvSpPr/>
          <p:nvPr/>
        </p:nvSpPr>
        <p:spPr>
          <a:xfrm>
            <a:off x="9509522" y="2548064"/>
            <a:ext cx="121917" cy="121917"/>
          </a:xfrm>
          <a:prstGeom prst="ellipse">
            <a:avLst/>
          </a:prstGeom>
          <a:solidFill>
            <a:srgbClr val="0E9AA7"/>
          </a:solidFill>
          <a:ln w="12700">
            <a:solidFill>
              <a:srgbClr val="0F1B2D"/>
            </a:solidFill>
            <a:prstDash val="solid"/>
          </a:ln>
        </p:spPr>
        <p:txBody>
          <a:bodyPr/>
          <a:p/>
        </p:txBody>
      </p:sp>
      <p:sp>
        <p:nvSpPr>
          <p:cNvPr id="43" name="Shape 40"/>
          <p:cNvSpPr/>
          <p:nvPr/>
        </p:nvSpPr>
        <p:spPr>
          <a:xfrm>
            <a:off x="9509522" y="1944575"/>
            <a:ext cx="121917" cy="121917"/>
          </a:xfrm>
          <a:prstGeom prst="ellipse">
            <a:avLst/>
          </a:prstGeom>
          <a:solidFill>
            <a:srgbClr val="0E9AA7"/>
          </a:solidFill>
          <a:ln w="12700">
            <a:solidFill>
              <a:srgbClr val="0F1B2D"/>
            </a:solidFill>
            <a:prstDash val="solid"/>
          </a:ln>
        </p:spPr>
        <p:txBody>
          <a:bodyPr/>
          <a:p/>
        </p:txBody>
      </p:sp>
      <p:sp>
        <p:nvSpPr>
          <p:cNvPr id="44" name="Shape 41"/>
          <p:cNvSpPr/>
          <p:nvPr/>
        </p:nvSpPr>
        <p:spPr>
          <a:xfrm>
            <a:off x="9491235" y="1403264"/>
            <a:ext cx="158492" cy="158492"/>
          </a:xfrm>
          <a:prstGeom prst="ellipse">
            <a:avLst/>
          </a:prstGeom>
          <a:solidFill>
            <a:srgbClr val="F5B031"/>
          </a:solidFill>
          <a:ln w="12700">
            <a:solidFill>
              <a:srgbClr val="0F1B2D"/>
            </a:solidFill>
            <a:prstDash val="solid"/>
          </a:ln>
        </p:spPr>
        <p:txBody>
          <a:bodyPr/>
          <a:p/>
        </p:txBody>
      </p:sp>
      <p:sp>
        <p:nvSpPr>
          <p:cNvPr id="45" name="Shape 42"/>
          <p:cNvSpPr/>
          <p:nvPr/>
        </p:nvSpPr>
        <p:spPr>
          <a:xfrm>
            <a:off x="9984998" y="3553879"/>
            <a:ext cx="121917" cy="121917"/>
          </a:xfrm>
          <a:prstGeom prst="ellipse">
            <a:avLst/>
          </a:prstGeom>
          <a:solidFill>
            <a:srgbClr val="0E9AA7"/>
          </a:solidFill>
          <a:ln w="12700">
            <a:solidFill>
              <a:srgbClr val="0F1B2D"/>
            </a:solidFill>
            <a:prstDash val="solid"/>
          </a:ln>
        </p:spPr>
        <p:txBody>
          <a:bodyPr/>
          <a:p/>
        </p:txBody>
      </p:sp>
      <p:sp>
        <p:nvSpPr>
          <p:cNvPr id="46" name="Shape 43"/>
          <p:cNvSpPr/>
          <p:nvPr/>
        </p:nvSpPr>
        <p:spPr>
          <a:xfrm>
            <a:off x="10080094" y="2708995"/>
            <a:ext cx="121917" cy="121917"/>
          </a:xfrm>
          <a:prstGeom prst="ellipse">
            <a:avLst/>
          </a:prstGeom>
          <a:solidFill>
            <a:srgbClr val="0E9AA7"/>
          </a:solidFill>
          <a:ln w="12700">
            <a:solidFill>
              <a:srgbClr val="0F1B2D"/>
            </a:solidFill>
            <a:prstDash val="solid"/>
          </a:ln>
        </p:spPr>
        <p:txBody>
          <a:bodyPr/>
          <a:p/>
        </p:txBody>
      </p:sp>
      <p:sp>
        <p:nvSpPr>
          <p:cNvPr id="47" name="Shape 44"/>
          <p:cNvSpPr/>
          <p:nvPr/>
        </p:nvSpPr>
        <p:spPr>
          <a:xfrm>
            <a:off x="10143490" y="2145738"/>
            <a:ext cx="121917" cy="121917"/>
          </a:xfrm>
          <a:prstGeom prst="ellipse">
            <a:avLst/>
          </a:prstGeom>
          <a:solidFill>
            <a:srgbClr val="0E9AA7"/>
          </a:solidFill>
          <a:ln w="12700">
            <a:solidFill>
              <a:srgbClr val="0F1B2D"/>
            </a:solidFill>
            <a:prstDash val="solid"/>
          </a:ln>
        </p:spPr>
        <p:txBody>
          <a:bodyPr/>
          <a:p/>
        </p:txBody>
      </p:sp>
      <p:sp>
        <p:nvSpPr>
          <p:cNvPr id="48" name="Shape 45"/>
          <p:cNvSpPr/>
          <p:nvPr/>
        </p:nvSpPr>
        <p:spPr>
          <a:xfrm>
            <a:off x="10156901" y="1644660"/>
            <a:ext cx="158492" cy="158492"/>
          </a:xfrm>
          <a:prstGeom prst="ellipse">
            <a:avLst/>
          </a:prstGeom>
          <a:solidFill>
            <a:srgbClr val="F5B031"/>
          </a:solidFill>
          <a:ln w="12700">
            <a:solidFill>
              <a:srgbClr val="0F1B2D"/>
            </a:solidFill>
            <a:prstDash val="solid"/>
          </a:ln>
        </p:spPr>
        <p:txBody>
          <a:bodyPr/>
          <a:p/>
        </p:txBody>
      </p:sp>
      <p:sp>
        <p:nvSpPr>
          <p:cNvPr id="49" name="Shape 46"/>
          <p:cNvSpPr/>
          <p:nvPr/>
        </p:nvSpPr>
        <p:spPr>
          <a:xfrm>
            <a:off x="10428776" y="3835507"/>
            <a:ext cx="121917" cy="121917"/>
          </a:xfrm>
          <a:prstGeom prst="ellipse">
            <a:avLst/>
          </a:prstGeom>
          <a:solidFill>
            <a:srgbClr val="0E9AA7"/>
          </a:solidFill>
          <a:ln w="12700">
            <a:solidFill>
              <a:srgbClr val="0F1B2D"/>
            </a:solidFill>
            <a:prstDash val="solid"/>
          </a:ln>
        </p:spPr>
        <p:txBody>
          <a:bodyPr/>
          <a:p/>
        </p:txBody>
      </p:sp>
      <p:sp>
        <p:nvSpPr>
          <p:cNvPr id="50" name="Shape 47"/>
          <p:cNvSpPr/>
          <p:nvPr/>
        </p:nvSpPr>
        <p:spPr>
          <a:xfrm>
            <a:off x="10650665" y="3191786"/>
            <a:ext cx="121917" cy="121917"/>
          </a:xfrm>
          <a:prstGeom prst="ellipse">
            <a:avLst/>
          </a:prstGeom>
          <a:solidFill>
            <a:srgbClr val="0E9AA7"/>
          </a:solidFill>
          <a:ln w="12700">
            <a:solidFill>
              <a:srgbClr val="0F1B2D"/>
            </a:solidFill>
            <a:prstDash val="solid"/>
          </a:ln>
        </p:spPr>
        <p:txBody>
          <a:bodyPr/>
          <a:p/>
        </p:txBody>
      </p:sp>
      <p:sp>
        <p:nvSpPr>
          <p:cNvPr id="51" name="Shape 48"/>
          <p:cNvSpPr/>
          <p:nvPr/>
        </p:nvSpPr>
        <p:spPr>
          <a:xfrm>
            <a:off x="10777459" y="2789460"/>
            <a:ext cx="121917" cy="121917"/>
          </a:xfrm>
          <a:prstGeom prst="ellipse">
            <a:avLst/>
          </a:prstGeom>
          <a:solidFill>
            <a:srgbClr val="0E9AA7"/>
          </a:solidFill>
          <a:ln w="12700">
            <a:solidFill>
              <a:srgbClr val="0F1B2D"/>
            </a:solidFill>
            <a:prstDash val="solid"/>
          </a:ln>
        </p:spPr>
        <p:txBody>
          <a:bodyPr/>
          <a:p/>
        </p:txBody>
      </p:sp>
      <p:sp>
        <p:nvSpPr>
          <p:cNvPr id="52" name="Shape 49"/>
          <p:cNvSpPr/>
          <p:nvPr/>
        </p:nvSpPr>
        <p:spPr>
          <a:xfrm>
            <a:off x="10854266" y="2368846"/>
            <a:ext cx="158492" cy="158492"/>
          </a:xfrm>
          <a:prstGeom prst="ellipse">
            <a:avLst/>
          </a:prstGeom>
          <a:solidFill>
            <a:srgbClr val="F5B031"/>
          </a:solidFill>
          <a:ln w="12700">
            <a:solidFill>
              <a:srgbClr val="0F1B2D"/>
            </a:solidFill>
            <a:prstDash val="solid"/>
          </a:ln>
        </p:spPr>
        <p:txBody>
          <a:bodyPr/>
          <a:p/>
        </p:txBody>
      </p:sp>
      <p:sp>
        <p:nvSpPr>
          <p:cNvPr id="53" name="Shape 50"/>
          <p:cNvSpPr/>
          <p:nvPr/>
        </p:nvSpPr>
        <p:spPr>
          <a:xfrm>
            <a:off x="731502" y="1158211"/>
            <a:ext cx="3108882" cy="365751"/>
          </a:xfrm>
          <a:prstGeom prst="roundRect">
            <a:avLst>
              <a:gd name="adj" fmla="val 50000"/>
            </a:avLst>
          </a:prstGeom>
          <a:solidFill>
            <a:srgbClr val="2A3C57"/>
          </a:solidFill>
          <a:ln w="12700">
            <a:solidFill>
              <a:srgbClr val="2A3C57"/>
            </a:solidFill>
            <a:prstDash val="solid"/>
          </a:ln>
        </p:spPr>
        <p:txBody>
          <a:bodyPr/>
          <a:p/>
        </p:txBody>
      </p:sp>
      <p:sp>
        <p:nvSpPr>
          <p:cNvPr id="54" name="Text 51"/>
          <p:cNvSpPr txBox="1"/>
          <p:nvPr/>
        </p:nvSpPr>
        <p:spPr>
          <a:xfrm>
            <a:off x="731502" y="1158211"/>
            <a:ext cx="3108882" cy="365751"/>
          </a:xfrm>
          <a:prstGeom prst="rect">
            <a:avLst/>
          </a:prstGeom>
          <a:noFill/>
          <a:ln/>
        </p:spPr>
        <p:txBody>
          <a:bodyPr wrap="square" lIns="0" tIns="0" rIns="0" bIns="0" rtlCol="0" anchor="ctr"/>
          <a:lstStyle/>
          <a:p>
            <a:pPr algn="ctr" indent="0" marL="0">
              <a:buNone/>
            </a:pPr>
            <a:r>
              <a:rPr lang="en-US" sz="1267" b="1" spc="200" kern="0" dirty="0">
                <a:solidFill>
                  <a:srgbClr val="F5B031"/>
                </a:solidFill>
                <a:latin typeface="Calibri" pitchFamily="34" charset="0"/>
                <a:ea typeface="Calibri" pitchFamily="34" charset="-122"/>
                <a:cs typeface="Calibri" pitchFamily="34" charset="-120"/>
              </a:rPr>
              <a:t>REVIEW-2  ·  PRACTICAL LAB</a:t>
            </a:r>
            <a:endParaRPr lang="en-US" sz="1267" dirty="0"/>
          </a:p>
        </p:txBody>
      </p:sp>
      <p:sp>
        <p:nvSpPr>
          <p:cNvPr id="55" name="Text 52"/>
          <p:cNvSpPr txBox="1"/>
          <p:nvPr/>
        </p:nvSpPr>
        <p:spPr>
          <a:xfrm>
            <a:off x="731502" y="1767796"/>
            <a:ext cx="6461598" cy="2011630"/>
          </a:xfrm>
          <a:prstGeom prst="rect">
            <a:avLst/>
          </a:prstGeom>
          <a:noFill/>
          <a:ln/>
        </p:spPr>
        <p:txBody>
          <a:bodyPr wrap="square" lIns="0" tIns="0" rIns="0" bIns="0" rtlCol="0" anchor="t"/>
          <a:lstStyle/>
          <a:p>
            <a:pPr indent="0" marL="0">
              <a:lnSpc>
                <a:spcPct val="95000"/>
              </a:lnSpc>
              <a:buNone/>
            </a:pPr>
            <a:r>
              <a:rPr lang="en-US" sz="4267" b="1" dirty="0">
                <a:solidFill>
                  <a:srgbClr val="FFFFFF"/>
                </a:solidFill>
                <a:latin typeface="Cambria" pitchFamily="34" charset="0"/>
                <a:ea typeface="Cambria" pitchFamily="34" charset="-122"/>
                <a:cs typeface="Cambria" pitchFamily="34" charset="-120"/>
              </a:rPr>
              <a:t>AI-Based Hand Gesture Recognition for Sign Language Communication</a:t>
            </a:r>
            <a:endParaRPr lang="en-US" sz="4267" dirty="0"/>
          </a:p>
        </p:txBody>
      </p:sp>
      <p:sp>
        <p:nvSpPr>
          <p:cNvPr id="56" name="Text 53"/>
          <p:cNvSpPr txBox="1"/>
          <p:nvPr/>
        </p:nvSpPr>
        <p:spPr>
          <a:xfrm>
            <a:off x="731502" y="3901342"/>
            <a:ext cx="6339682" cy="877802"/>
          </a:xfrm>
          <a:prstGeom prst="rect">
            <a:avLst/>
          </a:prstGeom>
          <a:noFill/>
          <a:ln/>
        </p:spPr>
        <p:txBody>
          <a:bodyPr wrap="square" lIns="0" tIns="0" rIns="0" bIns="0" rtlCol="0" anchor="t"/>
          <a:lstStyle/>
          <a:p>
            <a:pPr indent="0" marL="0">
              <a:buNone/>
            </a:pPr>
            <a:r>
              <a:rPr lang="en-US" sz="1733" dirty="0">
                <a:solidFill>
                  <a:srgbClr val="C3CEDD"/>
                </a:solidFill>
                <a:latin typeface="Calibri" pitchFamily="34" charset="0"/>
                <a:ea typeface="Calibri" pitchFamily="34" charset="-122"/>
                <a:cs typeface="Calibri" pitchFamily="34" charset="-120"/>
              </a:rPr>
              <a:t>Indian Sign Language recognition on INCLUDE using MediaPipe landmarks, part-aware temporal Conv1D, gated fusion and Head-Token Mixing Attention</a:t>
            </a:r>
            <a:endParaRPr lang="en-US" sz="1733" dirty="0"/>
          </a:p>
        </p:txBody>
      </p:sp>
      <p:sp>
        <p:nvSpPr>
          <p:cNvPr id="57" name="Text 54"/>
          <p:cNvSpPr txBox="1"/>
          <p:nvPr/>
        </p:nvSpPr>
        <p:spPr>
          <a:xfrm>
            <a:off x="731502" y="5120512"/>
            <a:ext cx="6339682" cy="975336"/>
          </a:xfrm>
          <a:prstGeom prst="rect">
            <a:avLst/>
          </a:prstGeom>
          <a:noFill/>
          <a:ln/>
        </p:spPr>
        <p:txBody>
          <a:bodyPr wrap="square" lIns="0" tIns="0" rIns="0" bIns="0" rtlCol="0" anchor="t"/>
          <a:lstStyle/>
          <a:p>
            <a:pPr indent="0" marL="0">
              <a:spcAft>
                <a:spcPts val="400"/>
              </a:spcAft>
              <a:buNone/>
            </a:pPr>
            <a:r>
              <a:rPr lang="en-US" sz="1467" b="1" dirty="0">
                <a:solidFill>
                  <a:srgbClr val="FFFFFF"/>
                </a:solidFill>
                <a:latin typeface="Calibri" pitchFamily="34" charset="0"/>
                <a:ea typeface="Calibri" pitchFamily="34" charset="-122"/>
                <a:cs typeface="Calibri" pitchFamily="34" charset="-120"/>
              </a:rPr>
              <a:t>Review-2  ·  17 September 2026</a:t>
            </a:r>
            <a:endParaRPr lang="en-US" sz="1467" dirty="0"/>
          </a:p>
          <a:p>
            <a:pPr indent="0" marL="0">
              <a:spcAft>
                <a:spcPts val="400"/>
              </a:spcAft>
              <a:buNone/>
            </a:pPr>
            <a:r>
              <a:rPr lang="en-US" sz="1467" dirty="0">
                <a:solidFill>
                  <a:srgbClr val="9AA8BC"/>
                </a:solidFill>
                <a:latin typeface="Calibri" pitchFamily="34" charset="0"/>
                <a:ea typeface="Calibri" pitchFamily="34" charset="-122"/>
                <a:cs typeface="Calibri" pitchFamily="34" charset="-120"/>
              </a:rPr>
              <a:t>K.SAI SREE CHOWDARY-2420030168</a:t>
            </a:r>
            <a:endParaRPr lang="en-US" sz="146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231080"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231080"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09  ·  METHODOLOGY</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Complete Methodology: From Sign Video to Speech</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11</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67796"/>
            <a:ext cx="1950671" cy="1975055"/>
          </a:xfrm>
          <a:prstGeom prst="roundRect">
            <a:avLst>
              <a:gd name="adj" fmla="val 5000"/>
            </a:avLst>
          </a:prstGeom>
          <a:solidFill>
            <a:srgbClr val="F2F5F9"/>
          </a:solidFill>
          <a:ln w="12700">
            <a:solidFill>
              <a:srgbClr val="D9E1EA"/>
            </a:solidFill>
            <a:prstDash val="solid"/>
          </a:ln>
        </p:spPr>
        <p:txBody>
          <a:bodyPr/>
          <a:p/>
        </p:txBody>
      </p:sp>
      <p:sp>
        <p:nvSpPr>
          <p:cNvPr id="9" name="Shape 6"/>
          <p:cNvSpPr/>
          <p:nvPr/>
        </p:nvSpPr>
        <p:spPr>
          <a:xfrm>
            <a:off x="780268" y="1938480"/>
            <a:ext cx="560818" cy="560818"/>
          </a:xfrm>
          <a:prstGeom prst="ellipse">
            <a:avLst/>
          </a:prstGeom>
          <a:solidFill>
            <a:srgbClr val="64748B"/>
          </a:solidFill>
          <a:ln w="12700">
            <a:solidFill>
              <a:srgbClr val="64748B"/>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926081" y="2084292"/>
            <a:ext cx="269193" cy="269193"/>
          </a:xfrm>
          <a:prstGeom prst="rect">
            <a:avLst/>
          </a:prstGeom>
        </p:spPr>
      </p:pic>
      <p:sp>
        <p:nvSpPr>
          <p:cNvPr id="11" name="Text 7"/>
          <p:cNvSpPr txBox="1"/>
          <p:nvPr/>
        </p:nvSpPr>
        <p:spPr>
          <a:xfrm>
            <a:off x="1804371" y="1962863"/>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01</a:t>
            </a:r>
            <a:endParaRPr lang="en-US" sz="2000" dirty="0"/>
          </a:p>
        </p:txBody>
      </p:sp>
      <p:sp>
        <p:nvSpPr>
          <p:cNvPr id="12" name="Text 8"/>
          <p:cNvSpPr txBox="1"/>
          <p:nvPr/>
        </p:nvSpPr>
        <p:spPr>
          <a:xfrm>
            <a:off x="780268" y="2548064"/>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INCLUDE Dataset</a:t>
            </a:r>
            <a:endParaRPr lang="en-US" sz="1467" dirty="0"/>
          </a:p>
        </p:txBody>
      </p:sp>
      <p:sp>
        <p:nvSpPr>
          <p:cNvPr id="13" name="Text 9"/>
          <p:cNvSpPr txBox="1"/>
          <p:nvPr/>
        </p:nvSpPr>
        <p:spPr>
          <a:xfrm>
            <a:off x="780268" y="3060115"/>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262-class ISL videos, official split</a:t>
            </a:r>
            <a:endParaRPr lang="en-US" sz="1200" dirty="0"/>
          </a:p>
        </p:txBody>
      </p:sp>
      <p:sp>
        <p:nvSpPr>
          <p:cNvPr id="14" name="Text 10"/>
          <p:cNvSpPr txBox="1"/>
          <p:nvPr/>
        </p:nvSpPr>
        <p:spPr>
          <a:xfrm>
            <a:off x="2560256" y="2511489"/>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15" name="Shape 11"/>
          <p:cNvSpPr/>
          <p:nvPr/>
        </p:nvSpPr>
        <p:spPr>
          <a:xfrm>
            <a:off x="2865048" y="1767796"/>
            <a:ext cx="1950671" cy="1975055"/>
          </a:xfrm>
          <a:prstGeom prst="roundRect">
            <a:avLst>
              <a:gd name="adj" fmla="val 5000"/>
            </a:avLst>
          </a:prstGeom>
          <a:solidFill>
            <a:srgbClr val="F2F5F9"/>
          </a:solidFill>
          <a:ln w="12700">
            <a:solidFill>
              <a:srgbClr val="D9E1EA"/>
            </a:solidFill>
            <a:prstDash val="solid"/>
          </a:ln>
        </p:spPr>
        <p:txBody>
          <a:bodyPr/>
          <a:p/>
        </p:txBody>
      </p:sp>
      <p:sp>
        <p:nvSpPr>
          <p:cNvPr id="16" name="Shape 12"/>
          <p:cNvSpPr/>
          <p:nvPr/>
        </p:nvSpPr>
        <p:spPr>
          <a:xfrm>
            <a:off x="3035732" y="1938480"/>
            <a:ext cx="560818" cy="560818"/>
          </a:xfrm>
          <a:prstGeom prst="ellipse">
            <a:avLst/>
          </a:prstGeom>
          <a:solidFill>
            <a:srgbClr val="64748B"/>
          </a:solidFill>
          <a:ln w="12700">
            <a:solidFill>
              <a:srgbClr val="64748B"/>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3181545" y="2084292"/>
            <a:ext cx="269193" cy="269193"/>
          </a:xfrm>
          <a:prstGeom prst="rect">
            <a:avLst/>
          </a:prstGeom>
        </p:spPr>
      </p:pic>
      <p:sp>
        <p:nvSpPr>
          <p:cNvPr id="18" name="Text 13"/>
          <p:cNvSpPr txBox="1"/>
          <p:nvPr/>
        </p:nvSpPr>
        <p:spPr>
          <a:xfrm>
            <a:off x="4059835" y="1962863"/>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02</a:t>
            </a:r>
            <a:endParaRPr lang="en-US" sz="2000" dirty="0"/>
          </a:p>
        </p:txBody>
      </p:sp>
      <p:sp>
        <p:nvSpPr>
          <p:cNvPr id="19" name="Text 14"/>
          <p:cNvSpPr txBox="1"/>
          <p:nvPr/>
        </p:nvSpPr>
        <p:spPr>
          <a:xfrm>
            <a:off x="3035732" y="2548064"/>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Preprocessing</a:t>
            </a:r>
            <a:endParaRPr lang="en-US" sz="1467" dirty="0"/>
          </a:p>
        </p:txBody>
      </p:sp>
      <p:sp>
        <p:nvSpPr>
          <p:cNvPr id="20" name="Text 15"/>
          <p:cNvSpPr txBox="1"/>
          <p:nvPr/>
        </p:nvSpPr>
        <p:spPr>
          <a:xfrm>
            <a:off x="3035732" y="3060115"/>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Uniformly sample 64 frames per video</a:t>
            </a:r>
            <a:endParaRPr lang="en-US" sz="1200" dirty="0"/>
          </a:p>
        </p:txBody>
      </p:sp>
      <p:sp>
        <p:nvSpPr>
          <p:cNvPr id="21" name="Text 16"/>
          <p:cNvSpPr txBox="1"/>
          <p:nvPr/>
        </p:nvSpPr>
        <p:spPr>
          <a:xfrm>
            <a:off x="4815720" y="2511489"/>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22" name="Shape 17"/>
          <p:cNvSpPr/>
          <p:nvPr/>
        </p:nvSpPr>
        <p:spPr>
          <a:xfrm>
            <a:off x="5120512" y="1767796"/>
            <a:ext cx="1950671" cy="1975055"/>
          </a:xfrm>
          <a:prstGeom prst="roundRect">
            <a:avLst>
              <a:gd name="adj" fmla="val 5000"/>
            </a:avLst>
          </a:prstGeom>
          <a:solidFill>
            <a:srgbClr val="F2F5F9"/>
          </a:solidFill>
          <a:ln w="12700">
            <a:solidFill>
              <a:srgbClr val="D9E1EA"/>
            </a:solidFill>
            <a:prstDash val="solid"/>
          </a:ln>
        </p:spPr>
        <p:txBody>
          <a:bodyPr/>
          <a:p/>
        </p:txBody>
      </p:sp>
      <p:sp>
        <p:nvSpPr>
          <p:cNvPr id="23" name="Shape 18"/>
          <p:cNvSpPr/>
          <p:nvPr/>
        </p:nvSpPr>
        <p:spPr>
          <a:xfrm>
            <a:off x="5291196" y="1938480"/>
            <a:ext cx="560818" cy="560818"/>
          </a:xfrm>
          <a:prstGeom prst="ellipse">
            <a:avLst/>
          </a:prstGeom>
          <a:solidFill>
            <a:srgbClr val="E39A0B"/>
          </a:solidFill>
          <a:ln w="12700">
            <a:solidFill>
              <a:srgbClr val="E39A0B"/>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5437008" y="2084292"/>
            <a:ext cx="269193" cy="269193"/>
          </a:xfrm>
          <a:prstGeom prst="rect">
            <a:avLst/>
          </a:prstGeom>
        </p:spPr>
      </p:pic>
      <p:sp>
        <p:nvSpPr>
          <p:cNvPr id="25" name="Text 19"/>
          <p:cNvSpPr txBox="1"/>
          <p:nvPr/>
        </p:nvSpPr>
        <p:spPr>
          <a:xfrm>
            <a:off x="6315298" y="1962863"/>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03</a:t>
            </a:r>
            <a:endParaRPr lang="en-US" sz="2000" dirty="0"/>
          </a:p>
        </p:txBody>
      </p:sp>
      <p:sp>
        <p:nvSpPr>
          <p:cNvPr id="26" name="Text 20"/>
          <p:cNvSpPr txBox="1"/>
          <p:nvPr/>
        </p:nvSpPr>
        <p:spPr>
          <a:xfrm>
            <a:off x="5291196" y="2548064"/>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Landmark Extraction</a:t>
            </a:r>
            <a:endParaRPr lang="en-US" sz="1467" dirty="0"/>
          </a:p>
        </p:txBody>
      </p:sp>
      <p:sp>
        <p:nvSpPr>
          <p:cNvPr id="27" name="Text 21"/>
          <p:cNvSpPr txBox="1"/>
          <p:nvPr/>
        </p:nvSpPr>
        <p:spPr>
          <a:xfrm>
            <a:off x="5291196" y="3060115"/>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Hands, pose, face landmarks (534-D)</a:t>
            </a:r>
            <a:endParaRPr lang="en-US" sz="1200" dirty="0"/>
          </a:p>
        </p:txBody>
      </p:sp>
      <p:sp>
        <p:nvSpPr>
          <p:cNvPr id="28" name="Text 22"/>
          <p:cNvSpPr txBox="1"/>
          <p:nvPr/>
        </p:nvSpPr>
        <p:spPr>
          <a:xfrm>
            <a:off x="7071183" y="2511489"/>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29" name="Shape 23"/>
          <p:cNvSpPr/>
          <p:nvPr/>
        </p:nvSpPr>
        <p:spPr>
          <a:xfrm>
            <a:off x="7375976" y="1767796"/>
            <a:ext cx="1950671" cy="1975055"/>
          </a:xfrm>
          <a:prstGeom prst="roundRect">
            <a:avLst>
              <a:gd name="adj" fmla="val 5000"/>
            </a:avLst>
          </a:prstGeom>
          <a:solidFill>
            <a:srgbClr val="F2F5F9"/>
          </a:solidFill>
          <a:ln w="12700">
            <a:solidFill>
              <a:srgbClr val="D9E1EA"/>
            </a:solidFill>
            <a:prstDash val="solid"/>
          </a:ln>
        </p:spPr>
        <p:txBody>
          <a:bodyPr/>
          <a:p/>
        </p:txBody>
      </p:sp>
      <p:sp>
        <p:nvSpPr>
          <p:cNvPr id="30" name="Shape 24"/>
          <p:cNvSpPr/>
          <p:nvPr/>
        </p:nvSpPr>
        <p:spPr>
          <a:xfrm>
            <a:off x="7546659" y="1938480"/>
            <a:ext cx="560818" cy="560818"/>
          </a:xfrm>
          <a:prstGeom prst="ellipse">
            <a:avLst/>
          </a:prstGeom>
          <a:solidFill>
            <a:srgbClr val="0E9AA7"/>
          </a:solidFill>
          <a:ln w="12700">
            <a:solidFill>
              <a:srgbClr val="0E9AA7"/>
            </a:solidFill>
            <a:prstDash val="solid"/>
          </a:ln>
        </p:spPr>
        <p:txBody>
          <a:bodyPr/>
          <a:p/>
        </p:txBody>
      </p:sp>
      <p:pic>
        <p:nvPicPr>
          <p:cNvPr id="31" name="Image 4" descr="preencoded.png">    </p:cNvPr>
          <p:cNvPicPr>
            <a:picLocks noChangeAspect="1"/>
          </p:cNvPicPr>
          <p:nvPr/>
        </p:nvPicPr>
        <p:blipFill>
          <a:blip r:embed="rId5"/>
          <a:stretch>
            <a:fillRect/>
          </a:stretch>
        </p:blipFill>
        <p:spPr>
          <a:xfrm>
            <a:off x="7692472" y="2084292"/>
            <a:ext cx="269193" cy="269193"/>
          </a:xfrm>
          <a:prstGeom prst="rect">
            <a:avLst/>
          </a:prstGeom>
        </p:spPr>
      </p:pic>
      <p:sp>
        <p:nvSpPr>
          <p:cNvPr id="32" name="Text 25"/>
          <p:cNvSpPr txBox="1"/>
          <p:nvPr/>
        </p:nvSpPr>
        <p:spPr>
          <a:xfrm>
            <a:off x="8570762" y="1962863"/>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04</a:t>
            </a:r>
            <a:endParaRPr lang="en-US" sz="2000" dirty="0"/>
          </a:p>
        </p:txBody>
      </p:sp>
      <p:sp>
        <p:nvSpPr>
          <p:cNvPr id="33" name="Text 26"/>
          <p:cNvSpPr txBox="1"/>
          <p:nvPr/>
        </p:nvSpPr>
        <p:spPr>
          <a:xfrm>
            <a:off x="7546659" y="2548064"/>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Geometry + Availability</a:t>
            </a:r>
            <a:endParaRPr lang="en-US" sz="1467" dirty="0"/>
          </a:p>
        </p:txBody>
      </p:sp>
      <p:sp>
        <p:nvSpPr>
          <p:cNvPr id="34" name="Text 27"/>
          <p:cNvSpPr txBox="1"/>
          <p:nvPr/>
        </p:nvSpPr>
        <p:spPr>
          <a:xfrm>
            <a:off x="7546659" y="3060115"/>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469-D geometry, 4-D availability mask</a:t>
            </a:r>
            <a:endParaRPr lang="en-US" sz="1200" dirty="0"/>
          </a:p>
        </p:txBody>
      </p:sp>
      <p:sp>
        <p:nvSpPr>
          <p:cNvPr id="35" name="Text 28"/>
          <p:cNvSpPr txBox="1"/>
          <p:nvPr/>
        </p:nvSpPr>
        <p:spPr>
          <a:xfrm>
            <a:off x="9326647" y="2511489"/>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36" name="Shape 29"/>
          <p:cNvSpPr/>
          <p:nvPr/>
        </p:nvSpPr>
        <p:spPr>
          <a:xfrm>
            <a:off x="9631439" y="1767796"/>
            <a:ext cx="1950671" cy="1975055"/>
          </a:xfrm>
          <a:prstGeom prst="roundRect">
            <a:avLst>
              <a:gd name="adj" fmla="val 5000"/>
            </a:avLst>
          </a:prstGeom>
          <a:solidFill>
            <a:srgbClr val="F2F5F9"/>
          </a:solidFill>
          <a:ln w="12700">
            <a:solidFill>
              <a:srgbClr val="D9E1EA"/>
            </a:solidFill>
            <a:prstDash val="solid"/>
          </a:ln>
        </p:spPr>
        <p:txBody>
          <a:bodyPr/>
          <a:p/>
        </p:txBody>
      </p:sp>
      <p:sp>
        <p:nvSpPr>
          <p:cNvPr id="37" name="Shape 30"/>
          <p:cNvSpPr/>
          <p:nvPr/>
        </p:nvSpPr>
        <p:spPr>
          <a:xfrm>
            <a:off x="9802123" y="1938480"/>
            <a:ext cx="560818" cy="560818"/>
          </a:xfrm>
          <a:prstGeom prst="ellipse">
            <a:avLst/>
          </a:prstGeom>
          <a:solidFill>
            <a:srgbClr val="1A2A42"/>
          </a:solidFill>
          <a:ln w="12700">
            <a:solidFill>
              <a:srgbClr val="1A2A42"/>
            </a:solidFill>
            <a:prstDash val="solid"/>
          </a:ln>
        </p:spPr>
        <p:txBody>
          <a:bodyPr/>
          <a:p/>
        </p:txBody>
      </p:sp>
      <p:pic>
        <p:nvPicPr>
          <p:cNvPr id="38" name="Image 5" descr="preencoded.png">    </p:cNvPr>
          <p:cNvPicPr>
            <a:picLocks noChangeAspect="1"/>
          </p:cNvPicPr>
          <p:nvPr/>
        </p:nvPicPr>
        <p:blipFill>
          <a:blip r:embed="rId6"/>
          <a:stretch>
            <a:fillRect/>
          </a:stretch>
        </p:blipFill>
        <p:spPr>
          <a:xfrm>
            <a:off x="9947936" y="2084292"/>
            <a:ext cx="269193" cy="269193"/>
          </a:xfrm>
          <a:prstGeom prst="rect">
            <a:avLst/>
          </a:prstGeom>
        </p:spPr>
      </p:pic>
      <p:sp>
        <p:nvSpPr>
          <p:cNvPr id="39" name="Text 31"/>
          <p:cNvSpPr txBox="1"/>
          <p:nvPr/>
        </p:nvSpPr>
        <p:spPr>
          <a:xfrm>
            <a:off x="10826225" y="1962863"/>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05</a:t>
            </a:r>
            <a:endParaRPr lang="en-US" sz="2000" dirty="0"/>
          </a:p>
        </p:txBody>
      </p:sp>
      <p:sp>
        <p:nvSpPr>
          <p:cNvPr id="40" name="Text 32"/>
          <p:cNvSpPr txBox="1"/>
          <p:nvPr/>
        </p:nvSpPr>
        <p:spPr>
          <a:xfrm>
            <a:off x="9802123" y="2548064"/>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Part Encoders + Fusion</a:t>
            </a:r>
            <a:endParaRPr lang="en-US" sz="1467" dirty="0"/>
          </a:p>
        </p:txBody>
      </p:sp>
      <p:sp>
        <p:nvSpPr>
          <p:cNvPr id="41" name="Text 33"/>
          <p:cNvSpPr txBox="1"/>
          <p:nvPr/>
        </p:nvSpPr>
        <p:spPr>
          <a:xfrm>
            <a:off x="9802123" y="3060115"/>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Part-aware Conv1D, gated fusion → 320-D</a:t>
            </a:r>
            <a:endParaRPr lang="en-US" sz="1200" dirty="0"/>
          </a:p>
        </p:txBody>
      </p:sp>
      <p:sp>
        <p:nvSpPr>
          <p:cNvPr id="42" name="Shape 34"/>
          <p:cNvSpPr/>
          <p:nvPr/>
        </p:nvSpPr>
        <p:spPr>
          <a:xfrm>
            <a:off x="609585" y="4108601"/>
            <a:ext cx="1950671" cy="1975055"/>
          </a:xfrm>
          <a:prstGeom prst="roundRect">
            <a:avLst>
              <a:gd name="adj" fmla="val 5000"/>
            </a:avLst>
          </a:prstGeom>
          <a:solidFill>
            <a:srgbClr val="F2F5F9"/>
          </a:solidFill>
          <a:ln w="12700">
            <a:solidFill>
              <a:srgbClr val="D9E1EA"/>
            </a:solidFill>
            <a:prstDash val="solid"/>
          </a:ln>
        </p:spPr>
        <p:txBody>
          <a:bodyPr/>
          <a:p/>
        </p:txBody>
      </p:sp>
      <p:sp>
        <p:nvSpPr>
          <p:cNvPr id="43" name="Shape 35"/>
          <p:cNvSpPr/>
          <p:nvPr/>
        </p:nvSpPr>
        <p:spPr>
          <a:xfrm>
            <a:off x="780268" y="4279285"/>
            <a:ext cx="560818" cy="560818"/>
          </a:xfrm>
          <a:prstGeom prst="ellipse">
            <a:avLst/>
          </a:prstGeom>
          <a:solidFill>
            <a:srgbClr val="5B5BD6"/>
          </a:solidFill>
          <a:ln w="12700">
            <a:solidFill>
              <a:srgbClr val="5B5BD6"/>
            </a:solidFill>
            <a:prstDash val="solid"/>
          </a:ln>
        </p:spPr>
        <p:txBody>
          <a:bodyPr/>
          <a:p/>
        </p:txBody>
      </p:sp>
      <p:pic>
        <p:nvPicPr>
          <p:cNvPr id="44" name="Image 6" descr="preencoded.png">    </p:cNvPr>
          <p:cNvPicPr>
            <a:picLocks noChangeAspect="1"/>
          </p:cNvPicPr>
          <p:nvPr/>
        </p:nvPicPr>
        <p:blipFill>
          <a:blip r:embed="rId7"/>
          <a:stretch>
            <a:fillRect/>
          </a:stretch>
        </p:blipFill>
        <p:spPr>
          <a:xfrm>
            <a:off x="926081" y="4425098"/>
            <a:ext cx="269193" cy="269193"/>
          </a:xfrm>
          <a:prstGeom prst="rect">
            <a:avLst/>
          </a:prstGeom>
        </p:spPr>
      </p:pic>
      <p:sp>
        <p:nvSpPr>
          <p:cNvPr id="45" name="Text 36"/>
          <p:cNvSpPr txBox="1"/>
          <p:nvPr/>
        </p:nvSpPr>
        <p:spPr>
          <a:xfrm>
            <a:off x="1804371" y="4303668"/>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06</a:t>
            </a:r>
            <a:endParaRPr lang="en-US" sz="2000" dirty="0"/>
          </a:p>
        </p:txBody>
      </p:sp>
      <p:sp>
        <p:nvSpPr>
          <p:cNvPr id="46" name="Text 37"/>
          <p:cNvSpPr txBox="1"/>
          <p:nvPr/>
        </p:nvSpPr>
        <p:spPr>
          <a:xfrm>
            <a:off x="780268" y="4888870"/>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CLS + Positions</a:t>
            </a:r>
            <a:endParaRPr lang="en-US" sz="1467" dirty="0"/>
          </a:p>
        </p:txBody>
      </p:sp>
      <p:sp>
        <p:nvSpPr>
          <p:cNvPr id="47" name="Text 38"/>
          <p:cNvSpPr txBox="1"/>
          <p:nvPr/>
        </p:nvSpPr>
        <p:spPr>
          <a:xfrm>
            <a:off x="780268" y="5400921"/>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CLS token + learned positional embedding</a:t>
            </a:r>
            <a:endParaRPr lang="en-US" sz="1200" dirty="0"/>
          </a:p>
        </p:txBody>
      </p:sp>
      <p:sp>
        <p:nvSpPr>
          <p:cNvPr id="48" name="Text 39"/>
          <p:cNvSpPr txBox="1"/>
          <p:nvPr/>
        </p:nvSpPr>
        <p:spPr>
          <a:xfrm>
            <a:off x="2560256" y="4852295"/>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49" name="Shape 40"/>
          <p:cNvSpPr/>
          <p:nvPr/>
        </p:nvSpPr>
        <p:spPr>
          <a:xfrm>
            <a:off x="2865048" y="4108601"/>
            <a:ext cx="1950671" cy="1975055"/>
          </a:xfrm>
          <a:prstGeom prst="roundRect">
            <a:avLst>
              <a:gd name="adj" fmla="val 5000"/>
            </a:avLst>
          </a:prstGeom>
          <a:solidFill>
            <a:srgbClr val="F2F5F9"/>
          </a:solidFill>
          <a:ln w="12700">
            <a:solidFill>
              <a:srgbClr val="D9E1EA"/>
            </a:solidFill>
            <a:prstDash val="solid"/>
          </a:ln>
        </p:spPr>
        <p:txBody>
          <a:bodyPr/>
          <a:p/>
        </p:txBody>
      </p:sp>
      <p:sp>
        <p:nvSpPr>
          <p:cNvPr id="50" name="Shape 41"/>
          <p:cNvSpPr/>
          <p:nvPr/>
        </p:nvSpPr>
        <p:spPr>
          <a:xfrm>
            <a:off x="3035732" y="4279285"/>
            <a:ext cx="560818" cy="560818"/>
          </a:xfrm>
          <a:prstGeom prst="ellipse">
            <a:avLst/>
          </a:prstGeom>
          <a:solidFill>
            <a:srgbClr val="5B5BD6"/>
          </a:solidFill>
          <a:ln w="12700">
            <a:solidFill>
              <a:srgbClr val="5B5BD6"/>
            </a:solidFill>
            <a:prstDash val="solid"/>
          </a:ln>
        </p:spPr>
        <p:txBody>
          <a:bodyPr/>
          <a:p/>
        </p:txBody>
      </p:sp>
      <p:pic>
        <p:nvPicPr>
          <p:cNvPr id="51" name="Image 7" descr="preencoded.png">    </p:cNvPr>
          <p:cNvPicPr>
            <a:picLocks noChangeAspect="1"/>
          </p:cNvPicPr>
          <p:nvPr/>
        </p:nvPicPr>
        <p:blipFill>
          <a:blip r:embed="rId8"/>
          <a:stretch>
            <a:fillRect/>
          </a:stretch>
        </p:blipFill>
        <p:spPr>
          <a:xfrm>
            <a:off x="3181545" y="4425098"/>
            <a:ext cx="269193" cy="269193"/>
          </a:xfrm>
          <a:prstGeom prst="rect">
            <a:avLst/>
          </a:prstGeom>
        </p:spPr>
      </p:pic>
      <p:sp>
        <p:nvSpPr>
          <p:cNvPr id="52" name="Text 42"/>
          <p:cNvSpPr txBox="1"/>
          <p:nvPr/>
        </p:nvSpPr>
        <p:spPr>
          <a:xfrm>
            <a:off x="4059835" y="4303668"/>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07</a:t>
            </a:r>
            <a:endParaRPr lang="en-US" sz="2000" dirty="0"/>
          </a:p>
        </p:txBody>
      </p:sp>
      <p:sp>
        <p:nvSpPr>
          <p:cNvPr id="53" name="Text 43"/>
          <p:cNvSpPr txBox="1"/>
          <p:nvPr/>
        </p:nvSpPr>
        <p:spPr>
          <a:xfrm>
            <a:off x="3035732" y="4888870"/>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4 × HTMA Blocks</a:t>
            </a:r>
            <a:endParaRPr lang="en-US" sz="1467" dirty="0"/>
          </a:p>
        </p:txBody>
      </p:sp>
      <p:sp>
        <p:nvSpPr>
          <p:cNvPr id="54" name="Text 44"/>
          <p:cNvSpPr txBox="1"/>
          <p:nvPr/>
        </p:nvSpPr>
        <p:spPr>
          <a:xfrm>
            <a:off x="3035732" y="5400921"/>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Head-token mixing attention across frames</a:t>
            </a:r>
            <a:endParaRPr lang="en-US" sz="1200" dirty="0"/>
          </a:p>
        </p:txBody>
      </p:sp>
      <p:sp>
        <p:nvSpPr>
          <p:cNvPr id="55" name="Text 45"/>
          <p:cNvSpPr txBox="1"/>
          <p:nvPr/>
        </p:nvSpPr>
        <p:spPr>
          <a:xfrm>
            <a:off x="4815720" y="4852295"/>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56" name="Shape 46"/>
          <p:cNvSpPr/>
          <p:nvPr/>
        </p:nvSpPr>
        <p:spPr>
          <a:xfrm>
            <a:off x="5120512" y="4108601"/>
            <a:ext cx="1950671" cy="1975055"/>
          </a:xfrm>
          <a:prstGeom prst="roundRect">
            <a:avLst>
              <a:gd name="adj" fmla="val 5000"/>
            </a:avLst>
          </a:prstGeom>
          <a:solidFill>
            <a:srgbClr val="F2F5F9"/>
          </a:solidFill>
          <a:ln w="12700">
            <a:solidFill>
              <a:srgbClr val="D9E1EA"/>
            </a:solidFill>
            <a:prstDash val="solid"/>
          </a:ln>
        </p:spPr>
        <p:txBody>
          <a:bodyPr/>
          <a:p/>
        </p:txBody>
      </p:sp>
      <p:sp>
        <p:nvSpPr>
          <p:cNvPr id="57" name="Shape 47"/>
          <p:cNvSpPr/>
          <p:nvPr/>
        </p:nvSpPr>
        <p:spPr>
          <a:xfrm>
            <a:off x="5291196" y="4279285"/>
            <a:ext cx="560818" cy="560818"/>
          </a:xfrm>
          <a:prstGeom prst="ellipse">
            <a:avLst/>
          </a:prstGeom>
          <a:solidFill>
            <a:srgbClr val="3B4A60"/>
          </a:solidFill>
          <a:ln w="12700">
            <a:solidFill>
              <a:srgbClr val="3B4A60"/>
            </a:solidFill>
            <a:prstDash val="solid"/>
          </a:ln>
        </p:spPr>
        <p:txBody>
          <a:bodyPr/>
          <a:p/>
        </p:txBody>
      </p:sp>
      <p:pic>
        <p:nvPicPr>
          <p:cNvPr id="58" name="Image 8" descr="preencoded.png">    </p:cNvPr>
          <p:cNvPicPr>
            <a:picLocks noChangeAspect="1"/>
          </p:cNvPicPr>
          <p:nvPr/>
        </p:nvPicPr>
        <p:blipFill>
          <a:blip r:embed="rId9"/>
          <a:stretch>
            <a:fillRect/>
          </a:stretch>
        </p:blipFill>
        <p:spPr>
          <a:xfrm>
            <a:off x="5437008" y="4425098"/>
            <a:ext cx="269193" cy="269193"/>
          </a:xfrm>
          <a:prstGeom prst="rect">
            <a:avLst/>
          </a:prstGeom>
        </p:spPr>
      </p:pic>
      <p:sp>
        <p:nvSpPr>
          <p:cNvPr id="59" name="Text 48"/>
          <p:cNvSpPr txBox="1"/>
          <p:nvPr/>
        </p:nvSpPr>
        <p:spPr>
          <a:xfrm>
            <a:off x="6315298" y="4303668"/>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08</a:t>
            </a:r>
            <a:endParaRPr lang="en-US" sz="2000" dirty="0"/>
          </a:p>
        </p:txBody>
      </p:sp>
      <p:sp>
        <p:nvSpPr>
          <p:cNvPr id="60" name="Text 49"/>
          <p:cNvSpPr txBox="1"/>
          <p:nvPr/>
        </p:nvSpPr>
        <p:spPr>
          <a:xfrm>
            <a:off x="5291196" y="4888870"/>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Sign Classification</a:t>
            </a:r>
            <a:endParaRPr lang="en-US" sz="1467" dirty="0"/>
          </a:p>
        </p:txBody>
      </p:sp>
      <p:sp>
        <p:nvSpPr>
          <p:cNvPr id="61" name="Text 50"/>
          <p:cNvSpPr txBox="1"/>
          <p:nvPr/>
        </p:nvSpPr>
        <p:spPr>
          <a:xfrm>
            <a:off x="5291196" y="5400921"/>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CLS + attention pool → 262 classes</a:t>
            </a:r>
            <a:endParaRPr lang="en-US" sz="1200" dirty="0"/>
          </a:p>
        </p:txBody>
      </p:sp>
      <p:sp>
        <p:nvSpPr>
          <p:cNvPr id="62" name="Text 51"/>
          <p:cNvSpPr txBox="1"/>
          <p:nvPr/>
        </p:nvSpPr>
        <p:spPr>
          <a:xfrm>
            <a:off x="7071183" y="4852295"/>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63" name="Shape 52"/>
          <p:cNvSpPr/>
          <p:nvPr/>
        </p:nvSpPr>
        <p:spPr>
          <a:xfrm>
            <a:off x="7375976" y="4108601"/>
            <a:ext cx="1950671" cy="1975055"/>
          </a:xfrm>
          <a:prstGeom prst="roundRect">
            <a:avLst>
              <a:gd name="adj" fmla="val 5000"/>
            </a:avLst>
          </a:prstGeom>
          <a:solidFill>
            <a:srgbClr val="F2F5F9"/>
          </a:solidFill>
          <a:ln w="12700">
            <a:solidFill>
              <a:srgbClr val="D9E1EA"/>
            </a:solidFill>
            <a:prstDash val="solid"/>
          </a:ln>
        </p:spPr>
        <p:txBody>
          <a:bodyPr/>
          <a:p/>
        </p:txBody>
      </p:sp>
      <p:sp>
        <p:nvSpPr>
          <p:cNvPr id="64" name="Shape 53"/>
          <p:cNvSpPr/>
          <p:nvPr/>
        </p:nvSpPr>
        <p:spPr>
          <a:xfrm>
            <a:off x="7546659" y="4279285"/>
            <a:ext cx="560818" cy="560818"/>
          </a:xfrm>
          <a:prstGeom prst="ellipse">
            <a:avLst/>
          </a:prstGeom>
          <a:solidFill>
            <a:srgbClr val="2E9E5B"/>
          </a:solidFill>
          <a:ln w="12700">
            <a:solidFill>
              <a:srgbClr val="2E9E5B"/>
            </a:solidFill>
            <a:prstDash val="solid"/>
          </a:ln>
        </p:spPr>
        <p:txBody>
          <a:bodyPr/>
          <a:p/>
        </p:txBody>
      </p:sp>
      <p:pic>
        <p:nvPicPr>
          <p:cNvPr id="65" name="Image 9" descr="preencoded.png">    </p:cNvPr>
          <p:cNvPicPr>
            <a:picLocks noChangeAspect="1"/>
          </p:cNvPicPr>
          <p:nvPr/>
        </p:nvPicPr>
        <p:blipFill>
          <a:blip r:embed="rId10"/>
          <a:stretch>
            <a:fillRect/>
          </a:stretch>
        </p:blipFill>
        <p:spPr>
          <a:xfrm>
            <a:off x="7692472" y="4425098"/>
            <a:ext cx="269193" cy="269193"/>
          </a:xfrm>
          <a:prstGeom prst="rect">
            <a:avLst/>
          </a:prstGeom>
        </p:spPr>
      </p:pic>
      <p:sp>
        <p:nvSpPr>
          <p:cNvPr id="66" name="Text 54"/>
          <p:cNvSpPr txBox="1"/>
          <p:nvPr/>
        </p:nvSpPr>
        <p:spPr>
          <a:xfrm>
            <a:off x="8570762" y="4303668"/>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09</a:t>
            </a:r>
            <a:endParaRPr lang="en-US" sz="2000" dirty="0"/>
          </a:p>
        </p:txBody>
      </p:sp>
      <p:sp>
        <p:nvSpPr>
          <p:cNvPr id="67" name="Text 55"/>
          <p:cNvSpPr txBox="1"/>
          <p:nvPr/>
        </p:nvSpPr>
        <p:spPr>
          <a:xfrm>
            <a:off x="7546659" y="4888870"/>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Text Output</a:t>
            </a:r>
            <a:endParaRPr lang="en-US" sz="1467" dirty="0"/>
          </a:p>
        </p:txBody>
      </p:sp>
      <p:sp>
        <p:nvSpPr>
          <p:cNvPr id="68" name="Text 56"/>
          <p:cNvSpPr txBox="1"/>
          <p:nvPr/>
        </p:nvSpPr>
        <p:spPr>
          <a:xfrm>
            <a:off x="7546659" y="5400921"/>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Predicted class mapped to its sign label</a:t>
            </a:r>
            <a:endParaRPr lang="en-US" sz="1200" dirty="0"/>
          </a:p>
        </p:txBody>
      </p:sp>
      <p:sp>
        <p:nvSpPr>
          <p:cNvPr id="69" name="Text 57"/>
          <p:cNvSpPr txBox="1"/>
          <p:nvPr/>
        </p:nvSpPr>
        <p:spPr>
          <a:xfrm>
            <a:off x="9326647" y="4852295"/>
            <a:ext cx="304792" cy="487668"/>
          </a:xfrm>
          <a:prstGeom prst="rect">
            <a:avLst/>
          </a:prstGeom>
          <a:noFill/>
          <a:ln/>
        </p:spPr>
        <p:txBody>
          <a:bodyPr wrap="square" lIns="0" tIns="0" rIns="0" bIns="0" rtlCol="0" anchor="ctr"/>
          <a:lstStyle/>
          <a:p>
            <a:pPr algn="ctr" indent="0" marL="0">
              <a:buNone/>
            </a:pPr>
            <a:r>
              <a:rPr lang="en-US" sz="2667" b="1" dirty="0">
                <a:solidFill>
                  <a:srgbClr val="AFBCCD"/>
                </a:solidFill>
                <a:latin typeface="Calibri" pitchFamily="34" charset="0"/>
                <a:ea typeface="Calibri" pitchFamily="34" charset="-122"/>
                <a:cs typeface="Calibri" pitchFamily="34" charset="-120"/>
              </a:rPr>
              <a:t>›</a:t>
            </a:r>
            <a:endParaRPr lang="en-US" sz="2667" dirty="0"/>
          </a:p>
        </p:txBody>
      </p:sp>
      <p:sp>
        <p:nvSpPr>
          <p:cNvPr id="70" name="Shape 58"/>
          <p:cNvSpPr/>
          <p:nvPr/>
        </p:nvSpPr>
        <p:spPr>
          <a:xfrm>
            <a:off x="9631439" y="4108601"/>
            <a:ext cx="1950671" cy="1975055"/>
          </a:xfrm>
          <a:prstGeom prst="roundRect">
            <a:avLst>
              <a:gd name="adj" fmla="val 5000"/>
            </a:avLst>
          </a:prstGeom>
          <a:solidFill>
            <a:srgbClr val="F2F5F9"/>
          </a:solidFill>
          <a:ln w="12700">
            <a:solidFill>
              <a:srgbClr val="D9E1EA"/>
            </a:solidFill>
            <a:prstDash val="solid"/>
          </a:ln>
        </p:spPr>
        <p:txBody>
          <a:bodyPr/>
          <a:p/>
        </p:txBody>
      </p:sp>
      <p:sp>
        <p:nvSpPr>
          <p:cNvPr id="71" name="Shape 59"/>
          <p:cNvSpPr/>
          <p:nvPr/>
        </p:nvSpPr>
        <p:spPr>
          <a:xfrm>
            <a:off x="9802123" y="4279285"/>
            <a:ext cx="560818" cy="560818"/>
          </a:xfrm>
          <a:prstGeom prst="ellipse">
            <a:avLst/>
          </a:prstGeom>
          <a:solidFill>
            <a:srgbClr val="2E9E5B"/>
          </a:solidFill>
          <a:ln w="12700">
            <a:solidFill>
              <a:srgbClr val="2E9E5B"/>
            </a:solidFill>
            <a:prstDash val="solid"/>
          </a:ln>
        </p:spPr>
        <p:txBody>
          <a:bodyPr/>
          <a:p/>
        </p:txBody>
      </p:sp>
      <p:pic>
        <p:nvPicPr>
          <p:cNvPr id="72" name="Image 10" descr="preencoded.png">    </p:cNvPr>
          <p:cNvPicPr>
            <a:picLocks noChangeAspect="1"/>
          </p:cNvPicPr>
          <p:nvPr/>
        </p:nvPicPr>
        <p:blipFill>
          <a:blip r:embed="rId11"/>
          <a:stretch>
            <a:fillRect/>
          </a:stretch>
        </p:blipFill>
        <p:spPr>
          <a:xfrm>
            <a:off x="9947936" y="4425098"/>
            <a:ext cx="269193" cy="269193"/>
          </a:xfrm>
          <a:prstGeom prst="rect">
            <a:avLst/>
          </a:prstGeom>
        </p:spPr>
      </p:pic>
      <p:sp>
        <p:nvSpPr>
          <p:cNvPr id="73" name="Text 60"/>
          <p:cNvSpPr txBox="1"/>
          <p:nvPr/>
        </p:nvSpPr>
        <p:spPr>
          <a:xfrm>
            <a:off x="10826225" y="4303668"/>
            <a:ext cx="585201" cy="365751"/>
          </a:xfrm>
          <a:prstGeom prst="rect">
            <a:avLst/>
          </a:prstGeom>
          <a:noFill/>
          <a:ln/>
        </p:spPr>
        <p:txBody>
          <a:bodyPr wrap="square" lIns="0" tIns="0" rIns="0" bIns="0" rtlCol="0" anchor="ctr"/>
          <a:lstStyle/>
          <a:p>
            <a:pPr algn="r" indent="0" marL="0">
              <a:buNone/>
            </a:pPr>
            <a:r>
              <a:rPr lang="en-US" sz="2000" b="1" dirty="0">
                <a:solidFill>
                  <a:srgbClr val="AFBCCD"/>
                </a:solidFill>
                <a:latin typeface="Calibri" pitchFamily="34" charset="0"/>
                <a:ea typeface="Calibri" pitchFamily="34" charset="-122"/>
                <a:cs typeface="Calibri" pitchFamily="34" charset="-120"/>
              </a:rPr>
              <a:t>10</a:t>
            </a:r>
            <a:endParaRPr lang="en-US" sz="2000" dirty="0"/>
          </a:p>
        </p:txBody>
      </p:sp>
      <p:sp>
        <p:nvSpPr>
          <p:cNvPr id="74" name="Text 61"/>
          <p:cNvSpPr txBox="1"/>
          <p:nvPr/>
        </p:nvSpPr>
        <p:spPr>
          <a:xfrm>
            <a:off x="9802123" y="4888870"/>
            <a:ext cx="1658071" cy="463284"/>
          </a:xfrm>
          <a:prstGeom prst="rect">
            <a:avLst/>
          </a:prstGeom>
          <a:noFill/>
          <a:ln/>
        </p:spPr>
        <p:txBody>
          <a:bodyPr wrap="square" lIns="0" tIns="0" rIns="0" bIns="0" rtlCol="0" anchor="b"/>
          <a:lstStyle/>
          <a:p>
            <a:pPr indent="0" marL="0">
              <a:lnSpc>
                <a:spcPct val="90000"/>
              </a:lnSpc>
              <a:buNone/>
            </a:pPr>
            <a:r>
              <a:rPr lang="en-US" sz="1467" b="1" dirty="0">
                <a:solidFill>
                  <a:srgbClr val="1A2332"/>
                </a:solidFill>
                <a:latin typeface="Calibri" pitchFamily="34" charset="0"/>
                <a:ea typeface="Calibri" pitchFamily="34" charset="-122"/>
                <a:cs typeface="Calibri" pitchFamily="34" charset="-120"/>
              </a:rPr>
              <a:t>Text-to-Speech</a:t>
            </a:r>
            <a:endParaRPr lang="en-US" sz="1467" dirty="0"/>
          </a:p>
        </p:txBody>
      </p:sp>
      <p:sp>
        <p:nvSpPr>
          <p:cNvPr id="75" name="Text 62"/>
          <p:cNvSpPr txBox="1"/>
          <p:nvPr/>
        </p:nvSpPr>
        <p:spPr>
          <a:xfrm>
            <a:off x="9802123" y="5400921"/>
            <a:ext cx="1658071" cy="609585"/>
          </a:xfrm>
          <a:prstGeom prst="rect">
            <a:avLst/>
          </a:prstGeom>
          <a:noFill/>
          <a:ln/>
        </p:spPr>
        <p:txBody>
          <a:bodyPr wrap="square" lIns="0" tIns="0" rIns="0" bIns="0" rtlCol="0" anchor="t"/>
          <a:lstStyle/>
          <a:p>
            <a:pPr indent="0" marL="0">
              <a:buNone/>
            </a:pPr>
            <a:r>
              <a:rPr lang="en-US" sz="1200" dirty="0">
                <a:solidFill>
                  <a:srgbClr val="5A6678"/>
                </a:solidFill>
                <a:latin typeface="Calibri" pitchFamily="34" charset="0"/>
                <a:ea typeface="Calibri" pitchFamily="34" charset="-122"/>
                <a:cs typeface="Calibri" pitchFamily="34" charset="-120"/>
              </a:rPr>
              <a:t>Browser Web Speech API</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231080"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231080"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09  ·  METHODOLOGY</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Why Combine Body Parts, Geometry and Time?</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12</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67796"/>
            <a:ext cx="3413675" cy="3389291"/>
          </a:xfrm>
          <a:prstGeom prst="roundRect">
            <a:avLst>
              <a:gd name="adj" fmla="val 2878"/>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9" name="Shape 6"/>
          <p:cNvSpPr/>
          <p:nvPr/>
        </p:nvSpPr>
        <p:spPr>
          <a:xfrm>
            <a:off x="877802" y="2060396"/>
            <a:ext cx="682735" cy="682735"/>
          </a:xfrm>
          <a:prstGeom prst="ellipse">
            <a:avLst/>
          </a:prstGeom>
          <a:solidFill>
            <a:srgbClr val="E39A0B"/>
          </a:solidFill>
          <a:ln w="12700">
            <a:solidFill>
              <a:srgbClr val="E39A0B"/>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1055313" y="2237908"/>
            <a:ext cx="327713" cy="327713"/>
          </a:xfrm>
          <a:prstGeom prst="rect">
            <a:avLst/>
          </a:prstGeom>
        </p:spPr>
      </p:pic>
      <p:sp>
        <p:nvSpPr>
          <p:cNvPr id="11" name="Text 7"/>
          <p:cNvSpPr txBox="1"/>
          <p:nvPr/>
        </p:nvSpPr>
        <p:spPr>
          <a:xfrm>
            <a:off x="877802" y="2889432"/>
            <a:ext cx="2926007" cy="268217"/>
          </a:xfrm>
          <a:prstGeom prst="rect">
            <a:avLst/>
          </a:prstGeom>
          <a:noFill/>
          <a:ln/>
        </p:spPr>
        <p:txBody>
          <a:bodyPr wrap="square" lIns="0" tIns="0" rIns="0" bIns="0" rtlCol="0" anchor="ctr"/>
          <a:lstStyle/>
          <a:p>
            <a:pPr indent="0" marL="0">
              <a:buNone/>
            </a:pPr>
            <a:r>
              <a:rPr lang="en-US" sz="1200" b="1" spc="133" kern="0" dirty="0">
                <a:solidFill>
                  <a:srgbClr val="E39A0B"/>
                </a:solidFill>
                <a:latin typeface="Calibri" pitchFamily="34" charset="0"/>
                <a:ea typeface="Calibri" pitchFamily="34" charset="-122"/>
                <a:cs typeface="Calibri" pitchFamily="34" charset="-120"/>
              </a:rPr>
              <a:t>PART-AWARE  ·  MediaPipe</a:t>
            </a:r>
            <a:endParaRPr lang="en-US" sz="1200" dirty="0"/>
          </a:p>
        </p:txBody>
      </p:sp>
      <p:sp>
        <p:nvSpPr>
          <p:cNvPr id="12" name="Text 8"/>
          <p:cNvSpPr txBox="1"/>
          <p:nvPr/>
        </p:nvSpPr>
        <p:spPr>
          <a:xfrm>
            <a:off x="877802" y="3157649"/>
            <a:ext cx="2926007" cy="438901"/>
          </a:xfrm>
          <a:prstGeom prst="rect">
            <a:avLst/>
          </a:prstGeom>
          <a:noFill/>
          <a:ln/>
        </p:spPr>
        <p:txBody>
          <a:bodyPr wrap="square" lIns="0" tIns="0" rIns="0" bIns="0" rtlCol="0" anchor="ctr"/>
          <a:lstStyle/>
          <a:p>
            <a:pPr indent="0" marL="0">
              <a:buNone/>
            </a:pPr>
            <a:r>
              <a:rPr lang="en-US" sz="2000" b="1" dirty="0">
                <a:solidFill>
                  <a:srgbClr val="1A2332"/>
                </a:solidFill>
                <a:latin typeface="Calibri" pitchFamily="34" charset="0"/>
                <a:ea typeface="Calibri" pitchFamily="34" charset="-122"/>
                <a:cs typeface="Calibri" pitchFamily="34" charset="-120"/>
              </a:rPr>
              <a:t>What does each part do?</a:t>
            </a:r>
            <a:endParaRPr lang="en-US" sz="2000" dirty="0"/>
          </a:p>
        </p:txBody>
      </p:sp>
      <p:sp>
        <p:nvSpPr>
          <p:cNvPr id="13" name="Text 9"/>
          <p:cNvSpPr txBox="1"/>
          <p:nvPr/>
        </p:nvSpPr>
        <p:spPr>
          <a:xfrm>
            <a:off x="877802" y="3645317"/>
            <a:ext cx="2950390" cy="1341086"/>
          </a:xfrm>
          <a:prstGeom prst="rect">
            <a:avLst/>
          </a:prstGeom>
          <a:noFill/>
          <a:ln/>
        </p:spPr>
        <p:txBody>
          <a:bodyPr wrap="square" lIns="0" tIns="0" rIns="0" bIns="0" rtlCol="0" anchor="t"/>
          <a:lstStyle/>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Left hand, right hand, pose and face encoded separately</a:t>
            </a:r>
            <a:endParaRPr lang="en-US" sz="1333" dirty="0"/>
          </a:p>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Each part: LayerNorm → Linear → GELU → 2 residual Conv1D blocks</a:t>
            </a:r>
            <a:endParaRPr lang="en-US" sz="1333" dirty="0"/>
          </a:p>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Focuses on the signer rather than the background</a:t>
            </a:r>
            <a:endParaRPr lang="en-US" sz="1333" dirty="0"/>
          </a:p>
        </p:txBody>
      </p:sp>
      <p:sp>
        <p:nvSpPr>
          <p:cNvPr id="14" name="Shape 10"/>
          <p:cNvSpPr/>
          <p:nvPr/>
        </p:nvSpPr>
        <p:spPr>
          <a:xfrm>
            <a:off x="4389010" y="1767796"/>
            <a:ext cx="3413675" cy="3389291"/>
          </a:xfrm>
          <a:prstGeom prst="roundRect">
            <a:avLst>
              <a:gd name="adj" fmla="val 2878"/>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15" name="Shape 11"/>
          <p:cNvSpPr/>
          <p:nvPr/>
        </p:nvSpPr>
        <p:spPr>
          <a:xfrm>
            <a:off x="4657228" y="2060396"/>
            <a:ext cx="682735" cy="682735"/>
          </a:xfrm>
          <a:prstGeom prst="ellipse">
            <a:avLst/>
          </a:prstGeom>
          <a:solidFill>
            <a:srgbClr val="0E9AA7"/>
          </a:solidFill>
          <a:ln w="12700">
            <a:solidFill>
              <a:srgbClr val="0E9AA7"/>
            </a:solidFill>
            <a:prstDash val="solid"/>
          </a:ln>
        </p:spPr>
        <p:txBody>
          <a:bodyPr/>
          <a:p/>
        </p:txBody>
      </p:sp>
      <p:pic>
        <p:nvPicPr>
          <p:cNvPr id="16" name="Image 2" descr="preencoded.png">    </p:cNvPr>
          <p:cNvPicPr>
            <a:picLocks noChangeAspect="1"/>
          </p:cNvPicPr>
          <p:nvPr/>
        </p:nvPicPr>
        <p:blipFill>
          <a:blip r:embed="rId3"/>
          <a:stretch>
            <a:fillRect/>
          </a:stretch>
        </p:blipFill>
        <p:spPr>
          <a:xfrm>
            <a:off x="4834739" y="2237908"/>
            <a:ext cx="327713" cy="327713"/>
          </a:xfrm>
          <a:prstGeom prst="rect">
            <a:avLst/>
          </a:prstGeom>
        </p:spPr>
      </p:pic>
      <p:sp>
        <p:nvSpPr>
          <p:cNvPr id="17" name="Text 12"/>
          <p:cNvSpPr txBox="1"/>
          <p:nvPr/>
        </p:nvSpPr>
        <p:spPr>
          <a:xfrm>
            <a:off x="4657228" y="2889432"/>
            <a:ext cx="2926007" cy="268217"/>
          </a:xfrm>
          <a:prstGeom prst="rect">
            <a:avLst/>
          </a:prstGeom>
          <a:noFill/>
          <a:ln/>
        </p:spPr>
        <p:txBody>
          <a:bodyPr wrap="square" lIns="0" tIns="0" rIns="0" bIns="0" rtlCol="0" anchor="ctr"/>
          <a:lstStyle/>
          <a:p>
            <a:pPr indent="0" marL="0">
              <a:buNone/>
            </a:pPr>
            <a:r>
              <a:rPr lang="en-US" sz="1200" b="1" spc="133" kern="0" dirty="0">
                <a:solidFill>
                  <a:srgbClr val="0E9AA7"/>
                </a:solidFill>
                <a:latin typeface="Calibri" pitchFamily="34" charset="0"/>
                <a:ea typeface="Calibri" pitchFamily="34" charset="-122"/>
                <a:cs typeface="Calibri" pitchFamily="34" charset="-120"/>
              </a:rPr>
              <a:t>GEOMETRIC  ·  469-D features</a:t>
            </a:r>
            <a:endParaRPr lang="en-US" sz="1200" dirty="0"/>
          </a:p>
        </p:txBody>
      </p:sp>
      <p:sp>
        <p:nvSpPr>
          <p:cNvPr id="18" name="Text 13"/>
          <p:cNvSpPr txBox="1"/>
          <p:nvPr/>
        </p:nvSpPr>
        <p:spPr>
          <a:xfrm>
            <a:off x="4657228" y="3157649"/>
            <a:ext cx="2926007" cy="438901"/>
          </a:xfrm>
          <a:prstGeom prst="rect">
            <a:avLst/>
          </a:prstGeom>
          <a:noFill/>
          <a:ln/>
        </p:spPr>
        <p:txBody>
          <a:bodyPr wrap="square" lIns="0" tIns="0" rIns="0" bIns="0" rtlCol="0" anchor="ctr"/>
          <a:lstStyle/>
          <a:p>
            <a:pPr indent="0" marL="0">
              <a:buNone/>
            </a:pPr>
            <a:r>
              <a:rPr lang="en-US" sz="2000" b="1" dirty="0">
                <a:solidFill>
                  <a:srgbClr val="1A2332"/>
                </a:solidFill>
                <a:latin typeface="Calibri" pitchFamily="34" charset="0"/>
                <a:ea typeface="Calibri" pitchFamily="34" charset="-122"/>
                <a:cs typeface="Calibri" pitchFamily="34" charset="-120"/>
              </a:rPr>
              <a:t>How are the joints related?</a:t>
            </a:r>
            <a:endParaRPr lang="en-US" sz="2000" dirty="0"/>
          </a:p>
        </p:txBody>
      </p:sp>
      <p:sp>
        <p:nvSpPr>
          <p:cNvPr id="19" name="Text 14"/>
          <p:cNvSpPr txBox="1"/>
          <p:nvPr/>
        </p:nvSpPr>
        <p:spPr>
          <a:xfrm>
            <a:off x="4657228" y="3645317"/>
            <a:ext cx="2950390" cy="1341086"/>
          </a:xfrm>
          <a:prstGeom prst="rect">
            <a:avLst/>
          </a:prstGeom>
          <a:noFill/>
          <a:ln/>
        </p:spPr>
        <p:txBody>
          <a:bodyPr wrap="square" lIns="0" tIns="0" rIns="0" bIns="0" rtlCol="0" anchor="t"/>
          <a:lstStyle/>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Hand-centric coordinates, bone lengths, joint angles</a:t>
            </a:r>
            <a:endParaRPr lang="en-US" sz="1333" dirty="0"/>
          </a:p>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Spatial relations, hand velocity and acceleration</a:t>
            </a:r>
            <a:endParaRPr lang="en-US" sz="1333" dirty="0"/>
          </a:p>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Availability mask + gates handle missing detections</a:t>
            </a:r>
            <a:endParaRPr lang="en-US" sz="1333" dirty="0"/>
          </a:p>
        </p:txBody>
      </p:sp>
      <p:sp>
        <p:nvSpPr>
          <p:cNvPr id="20" name="Shape 15"/>
          <p:cNvSpPr/>
          <p:nvPr/>
        </p:nvSpPr>
        <p:spPr>
          <a:xfrm>
            <a:off x="8168436" y="1767796"/>
            <a:ext cx="3413675" cy="3389291"/>
          </a:xfrm>
          <a:prstGeom prst="roundRect">
            <a:avLst>
              <a:gd name="adj" fmla="val 2878"/>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21" name="Shape 16"/>
          <p:cNvSpPr/>
          <p:nvPr/>
        </p:nvSpPr>
        <p:spPr>
          <a:xfrm>
            <a:off x="8436653" y="2060396"/>
            <a:ext cx="682735" cy="682735"/>
          </a:xfrm>
          <a:prstGeom prst="ellipse">
            <a:avLst/>
          </a:prstGeom>
          <a:solidFill>
            <a:srgbClr val="5B5BD6"/>
          </a:solidFill>
          <a:ln w="12700">
            <a:solidFill>
              <a:srgbClr val="5B5BD6"/>
            </a:solidFill>
            <a:prstDash val="solid"/>
          </a:ln>
        </p:spPr>
        <p:txBody>
          <a:bodyPr/>
          <a:p/>
        </p:txBody>
      </p:sp>
      <p:pic>
        <p:nvPicPr>
          <p:cNvPr id="22" name="Image 3" descr="preencoded.png">    </p:cNvPr>
          <p:cNvPicPr>
            <a:picLocks noChangeAspect="1"/>
          </p:cNvPicPr>
          <p:nvPr/>
        </p:nvPicPr>
        <p:blipFill>
          <a:blip r:embed="rId4"/>
          <a:stretch>
            <a:fillRect/>
          </a:stretch>
        </p:blipFill>
        <p:spPr>
          <a:xfrm>
            <a:off x="8614164" y="2237908"/>
            <a:ext cx="327713" cy="327713"/>
          </a:xfrm>
          <a:prstGeom prst="rect">
            <a:avLst/>
          </a:prstGeom>
        </p:spPr>
      </p:pic>
      <p:sp>
        <p:nvSpPr>
          <p:cNvPr id="23" name="Text 17"/>
          <p:cNvSpPr txBox="1"/>
          <p:nvPr/>
        </p:nvSpPr>
        <p:spPr>
          <a:xfrm>
            <a:off x="8436653" y="2889432"/>
            <a:ext cx="2926007" cy="268217"/>
          </a:xfrm>
          <a:prstGeom prst="rect">
            <a:avLst/>
          </a:prstGeom>
          <a:noFill/>
          <a:ln/>
        </p:spPr>
        <p:txBody>
          <a:bodyPr wrap="square" lIns="0" tIns="0" rIns="0" bIns="0" rtlCol="0" anchor="ctr"/>
          <a:lstStyle/>
          <a:p>
            <a:pPr indent="0" marL="0">
              <a:buNone/>
            </a:pPr>
            <a:r>
              <a:rPr lang="en-US" sz="1200" b="1" spc="133" kern="0" dirty="0">
                <a:solidFill>
                  <a:srgbClr val="5B5BD6"/>
                </a:solidFill>
                <a:latin typeface="Calibri" pitchFamily="34" charset="0"/>
                <a:ea typeface="Calibri" pitchFamily="34" charset="-122"/>
                <a:cs typeface="Calibri" pitchFamily="34" charset="-120"/>
              </a:rPr>
              <a:t>TEMPORAL  ·  Conv1D + HTMA</a:t>
            </a:r>
            <a:endParaRPr lang="en-US" sz="1200" dirty="0"/>
          </a:p>
        </p:txBody>
      </p:sp>
      <p:sp>
        <p:nvSpPr>
          <p:cNvPr id="24" name="Text 18"/>
          <p:cNvSpPr txBox="1"/>
          <p:nvPr/>
        </p:nvSpPr>
        <p:spPr>
          <a:xfrm>
            <a:off x="8436653" y="3157649"/>
            <a:ext cx="2926007" cy="438901"/>
          </a:xfrm>
          <a:prstGeom prst="rect">
            <a:avLst/>
          </a:prstGeom>
          <a:noFill/>
          <a:ln/>
        </p:spPr>
        <p:txBody>
          <a:bodyPr wrap="square" lIns="0" tIns="0" rIns="0" bIns="0" rtlCol="0" anchor="ctr"/>
          <a:lstStyle/>
          <a:p>
            <a:pPr indent="0" marL="0">
              <a:buNone/>
            </a:pPr>
            <a:r>
              <a:rPr lang="en-US" sz="2000" b="1" dirty="0">
                <a:solidFill>
                  <a:srgbClr val="1A2332"/>
                </a:solidFill>
                <a:latin typeface="Calibri" pitchFamily="34" charset="0"/>
                <a:ea typeface="Calibri" pitchFamily="34" charset="-122"/>
                <a:cs typeface="Calibri" pitchFamily="34" charset="-120"/>
              </a:rPr>
              <a:t>How does the sign move?</a:t>
            </a:r>
            <a:endParaRPr lang="en-US" sz="2000" dirty="0"/>
          </a:p>
        </p:txBody>
      </p:sp>
      <p:sp>
        <p:nvSpPr>
          <p:cNvPr id="25" name="Text 19"/>
          <p:cNvSpPr txBox="1"/>
          <p:nvPr/>
        </p:nvSpPr>
        <p:spPr>
          <a:xfrm>
            <a:off x="8436653" y="3645317"/>
            <a:ext cx="2950390" cy="1341086"/>
          </a:xfrm>
          <a:prstGeom prst="rect">
            <a:avLst/>
          </a:prstGeom>
          <a:noFill/>
          <a:ln/>
        </p:spPr>
        <p:txBody>
          <a:bodyPr wrap="square" lIns="0" tIns="0" rIns="0" bIns="0" rtlCol="0" anchor="t"/>
          <a:lstStyle/>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A sign is a motion, not a single pose</a:t>
            </a:r>
            <a:endParaRPr lang="en-US" sz="1333" dirty="0"/>
          </a:p>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Similar handshapes can differ only in movement</a:t>
            </a:r>
            <a:endParaRPr lang="en-US" sz="1333" dirty="0"/>
          </a:p>
          <a:p>
            <a:pPr marL="342900" indent="-342900">
              <a:spcAft>
                <a:spcPts val="533"/>
              </a:spcAft>
              <a:buSzPct val="100000"/>
              <a:buChar char="•"/>
            </a:pPr>
            <a:r>
              <a:rPr lang="en-US" sz="1333" dirty="0">
                <a:solidFill>
                  <a:srgbClr val="5A6678"/>
                </a:solidFill>
                <a:latin typeface="Calibri" pitchFamily="34" charset="0"/>
                <a:ea typeface="Calibri" pitchFamily="34" charset="-122"/>
                <a:cs typeface="Calibri" pitchFamily="34" charset="-120"/>
              </a:rPr>
              <a:t>Dilated Conv1D learns local motion; HTMA links all 64 frames</a:t>
            </a:r>
            <a:endParaRPr lang="en-US" sz="1333" dirty="0"/>
          </a:p>
        </p:txBody>
      </p:sp>
      <p:sp>
        <p:nvSpPr>
          <p:cNvPr id="26" name="Shape 20"/>
          <p:cNvSpPr/>
          <p:nvPr/>
        </p:nvSpPr>
        <p:spPr>
          <a:xfrm>
            <a:off x="609585" y="5461879"/>
            <a:ext cx="10972526" cy="755885"/>
          </a:xfrm>
          <a:prstGeom prst="roundRect">
            <a:avLst>
              <a:gd name="adj" fmla="val 12903"/>
            </a:avLst>
          </a:prstGeom>
          <a:solidFill>
            <a:srgbClr val="0F1B2D"/>
          </a:solidFill>
          <a:ln w="12700">
            <a:solidFill>
              <a:srgbClr val="0F1B2D"/>
            </a:solidFill>
            <a:prstDash val="solid"/>
          </a:ln>
        </p:spPr>
        <p:txBody>
          <a:bodyPr/>
          <a:p/>
        </p:txBody>
      </p:sp>
      <p:sp>
        <p:nvSpPr>
          <p:cNvPr id="27" name="Text 21"/>
          <p:cNvSpPr txBox="1"/>
          <p:nvPr/>
        </p:nvSpPr>
        <p:spPr>
          <a:xfrm>
            <a:off x="914377" y="5461879"/>
            <a:ext cx="10362941" cy="755885"/>
          </a:xfrm>
          <a:prstGeom prst="rect">
            <a:avLst/>
          </a:prstGeom>
          <a:noFill/>
          <a:ln/>
        </p:spPr>
        <p:txBody>
          <a:bodyPr wrap="square" lIns="0" tIns="0" rIns="0" bIns="0" rtlCol="0" anchor="ctr"/>
          <a:lstStyle/>
          <a:p>
            <a:pPr indent="0" marL="0">
              <a:buNone/>
            </a:pPr>
            <a:r>
              <a:rPr lang="en-US" sz="1600" b="1" dirty="0">
                <a:solidFill>
                  <a:srgbClr val="F5B031"/>
                </a:solidFill>
                <a:latin typeface="Calibri" pitchFamily="34" charset="0"/>
                <a:ea typeface="Calibri" pitchFamily="34" charset="-122"/>
                <a:cs typeface="Calibri" pitchFamily="34" charset="-120"/>
              </a:rPr>
              <a:t>Gated fusion</a:t>
            </a:r>
            <a:pPr indent="0" marL="0">
              <a:buNone/>
            </a:pPr>
            <a:r>
              <a:rPr lang="en-US" sz="1600" dirty="0">
                <a:solidFill>
                  <a:srgbClr val="FFFFFF"/>
                </a:solidFill>
                <a:latin typeface="Calibri" pitchFamily="34" charset="0"/>
                <a:ea typeface="Calibri" pitchFamily="34" charset="-122"/>
                <a:cs typeface="Calibri" pitchFamily="34" charset="-120"/>
              </a:rPr>
              <a:t> combines body parts + geometry within each frame.   </a:t>
            </a:r>
            <a:pPr indent="0" marL="0">
              <a:buNone/>
            </a:pPr>
            <a:r>
              <a:rPr lang="en-US" sz="1600" b="1" dirty="0">
                <a:solidFill>
                  <a:srgbClr val="F5B031"/>
                </a:solidFill>
                <a:latin typeface="Calibri" pitchFamily="34" charset="0"/>
                <a:ea typeface="Calibri" pitchFamily="34" charset="-122"/>
                <a:cs typeface="Calibri" pitchFamily="34" charset="-120"/>
              </a:rPr>
              <a:t>HTMA</a:t>
            </a:r>
            <a:pPr indent="0" marL="0">
              <a:buNone/>
            </a:pPr>
            <a:r>
              <a:rPr lang="en-US" sz="1600" dirty="0">
                <a:solidFill>
                  <a:srgbClr val="FFFFFF"/>
                </a:solidFill>
                <a:latin typeface="Calibri" pitchFamily="34" charset="0"/>
                <a:ea typeface="Calibri" pitchFamily="34" charset="-122"/>
                <a:cs typeface="Calibri" pitchFamily="34" charset="-120"/>
              </a:rPr>
              <a:t> combines information across the 64 frames.  Together they form one representation of the whole sign.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438339"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438339"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10  ·  SYSTEM DESIGN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System Architecture</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13</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2072588" y="1584920"/>
            <a:ext cx="3291758" cy="487668"/>
          </a:xfrm>
          <a:prstGeom prst="roundRect">
            <a:avLst>
              <a:gd name="adj" fmla="val 15000"/>
            </a:avLst>
          </a:prstGeom>
          <a:solidFill>
            <a:srgbClr val="64748B"/>
          </a:solidFill>
          <a:ln w="12700">
            <a:solidFill>
              <a:srgbClr val="64748B"/>
            </a:solidFill>
            <a:prstDash val="solid"/>
          </a:ln>
        </p:spPr>
        <p:txBody>
          <a:bodyPr/>
          <a:p/>
        </p:txBody>
      </p:sp>
      <p:sp>
        <p:nvSpPr>
          <p:cNvPr id="9" name="Text 6"/>
          <p:cNvSpPr txBox="1"/>
          <p:nvPr/>
        </p:nvSpPr>
        <p:spPr>
          <a:xfrm>
            <a:off x="2072588" y="1584920"/>
            <a:ext cx="3291758"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Video Input</a:t>
            </a:r>
            <a:endParaRPr lang="en-US" sz="1467" dirty="0"/>
          </a:p>
        </p:txBody>
      </p:sp>
      <p:sp>
        <p:nvSpPr>
          <p:cNvPr id="10" name="Shape 7"/>
          <p:cNvSpPr/>
          <p:nvPr/>
        </p:nvSpPr>
        <p:spPr>
          <a:xfrm>
            <a:off x="3718467" y="2072588"/>
            <a:ext cx="0" cy="195067"/>
          </a:xfrm>
          <a:prstGeom prst="line">
            <a:avLst/>
          </a:prstGeom>
          <a:noFill/>
          <a:ln w="21166">
            <a:solidFill>
              <a:srgbClr val="8494AA"/>
            </a:solidFill>
            <a:prstDash val="solid"/>
            <a:tailEnd type="triangle"/>
          </a:ln>
        </p:spPr>
        <p:txBody>
          <a:bodyPr/>
          <a:p/>
        </p:txBody>
      </p:sp>
      <p:sp>
        <p:nvSpPr>
          <p:cNvPr id="11" name="Shape 8"/>
          <p:cNvSpPr/>
          <p:nvPr/>
        </p:nvSpPr>
        <p:spPr>
          <a:xfrm>
            <a:off x="2072588" y="2267655"/>
            <a:ext cx="3291758" cy="487668"/>
          </a:xfrm>
          <a:prstGeom prst="roundRect">
            <a:avLst>
              <a:gd name="adj" fmla="val 15000"/>
            </a:avLst>
          </a:prstGeom>
          <a:solidFill>
            <a:srgbClr val="64748B"/>
          </a:solidFill>
          <a:ln w="12700">
            <a:solidFill>
              <a:srgbClr val="64748B"/>
            </a:solidFill>
            <a:prstDash val="solid"/>
          </a:ln>
        </p:spPr>
        <p:txBody>
          <a:bodyPr/>
          <a:p/>
        </p:txBody>
      </p:sp>
      <p:sp>
        <p:nvSpPr>
          <p:cNvPr id="12" name="Text 9"/>
          <p:cNvSpPr txBox="1"/>
          <p:nvPr/>
        </p:nvSpPr>
        <p:spPr>
          <a:xfrm>
            <a:off x="2072588" y="2267655"/>
            <a:ext cx="3291758"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64-Frame Sampling → MediaPipe</a:t>
            </a:r>
            <a:endParaRPr lang="en-US" sz="1467" dirty="0"/>
          </a:p>
        </p:txBody>
      </p:sp>
      <p:sp>
        <p:nvSpPr>
          <p:cNvPr id="13" name="Shape 10"/>
          <p:cNvSpPr/>
          <p:nvPr/>
        </p:nvSpPr>
        <p:spPr>
          <a:xfrm>
            <a:off x="3718467" y="2755323"/>
            <a:ext cx="0" cy="170684"/>
          </a:xfrm>
          <a:prstGeom prst="line">
            <a:avLst/>
          </a:prstGeom>
          <a:noFill/>
          <a:ln w="21166">
            <a:solidFill>
              <a:srgbClr val="8494AA"/>
            </a:solidFill>
            <a:prstDash val="solid"/>
          </a:ln>
        </p:spPr>
        <p:txBody>
          <a:bodyPr/>
          <a:p/>
        </p:txBody>
      </p:sp>
      <p:sp>
        <p:nvSpPr>
          <p:cNvPr id="14" name="Shape 11"/>
          <p:cNvSpPr/>
          <p:nvPr/>
        </p:nvSpPr>
        <p:spPr>
          <a:xfrm>
            <a:off x="1975055" y="2926007"/>
            <a:ext cx="3486825" cy="0"/>
          </a:xfrm>
          <a:prstGeom prst="line">
            <a:avLst/>
          </a:prstGeom>
          <a:noFill/>
          <a:ln w="21166">
            <a:solidFill>
              <a:srgbClr val="8494AA"/>
            </a:solidFill>
            <a:prstDash val="solid"/>
          </a:ln>
        </p:spPr>
        <p:txBody>
          <a:bodyPr/>
          <a:p/>
        </p:txBody>
      </p:sp>
      <p:sp>
        <p:nvSpPr>
          <p:cNvPr id="15" name="Shape 12"/>
          <p:cNvSpPr/>
          <p:nvPr/>
        </p:nvSpPr>
        <p:spPr>
          <a:xfrm>
            <a:off x="1975055" y="2926007"/>
            <a:ext cx="0" cy="195067"/>
          </a:xfrm>
          <a:prstGeom prst="line">
            <a:avLst/>
          </a:prstGeom>
          <a:noFill/>
          <a:ln w="21166">
            <a:solidFill>
              <a:srgbClr val="8494AA"/>
            </a:solidFill>
            <a:prstDash val="solid"/>
            <a:tailEnd type="triangle"/>
          </a:ln>
        </p:spPr>
        <p:txBody>
          <a:bodyPr/>
          <a:p/>
        </p:txBody>
      </p:sp>
      <p:sp>
        <p:nvSpPr>
          <p:cNvPr id="16" name="Shape 13"/>
          <p:cNvSpPr/>
          <p:nvPr/>
        </p:nvSpPr>
        <p:spPr>
          <a:xfrm>
            <a:off x="5461879" y="2926007"/>
            <a:ext cx="0" cy="195067"/>
          </a:xfrm>
          <a:prstGeom prst="line">
            <a:avLst/>
          </a:prstGeom>
          <a:noFill/>
          <a:ln w="21166">
            <a:solidFill>
              <a:srgbClr val="8494AA"/>
            </a:solidFill>
            <a:prstDash val="solid"/>
            <a:tailEnd type="triangle"/>
          </a:ln>
        </p:spPr>
        <p:txBody>
          <a:bodyPr/>
          <a:p/>
        </p:txBody>
      </p:sp>
      <p:sp>
        <p:nvSpPr>
          <p:cNvPr id="17" name="Shape 14"/>
          <p:cNvSpPr/>
          <p:nvPr/>
        </p:nvSpPr>
        <p:spPr>
          <a:xfrm>
            <a:off x="512051" y="3121074"/>
            <a:ext cx="2926007" cy="633968"/>
          </a:xfrm>
          <a:prstGeom prst="roundRect">
            <a:avLst>
              <a:gd name="adj" fmla="val 11538"/>
            </a:avLst>
          </a:prstGeom>
          <a:solidFill>
            <a:srgbClr val="E39A0B"/>
          </a:solidFill>
          <a:ln w="12700">
            <a:solidFill>
              <a:srgbClr val="E39A0B"/>
            </a:solidFill>
            <a:prstDash val="solid"/>
          </a:ln>
        </p:spPr>
        <p:txBody>
          <a:bodyPr/>
          <a:p/>
        </p:txBody>
      </p:sp>
      <p:sp>
        <p:nvSpPr>
          <p:cNvPr id="18" name="Text 15"/>
          <p:cNvSpPr txBox="1"/>
          <p:nvPr/>
        </p:nvSpPr>
        <p:spPr>
          <a:xfrm>
            <a:off x="512051" y="3121074"/>
            <a:ext cx="2926007" cy="6339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Part-Aware Conv1D Encoders</a:t>
            </a:r>
            <a:endParaRPr lang="en-US" sz="1467" dirty="0"/>
          </a:p>
          <a:p>
            <a:pPr algn="ctr" indent="0" marL="0">
              <a:buNone/>
            </a:pPr>
            <a:r>
              <a:rPr lang="en-US" sz="1133" dirty="0">
                <a:solidFill>
                  <a:srgbClr val="E6ECF3"/>
                </a:solidFill>
                <a:latin typeface="Calibri" pitchFamily="34" charset="0"/>
                <a:ea typeface="Calibri" pitchFamily="34" charset="-122"/>
                <a:cs typeface="Calibri" pitchFamily="34" charset="-120"/>
              </a:rPr>
              <a:t>L hand · R hand · pose · face → 4 × 64-D</a:t>
            </a:r>
            <a:endParaRPr lang="en-US" sz="1467" dirty="0"/>
          </a:p>
        </p:txBody>
      </p:sp>
      <p:sp>
        <p:nvSpPr>
          <p:cNvPr id="19" name="Shape 16"/>
          <p:cNvSpPr/>
          <p:nvPr/>
        </p:nvSpPr>
        <p:spPr>
          <a:xfrm>
            <a:off x="3998876" y="3121074"/>
            <a:ext cx="2926007" cy="633968"/>
          </a:xfrm>
          <a:prstGeom prst="roundRect">
            <a:avLst>
              <a:gd name="adj" fmla="val 11538"/>
            </a:avLst>
          </a:prstGeom>
          <a:solidFill>
            <a:srgbClr val="0E9AA7"/>
          </a:solidFill>
          <a:ln w="12700">
            <a:solidFill>
              <a:srgbClr val="0E9AA7"/>
            </a:solidFill>
            <a:prstDash val="solid"/>
          </a:ln>
        </p:spPr>
        <p:txBody>
          <a:bodyPr/>
          <a:p/>
        </p:txBody>
      </p:sp>
      <p:sp>
        <p:nvSpPr>
          <p:cNvPr id="20" name="Text 17"/>
          <p:cNvSpPr txBox="1"/>
          <p:nvPr/>
        </p:nvSpPr>
        <p:spPr>
          <a:xfrm>
            <a:off x="3998876" y="3121074"/>
            <a:ext cx="2926007" cy="6339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Geometry Conv1D + Availability</a:t>
            </a:r>
            <a:endParaRPr lang="en-US" sz="1467" dirty="0"/>
          </a:p>
          <a:p>
            <a:pPr algn="ctr" indent="0" marL="0">
              <a:buNone/>
            </a:pPr>
            <a:r>
              <a:rPr lang="en-US" sz="1133" dirty="0">
                <a:solidFill>
                  <a:srgbClr val="E6ECF3"/>
                </a:solidFill>
                <a:latin typeface="Calibri" pitchFamily="34" charset="0"/>
                <a:ea typeface="Calibri" pitchFamily="34" charset="-122"/>
                <a:cs typeface="Calibri" pitchFamily="34" charset="-120"/>
              </a:rPr>
              <a:t>469-D → 128  ·  4-D → 16</a:t>
            </a:r>
            <a:endParaRPr lang="en-US" sz="1467" dirty="0"/>
          </a:p>
        </p:txBody>
      </p:sp>
      <p:sp>
        <p:nvSpPr>
          <p:cNvPr id="21" name="Shape 18"/>
          <p:cNvSpPr/>
          <p:nvPr/>
        </p:nvSpPr>
        <p:spPr>
          <a:xfrm>
            <a:off x="1975055" y="3755042"/>
            <a:ext cx="0" cy="182875"/>
          </a:xfrm>
          <a:prstGeom prst="line">
            <a:avLst/>
          </a:prstGeom>
          <a:noFill/>
          <a:ln w="21166">
            <a:solidFill>
              <a:srgbClr val="8494AA"/>
            </a:solidFill>
            <a:prstDash val="solid"/>
          </a:ln>
        </p:spPr>
        <p:txBody>
          <a:bodyPr/>
          <a:p/>
        </p:txBody>
      </p:sp>
      <p:sp>
        <p:nvSpPr>
          <p:cNvPr id="22" name="Shape 19"/>
          <p:cNvSpPr/>
          <p:nvPr/>
        </p:nvSpPr>
        <p:spPr>
          <a:xfrm>
            <a:off x="5461879" y="3755042"/>
            <a:ext cx="0" cy="182875"/>
          </a:xfrm>
          <a:prstGeom prst="line">
            <a:avLst/>
          </a:prstGeom>
          <a:noFill/>
          <a:ln w="21166">
            <a:solidFill>
              <a:srgbClr val="8494AA"/>
            </a:solidFill>
            <a:prstDash val="solid"/>
          </a:ln>
        </p:spPr>
        <p:txBody>
          <a:bodyPr/>
          <a:p/>
        </p:txBody>
      </p:sp>
      <p:sp>
        <p:nvSpPr>
          <p:cNvPr id="23" name="Shape 20"/>
          <p:cNvSpPr/>
          <p:nvPr/>
        </p:nvSpPr>
        <p:spPr>
          <a:xfrm>
            <a:off x="1975055" y="3937918"/>
            <a:ext cx="3486825" cy="0"/>
          </a:xfrm>
          <a:prstGeom prst="line">
            <a:avLst/>
          </a:prstGeom>
          <a:noFill/>
          <a:ln w="21166">
            <a:solidFill>
              <a:srgbClr val="8494AA"/>
            </a:solidFill>
            <a:prstDash val="solid"/>
          </a:ln>
        </p:spPr>
        <p:txBody>
          <a:bodyPr/>
          <a:p/>
        </p:txBody>
      </p:sp>
      <p:sp>
        <p:nvSpPr>
          <p:cNvPr id="24" name="Shape 21"/>
          <p:cNvSpPr/>
          <p:nvPr/>
        </p:nvSpPr>
        <p:spPr>
          <a:xfrm>
            <a:off x="3718467" y="3937918"/>
            <a:ext cx="0" cy="207259"/>
          </a:xfrm>
          <a:prstGeom prst="line">
            <a:avLst/>
          </a:prstGeom>
          <a:noFill/>
          <a:ln w="21166">
            <a:solidFill>
              <a:srgbClr val="8494AA"/>
            </a:solidFill>
            <a:prstDash val="solid"/>
            <a:tailEnd type="triangle"/>
          </a:ln>
        </p:spPr>
        <p:txBody>
          <a:bodyPr/>
          <a:p/>
        </p:txBody>
      </p:sp>
      <p:sp>
        <p:nvSpPr>
          <p:cNvPr id="25" name="Shape 22"/>
          <p:cNvSpPr/>
          <p:nvPr/>
        </p:nvSpPr>
        <p:spPr>
          <a:xfrm>
            <a:off x="2072588" y="4145176"/>
            <a:ext cx="3291758" cy="487668"/>
          </a:xfrm>
          <a:prstGeom prst="roundRect">
            <a:avLst>
              <a:gd name="adj" fmla="val 15000"/>
            </a:avLst>
          </a:prstGeom>
          <a:solidFill>
            <a:srgbClr val="1A2A42"/>
          </a:solidFill>
          <a:ln w="12700">
            <a:solidFill>
              <a:srgbClr val="1A2A42"/>
            </a:solidFill>
            <a:prstDash val="solid"/>
          </a:ln>
        </p:spPr>
        <p:txBody>
          <a:bodyPr/>
          <a:p/>
        </p:txBody>
      </p:sp>
      <p:sp>
        <p:nvSpPr>
          <p:cNvPr id="26" name="Text 23"/>
          <p:cNvSpPr txBox="1"/>
          <p:nvPr/>
        </p:nvSpPr>
        <p:spPr>
          <a:xfrm>
            <a:off x="2072588" y="4145176"/>
            <a:ext cx="3291758"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Gated Fusion  (400 → 320)</a:t>
            </a:r>
            <a:endParaRPr lang="en-US" sz="1467" dirty="0"/>
          </a:p>
        </p:txBody>
      </p:sp>
      <p:sp>
        <p:nvSpPr>
          <p:cNvPr id="27" name="Shape 24"/>
          <p:cNvSpPr/>
          <p:nvPr/>
        </p:nvSpPr>
        <p:spPr>
          <a:xfrm>
            <a:off x="3718467" y="4632844"/>
            <a:ext cx="0" cy="195067"/>
          </a:xfrm>
          <a:prstGeom prst="line">
            <a:avLst/>
          </a:prstGeom>
          <a:noFill/>
          <a:ln w="21166">
            <a:solidFill>
              <a:srgbClr val="8494AA"/>
            </a:solidFill>
            <a:prstDash val="solid"/>
            <a:tailEnd type="triangle"/>
          </a:ln>
        </p:spPr>
        <p:txBody>
          <a:bodyPr/>
          <a:p/>
        </p:txBody>
      </p:sp>
      <p:sp>
        <p:nvSpPr>
          <p:cNvPr id="28" name="Shape 25"/>
          <p:cNvSpPr/>
          <p:nvPr/>
        </p:nvSpPr>
        <p:spPr>
          <a:xfrm>
            <a:off x="2072588" y="4827911"/>
            <a:ext cx="3291758" cy="487668"/>
          </a:xfrm>
          <a:prstGeom prst="roundRect">
            <a:avLst>
              <a:gd name="adj" fmla="val 15000"/>
            </a:avLst>
          </a:prstGeom>
          <a:solidFill>
            <a:srgbClr val="5B5BD6"/>
          </a:solidFill>
          <a:ln w="12700">
            <a:solidFill>
              <a:srgbClr val="5B5BD6"/>
            </a:solidFill>
            <a:prstDash val="solid"/>
          </a:ln>
        </p:spPr>
        <p:txBody>
          <a:bodyPr/>
          <a:p/>
        </p:txBody>
      </p:sp>
      <p:sp>
        <p:nvSpPr>
          <p:cNvPr id="29" name="Text 26"/>
          <p:cNvSpPr txBox="1"/>
          <p:nvPr/>
        </p:nvSpPr>
        <p:spPr>
          <a:xfrm>
            <a:off x="2072588" y="4827911"/>
            <a:ext cx="3291758"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4 × HTMA Blocks</a:t>
            </a:r>
            <a:endParaRPr lang="en-US" sz="1467" dirty="0"/>
          </a:p>
        </p:txBody>
      </p:sp>
      <p:sp>
        <p:nvSpPr>
          <p:cNvPr id="30" name="Shape 27"/>
          <p:cNvSpPr/>
          <p:nvPr/>
        </p:nvSpPr>
        <p:spPr>
          <a:xfrm>
            <a:off x="3718467" y="5315579"/>
            <a:ext cx="0" cy="195067"/>
          </a:xfrm>
          <a:prstGeom prst="line">
            <a:avLst/>
          </a:prstGeom>
          <a:noFill/>
          <a:ln w="21166">
            <a:solidFill>
              <a:srgbClr val="8494AA"/>
            </a:solidFill>
            <a:prstDash val="solid"/>
            <a:tailEnd type="triangle"/>
          </a:ln>
        </p:spPr>
        <p:txBody>
          <a:bodyPr/>
          <a:p/>
        </p:txBody>
      </p:sp>
      <p:sp>
        <p:nvSpPr>
          <p:cNvPr id="31" name="Shape 28"/>
          <p:cNvSpPr/>
          <p:nvPr/>
        </p:nvSpPr>
        <p:spPr>
          <a:xfrm>
            <a:off x="2072588" y="5510646"/>
            <a:ext cx="3291758" cy="487668"/>
          </a:xfrm>
          <a:prstGeom prst="roundRect">
            <a:avLst>
              <a:gd name="adj" fmla="val 15000"/>
            </a:avLst>
          </a:prstGeom>
          <a:solidFill>
            <a:srgbClr val="3B4A60"/>
          </a:solidFill>
          <a:ln w="12700">
            <a:solidFill>
              <a:srgbClr val="3B4A60"/>
            </a:solidFill>
            <a:prstDash val="solid"/>
          </a:ln>
        </p:spPr>
        <p:txBody>
          <a:bodyPr/>
          <a:p/>
        </p:txBody>
      </p:sp>
      <p:sp>
        <p:nvSpPr>
          <p:cNvPr id="32" name="Text 29"/>
          <p:cNvSpPr txBox="1"/>
          <p:nvPr/>
        </p:nvSpPr>
        <p:spPr>
          <a:xfrm>
            <a:off x="2072588" y="5510646"/>
            <a:ext cx="3291758"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CLS + Attention Pool → 262</a:t>
            </a:r>
            <a:endParaRPr lang="en-US" sz="1467" dirty="0"/>
          </a:p>
        </p:txBody>
      </p:sp>
      <p:sp>
        <p:nvSpPr>
          <p:cNvPr id="33" name="Shape 30"/>
          <p:cNvSpPr/>
          <p:nvPr/>
        </p:nvSpPr>
        <p:spPr>
          <a:xfrm>
            <a:off x="5364346" y="5754480"/>
            <a:ext cx="195067" cy="0"/>
          </a:xfrm>
          <a:prstGeom prst="line">
            <a:avLst/>
          </a:prstGeom>
          <a:noFill/>
          <a:ln w="21166">
            <a:solidFill>
              <a:srgbClr val="8494AA"/>
            </a:solidFill>
            <a:prstDash val="solid"/>
            <a:tailEnd type="triangle"/>
          </a:ln>
        </p:spPr>
        <p:txBody>
          <a:bodyPr/>
          <a:p/>
        </p:txBody>
      </p:sp>
      <p:sp>
        <p:nvSpPr>
          <p:cNvPr id="35" name="Shape 31"/>
          <p:cNvSpPr/>
          <p:nvPr/>
        </p:nvSpPr>
        <p:spPr>
          <a:xfrm>
            <a:off x="5559413" y="5510646"/>
            <a:ext cx="1560537" cy="487668"/>
          </a:xfrm>
          <a:prstGeom prst="roundRect">
            <a:avLst>
              <a:gd name="adj" fmla="val 15000"/>
            </a:avLst>
          </a:prstGeom>
          <a:solidFill>
            <a:srgbClr val="3B4A60"/>
          </a:solidFill>
          <a:ln w="12700">
            <a:solidFill>
              <a:srgbClr val="3B4A60"/>
            </a:solidFill>
            <a:prstDash val="solid"/>
          </a:ln>
        </p:spPr>
        <p:txBody>
          <a:bodyPr/>
          <a:p/>
        </p:txBody>
      </p:sp>
      <p:sp>
        <p:nvSpPr>
          <p:cNvPr id="36" name="Text 32"/>
          <p:cNvSpPr txBox="1"/>
          <p:nvPr/>
        </p:nvSpPr>
        <p:spPr>
          <a:xfrm>
            <a:off x="5559413" y="5510646"/>
            <a:ext cx="1560537"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Predicted Sign</a:t>
            </a:r>
            <a:endParaRPr lang="en-US" sz="1467" dirty="0"/>
          </a:p>
        </p:txBody>
      </p:sp>
      <p:sp>
        <p:nvSpPr>
          <p:cNvPr id="37" name="Shape 33"/>
          <p:cNvSpPr/>
          <p:nvPr/>
        </p:nvSpPr>
        <p:spPr>
          <a:xfrm>
            <a:off x="7119950" y="5754480"/>
            <a:ext cx="170684" cy="0"/>
          </a:xfrm>
          <a:prstGeom prst="line">
            <a:avLst/>
          </a:prstGeom>
          <a:noFill/>
          <a:ln w="21166">
            <a:solidFill>
              <a:srgbClr val="8494AA"/>
            </a:solidFill>
            <a:prstDash val="solid"/>
            <a:tailEnd type="triangle"/>
          </a:ln>
        </p:spPr>
        <p:txBody>
          <a:bodyPr/>
          <a:p/>
        </p:txBody>
      </p:sp>
      <p:sp>
        <p:nvSpPr>
          <p:cNvPr id="38" name="Shape 34"/>
          <p:cNvSpPr/>
          <p:nvPr/>
        </p:nvSpPr>
        <p:spPr>
          <a:xfrm>
            <a:off x="7290634" y="5510646"/>
            <a:ext cx="1560537" cy="487668"/>
          </a:xfrm>
          <a:prstGeom prst="roundRect">
            <a:avLst>
              <a:gd name="adj" fmla="val 15000"/>
            </a:avLst>
          </a:prstGeom>
          <a:solidFill>
            <a:srgbClr val="2E9E5B"/>
          </a:solidFill>
          <a:ln w="12700">
            <a:solidFill>
              <a:srgbClr val="2E9E5B"/>
            </a:solidFill>
            <a:prstDash val="solid"/>
          </a:ln>
        </p:spPr>
        <p:txBody>
          <a:bodyPr/>
          <a:p/>
        </p:txBody>
      </p:sp>
      <p:sp>
        <p:nvSpPr>
          <p:cNvPr id="39" name="Text 35"/>
          <p:cNvSpPr txBox="1"/>
          <p:nvPr/>
        </p:nvSpPr>
        <p:spPr>
          <a:xfrm>
            <a:off x="7290634" y="5510646"/>
            <a:ext cx="1560537"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Text Output</a:t>
            </a:r>
            <a:endParaRPr lang="en-US" sz="1467" dirty="0"/>
          </a:p>
        </p:txBody>
      </p:sp>
      <p:sp>
        <p:nvSpPr>
          <p:cNvPr id="40" name="Shape 36"/>
          <p:cNvSpPr/>
          <p:nvPr/>
        </p:nvSpPr>
        <p:spPr>
          <a:xfrm>
            <a:off x="8851171" y="5754480"/>
            <a:ext cx="170684" cy="0"/>
          </a:xfrm>
          <a:prstGeom prst="line">
            <a:avLst/>
          </a:prstGeom>
          <a:noFill/>
          <a:ln w="21166">
            <a:solidFill>
              <a:srgbClr val="8494AA"/>
            </a:solidFill>
            <a:prstDash val="solid"/>
            <a:tailEnd type="triangle"/>
          </a:ln>
        </p:spPr>
        <p:txBody>
          <a:bodyPr/>
          <a:p/>
        </p:txBody>
      </p:sp>
      <p:sp>
        <p:nvSpPr>
          <p:cNvPr id="41" name="Shape 37"/>
          <p:cNvSpPr/>
          <p:nvPr/>
        </p:nvSpPr>
        <p:spPr>
          <a:xfrm>
            <a:off x="9021854" y="5510646"/>
            <a:ext cx="1560537" cy="487668"/>
          </a:xfrm>
          <a:prstGeom prst="roundRect">
            <a:avLst>
              <a:gd name="adj" fmla="val 15000"/>
            </a:avLst>
          </a:prstGeom>
          <a:solidFill>
            <a:srgbClr val="2E9E5B"/>
          </a:solidFill>
          <a:ln w="12700">
            <a:solidFill>
              <a:srgbClr val="2E9E5B"/>
            </a:solidFill>
            <a:prstDash val="solid"/>
          </a:ln>
        </p:spPr>
        <p:txBody>
          <a:bodyPr/>
          <a:p/>
        </p:txBody>
      </p:sp>
      <p:sp>
        <p:nvSpPr>
          <p:cNvPr id="42" name="Text 38"/>
          <p:cNvSpPr txBox="1"/>
          <p:nvPr/>
        </p:nvSpPr>
        <p:spPr>
          <a:xfrm>
            <a:off x="9021854" y="5510646"/>
            <a:ext cx="1560537" cy="487668"/>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Text-to-Speech</a:t>
            </a:r>
            <a:endParaRPr lang="en-US" sz="1467" dirty="0"/>
          </a:p>
        </p:txBody>
      </p:sp>
      <p:sp>
        <p:nvSpPr>
          <p:cNvPr id="43" name="Text 39"/>
          <p:cNvSpPr txBox="1"/>
          <p:nvPr/>
        </p:nvSpPr>
        <p:spPr>
          <a:xfrm>
            <a:off x="7741726" y="1584920"/>
            <a:ext cx="3779426" cy="292601"/>
          </a:xfrm>
          <a:prstGeom prst="rect">
            <a:avLst/>
          </a:prstGeom>
          <a:noFill/>
          <a:ln/>
        </p:spPr>
        <p:txBody>
          <a:bodyPr wrap="square" lIns="0" tIns="0" rIns="0" bIns="0" rtlCol="0" anchor="ctr"/>
          <a:lstStyle/>
          <a:p>
            <a:pPr indent="0" marL="0">
              <a:buNone/>
            </a:pPr>
            <a:r>
              <a:rPr lang="en-US" sz="1200" b="1" spc="200" kern="0" dirty="0">
                <a:solidFill>
                  <a:srgbClr val="5A6678"/>
                </a:solidFill>
                <a:latin typeface="Calibri" pitchFamily="34" charset="0"/>
                <a:ea typeface="Calibri" pitchFamily="34" charset="-122"/>
                <a:cs typeface="Calibri" pitchFamily="34" charset="-120"/>
              </a:rPr>
              <a:t>INFORMATION TYPES</a:t>
            </a:r>
            <a:endParaRPr lang="en-US" sz="1200" dirty="0"/>
          </a:p>
        </p:txBody>
      </p:sp>
      <p:sp>
        <p:nvSpPr>
          <p:cNvPr id="44" name="Shape 40"/>
          <p:cNvSpPr/>
          <p:nvPr/>
        </p:nvSpPr>
        <p:spPr>
          <a:xfrm>
            <a:off x="7741726" y="2048205"/>
            <a:ext cx="3840384" cy="487668"/>
          </a:xfrm>
          <a:prstGeom prst="roundRect">
            <a:avLst>
              <a:gd name="adj" fmla="val 15000"/>
            </a:avLst>
          </a:prstGeom>
          <a:solidFill>
            <a:srgbClr val="F2F5F9"/>
          </a:solidFill>
          <a:ln w="12700">
            <a:solidFill>
              <a:srgbClr val="F2F5F9"/>
            </a:solidFill>
            <a:prstDash val="solid"/>
          </a:ln>
        </p:spPr>
        <p:txBody>
          <a:bodyPr/>
          <a:p/>
        </p:txBody>
      </p:sp>
      <p:sp>
        <p:nvSpPr>
          <p:cNvPr id="45" name="Shape 41"/>
          <p:cNvSpPr/>
          <p:nvPr/>
        </p:nvSpPr>
        <p:spPr>
          <a:xfrm>
            <a:off x="7912410" y="2194505"/>
            <a:ext cx="195067" cy="195067"/>
          </a:xfrm>
          <a:prstGeom prst="ellipse">
            <a:avLst/>
          </a:prstGeom>
          <a:solidFill>
            <a:srgbClr val="E39A0B"/>
          </a:solidFill>
          <a:ln w="12700">
            <a:solidFill>
              <a:srgbClr val="E39A0B"/>
            </a:solidFill>
            <a:prstDash val="solid"/>
          </a:ln>
        </p:spPr>
        <p:txBody>
          <a:bodyPr/>
          <a:p/>
        </p:txBody>
      </p:sp>
      <p:sp>
        <p:nvSpPr>
          <p:cNvPr id="46" name="Text 42"/>
          <p:cNvSpPr txBox="1"/>
          <p:nvPr/>
        </p:nvSpPr>
        <p:spPr>
          <a:xfrm>
            <a:off x="8253778" y="2048205"/>
            <a:ext cx="3291758" cy="48766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MediaPipe</a:t>
            </a:r>
            <a:pPr indent="0" marL="0">
              <a:buNone/>
            </a:pPr>
            <a:r>
              <a:rPr lang="en-US" sz="1400" dirty="0">
                <a:solidFill>
                  <a:srgbClr val="5A6678"/>
                </a:solidFill>
                <a:latin typeface="Calibri" pitchFamily="34" charset="0"/>
                <a:ea typeface="Calibri" pitchFamily="34" charset="-122"/>
                <a:cs typeface="Calibri" pitchFamily="34" charset="-120"/>
              </a:rPr>
              <a:t>  hands, pose, face (534-D)</a:t>
            </a:r>
            <a:endParaRPr lang="en-US" sz="1400" dirty="0"/>
          </a:p>
        </p:txBody>
      </p:sp>
      <p:sp>
        <p:nvSpPr>
          <p:cNvPr id="47" name="Shape 43"/>
          <p:cNvSpPr/>
          <p:nvPr/>
        </p:nvSpPr>
        <p:spPr>
          <a:xfrm>
            <a:off x="7741726" y="2657790"/>
            <a:ext cx="3840384" cy="487668"/>
          </a:xfrm>
          <a:prstGeom prst="roundRect">
            <a:avLst>
              <a:gd name="adj" fmla="val 15000"/>
            </a:avLst>
          </a:prstGeom>
          <a:solidFill>
            <a:srgbClr val="F2F5F9"/>
          </a:solidFill>
          <a:ln w="12700">
            <a:solidFill>
              <a:srgbClr val="F2F5F9"/>
            </a:solidFill>
            <a:prstDash val="solid"/>
          </a:ln>
        </p:spPr>
        <p:txBody>
          <a:bodyPr/>
          <a:p/>
        </p:txBody>
      </p:sp>
      <p:sp>
        <p:nvSpPr>
          <p:cNvPr id="48" name="Shape 44"/>
          <p:cNvSpPr/>
          <p:nvPr/>
        </p:nvSpPr>
        <p:spPr>
          <a:xfrm>
            <a:off x="7912410" y="2804090"/>
            <a:ext cx="195067" cy="195067"/>
          </a:xfrm>
          <a:prstGeom prst="ellipse">
            <a:avLst/>
          </a:prstGeom>
          <a:solidFill>
            <a:srgbClr val="0E9AA7"/>
          </a:solidFill>
          <a:ln w="12700">
            <a:solidFill>
              <a:srgbClr val="0E9AA7"/>
            </a:solidFill>
            <a:prstDash val="solid"/>
          </a:ln>
        </p:spPr>
        <p:txBody>
          <a:bodyPr/>
          <a:p/>
        </p:txBody>
      </p:sp>
      <p:sp>
        <p:nvSpPr>
          <p:cNvPr id="49" name="Text 45"/>
          <p:cNvSpPr txBox="1"/>
          <p:nvPr/>
        </p:nvSpPr>
        <p:spPr>
          <a:xfrm>
            <a:off x="8253778" y="2657790"/>
            <a:ext cx="3291758" cy="48766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Geometry</a:t>
            </a:r>
            <a:pPr indent="0" marL="0">
              <a:buNone/>
            </a:pPr>
            <a:r>
              <a:rPr lang="en-US" sz="1400" dirty="0">
                <a:solidFill>
                  <a:srgbClr val="5A6678"/>
                </a:solidFill>
                <a:latin typeface="Calibri" pitchFamily="34" charset="0"/>
                <a:ea typeface="Calibri" pitchFamily="34" charset="-122"/>
                <a:cs typeface="Calibri" pitchFamily="34" charset="-120"/>
              </a:rPr>
              <a:t>  469-D + 4-D availability</a:t>
            </a:r>
            <a:endParaRPr lang="en-US" sz="1400" dirty="0"/>
          </a:p>
        </p:txBody>
      </p:sp>
      <p:sp>
        <p:nvSpPr>
          <p:cNvPr id="50" name="Shape 46"/>
          <p:cNvSpPr/>
          <p:nvPr/>
        </p:nvSpPr>
        <p:spPr>
          <a:xfrm>
            <a:off x="7741726" y="3267374"/>
            <a:ext cx="3840384" cy="487668"/>
          </a:xfrm>
          <a:prstGeom prst="roundRect">
            <a:avLst>
              <a:gd name="adj" fmla="val 15000"/>
            </a:avLst>
          </a:prstGeom>
          <a:solidFill>
            <a:srgbClr val="F2F5F9"/>
          </a:solidFill>
          <a:ln w="12700">
            <a:solidFill>
              <a:srgbClr val="F2F5F9"/>
            </a:solidFill>
            <a:prstDash val="solid"/>
          </a:ln>
        </p:spPr>
        <p:txBody>
          <a:bodyPr/>
          <a:p/>
        </p:txBody>
      </p:sp>
      <p:sp>
        <p:nvSpPr>
          <p:cNvPr id="51" name="Shape 47"/>
          <p:cNvSpPr/>
          <p:nvPr/>
        </p:nvSpPr>
        <p:spPr>
          <a:xfrm>
            <a:off x="7912410" y="3413675"/>
            <a:ext cx="195067" cy="195067"/>
          </a:xfrm>
          <a:prstGeom prst="ellipse">
            <a:avLst/>
          </a:prstGeom>
          <a:solidFill>
            <a:srgbClr val="5B5BD6"/>
          </a:solidFill>
          <a:ln w="12700">
            <a:solidFill>
              <a:srgbClr val="5B5BD6"/>
            </a:solidFill>
            <a:prstDash val="solid"/>
          </a:ln>
        </p:spPr>
        <p:txBody>
          <a:bodyPr/>
          <a:p/>
        </p:txBody>
      </p:sp>
      <p:sp>
        <p:nvSpPr>
          <p:cNvPr id="52" name="Text 48"/>
          <p:cNvSpPr txBox="1"/>
          <p:nvPr/>
        </p:nvSpPr>
        <p:spPr>
          <a:xfrm>
            <a:off x="8253778" y="3267374"/>
            <a:ext cx="3291758" cy="48766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Temporal</a:t>
            </a:r>
            <a:pPr indent="0" marL="0">
              <a:buNone/>
            </a:pPr>
            <a:r>
              <a:rPr lang="en-US" sz="1400" dirty="0">
                <a:solidFill>
                  <a:srgbClr val="5A6678"/>
                </a:solidFill>
                <a:latin typeface="Calibri" pitchFamily="34" charset="0"/>
                <a:ea typeface="Calibri" pitchFamily="34" charset="-122"/>
                <a:cs typeface="Calibri" pitchFamily="34" charset="-120"/>
              </a:rPr>
              <a:t>  Conv1D + 4 × HTMA</a:t>
            </a:r>
            <a:endParaRPr lang="en-US" sz="1400" dirty="0"/>
          </a:p>
        </p:txBody>
      </p:sp>
      <p:sp>
        <p:nvSpPr>
          <p:cNvPr id="53" name="Shape 49"/>
          <p:cNvSpPr/>
          <p:nvPr/>
        </p:nvSpPr>
        <p:spPr>
          <a:xfrm>
            <a:off x="7741726" y="3876959"/>
            <a:ext cx="3840384" cy="487668"/>
          </a:xfrm>
          <a:prstGeom prst="roundRect">
            <a:avLst>
              <a:gd name="adj" fmla="val 15000"/>
            </a:avLst>
          </a:prstGeom>
          <a:solidFill>
            <a:srgbClr val="F2F5F9"/>
          </a:solidFill>
          <a:ln w="12700">
            <a:solidFill>
              <a:srgbClr val="F2F5F9"/>
            </a:solidFill>
            <a:prstDash val="solid"/>
          </a:ln>
        </p:spPr>
        <p:txBody>
          <a:bodyPr/>
          <a:p/>
        </p:txBody>
      </p:sp>
      <p:sp>
        <p:nvSpPr>
          <p:cNvPr id="54" name="Shape 50"/>
          <p:cNvSpPr/>
          <p:nvPr/>
        </p:nvSpPr>
        <p:spPr>
          <a:xfrm>
            <a:off x="7912410" y="4023259"/>
            <a:ext cx="195067" cy="195067"/>
          </a:xfrm>
          <a:prstGeom prst="ellipse">
            <a:avLst/>
          </a:prstGeom>
          <a:solidFill>
            <a:srgbClr val="3B4A60"/>
          </a:solidFill>
          <a:ln w="12700">
            <a:solidFill>
              <a:srgbClr val="3B4A60"/>
            </a:solidFill>
            <a:prstDash val="solid"/>
          </a:ln>
        </p:spPr>
        <p:txBody>
          <a:bodyPr/>
          <a:p/>
        </p:txBody>
      </p:sp>
      <p:sp>
        <p:nvSpPr>
          <p:cNvPr id="55" name="Text 51"/>
          <p:cNvSpPr txBox="1"/>
          <p:nvPr/>
        </p:nvSpPr>
        <p:spPr>
          <a:xfrm>
            <a:off x="8253778" y="3876959"/>
            <a:ext cx="3291758" cy="48766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Classification  </a:t>
            </a:r>
            <a:pPr indent="0" marL="0">
              <a:buNone/>
            </a:pPr>
            <a:r>
              <a:rPr lang="en-US" sz="1400" dirty="0">
                <a:solidFill>
                  <a:srgbClr val="5A6678"/>
                </a:solidFill>
                <a:latin typeface="Calibri" pitchFamily="34" charset="0"/>
                <a:ea typeface="Calibri" pitchFamily="34" charset="-122"/>
                <a:cs typeface="Calibri" pitchFamily="34" charset="-120"/>
              </a:rPr>
              <a:t>Final sign classifier</a:t>
            </a:r>
            <a:endParaRPr lang="en-US" sz="1400" dirty="0"/>
          </a:p>
        </p:txBody>
      </p:sp>
      <p:sp>
        <p:nvSpPr>
          <p:cNvPr id="56" name="Shape 52"/>
          <p:cNvSpPr/>
          <p:nvPr/>
        </p:nvSpPr>
        <p:spPr>
          <a:xfrm>
            <a:off x="7741726" y="4486544"/>
            <a:ext cx="3840384" cy="487668"/>
          </a:xfrm>
          <a:prstGeom prst="roundRect">
            <a:avLst>
              <a:gd name="adj" fmla="val 15000"/>
            </a:avLst>
          </a:prstGeom>
          <a:solidFill>
            <a:srgbClr val="F2F5F9"/>
          </a:solidFill>
          <a:ln w="12700">
            <a:solidFill>
              <a:srgbClr val="F2F5F9"/>
            </a:solidFill>
            <a:prstDash val="solid"/>
          </a:ln>
        </p:spPr>
        <p:txBody>
          <a:bodyPr/>
          <a:p/>
        </p:txBody>
      </p:sp>
      <p:sp>
        <p:nvSpPr>
          <p:cNvPr id="57" name="Shape 53"/>
          <p:cNvSpPr/>
          <p:nvPr/>
        </p:nvSpPr>
        <p:spPr>
          <a:xfrm>
            <a:off x="7912410" y="4632844"/>
            <a:ext cx="195067" cy="195067"/>
          </a:xfrm>
          <a:prstGeom prst="ellipse">
            <a:avLst/>
          </a:prstGeom>
          <a:solidFill>
            <a:srgbClr val="2E9E5B"/>
          </a:solidFill>
          <a:ln w="12700">
            <a:solidFill>
              <a:srgbClr val="2E9E5B"/>
            </a:solidFill>
            <a:prstDash val="solid"/>
          </a:ln>
        </p:spPr>
        <p:txBody>
          <a:bodyPr/>
          <a:p/>
        </p:txBody>
      </p:sp>
      <p:sp>
        <p:nvSpPr>
          <p:cNvPr id="58" name="Text 54"/>
          <p:cNvSpPr txBox="1"/>
          <p:nvPr/>
        </p:nvSpPr>
        <p:spPr>
          <a:xfrm>
            <a:off x="8253778" y="4486544"/>
            <a:ext cx="3291758" cy="487668"/>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Output  </a:t>
            </a:r>
            <a:pPr indent="0" marL="0">
              <a:buNone/>
            </a:pPr>
            <a:r>
              <a:rPr lang="en-US" sz="1400" dirty="0">
                <a:solidFill>
                  <a:srgbClr val="5A6678"/>
                </a:solidFill>
                <a:latin typeface="Calibri" pitchFamily="34" charset="0"/>
                <a:ea typeface="Calibri" pitchFamily="34" charset="-122"/>
                <a:cs typeface="Calibri" pitchFamily="34" charset="-120"/>
              </a:rPr>
              <a:t>Text and speech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438339"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438339"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10  ·  SYSTEM DESIGN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Module Responsibilities</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14</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9585" y="1731221"/>
          <a:ext cx="10972526" cy="914400"/>
        </p:xfrm>
        <a:graphic>
          <a:graphicData uri="http://schemas.openxmlformats.org/drawingml/2006/table">
            <a:tbl>
              <a:tblPr/>
              <a:tblGrid>
                <a:gridCol w="2499298"/>
                <a:gridCol w="2865048"/>
                <a:gridCol w="3596550"/>
                <a:gridCol w="2011630"/>
              </a:tblGrid>
              <a:tr h="536435">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Module</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Receives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Produces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Information</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0F1B2D"/>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Frame Preprocessing</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Raw sign video</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64 uniformly sampled frames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b="1" dirty="0">
                          <a:solidFill>
                            <a:srgbClr val="64748B"/>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MediaPipe Landmarks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Sampled frames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534-D landmarks, 469-D geometry, 4-D availability</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b="1" dirty="0">
                          <a:solidFill>
                            <a:srgbClr val="E39A0B"/>
                          </a:solidFill>
                          <a:latin typeface="Calibri" pitchFamily="34" charset="0"/>
                          <a:ea typeface="Calibri" pitchFamily="34" charset="-122"/>
                          <a:cs typeface="Calibri" pitchFamily="34" charset="-120"/>
                        </a:rPr>
                        <a:t>Geometric</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Part-Aware Conv1D Encoders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Hand, pose, face and geometry streams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4 × 64-D part features + 128-D geometry</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b="1" dirty="0">
                          <a:solidFill>
                            <a:srgbClr val="0E9AA7"/>
                          </a:solidFill>
                          <a:latin typeface="Calibri" pitchFamily="34" charset="0"/>
                          <a:ea typeface="Calibri" pitchFamily="34" charset="-122"/>
                          <a:cs typeface="Calibri" pitchFamily="34" charset="-120"/>
                        </a:rPr>
                        <a:t>Local temporal</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Gated Fusion</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Five streams + 16-D availability</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One 320-D vector per frame (5 learned gates)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b="1" dirty="0">
                          <a:solidFill>
                            <a:srgbClr val="1A2A42"/>
                          </a:solidFill>
                          <a:latin typeface="Calibri" pitchFamily="34" charset="0"/>
                          <a:ea typeface="Calibri" pitchFamily="34" charset="-122"/>
                          <a:cs typeface="Calibri" pitchFamily="34" charset="-120"/>
                        </a:rPr>
                        <a:t>Multimodal</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HTMA Blocks (× 4)</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CLS + 64 tokens + positions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Context-aware sequence representation</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b="1" dirty="0">
                          <a:solidFill>
                            <a:srgbClr val="5B5BD6"/>
                          </a:solidFill>
                          <a:latin typeface="Calibri" pitchFamily="34" charset="0"/>
                          <a:ea typeface="Calibri" pitchFamily="34" charset="-122"/>
                          <a:cs typeface="Calibri" pitchFamily="34" charset="-120"/>
                        </a:rPr>
                        <a:t>Temporal</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Sign Classifier</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CLS ‖ attention pool (640 → 320)</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Scores for 262 sign classes → top class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indent="0" marL="0">
                        <a:buNone/>
                      </a:pPr>
                      <a:r>
                        <a:rPr lang="en-US" sz="1400" b="1" dirty="0">
                          <a:solidFill>
                            <a:srgbClr val="3B4A60"/>
                          </a:solidFill>
                          <a:latin typeface="Calibri" pitchFamily="34" charset="0"/>
                          <a:ea typeface="Calibri" pitchFamily="34" charset="-122"/>
                          <a:cs typeface="Calibri" pitchFamily="34" charset="-120"/>
                        </a:rPr>
                        <a:t>Classification</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r h="536435">
                <a:tc>
                  <a:txBody>
                    <a:bodyPr/>
                    <a:lstStyle/>
                    <a:p>
                      <a:pPr indent="0" marL="0">
                        <a:buNone/>
                      </a:pPr>
                      <a:r>
                        <a:rPr lang="en-US" sz="1400" b="1" dirty="0">
                          <a:solidFill>
                            <a:srgbClr val="1A2332"/>
                          </a:solidFill>
                          <a:latin typeface="Calibri" pitchFamily="34" charset="0"/>
                          <a:ea typeface="Calibri" pitchFamily="34" charset="-122"/>
                          <a:cs typeface="Calibri" pitchFamily="34" charset="-120"/>
                        </a:rPr>
                        <a:t>Output Module</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5A6678"/>
                          </a:solidFill>
                          <a:latin typeface="Calibri" pitchFamily="34" charset="0"/>
                          <a:ea typeface="Calibri" pitchFamily="34" charset="-122"/>
                          <a:cs typeface="Calibri" pitchFamily="34" charset="-120"/>
                        </a:rPr>
                        <a:t>Predicted class</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dirty="0">
                          <a:solidFill>
                            <a:srgbClr val="1A2332"/>
                          </a:solidFill>
                          <a:latin typeface="Calibri" pitchFamily="34" charset="0"/>
                          <a:ea typeface="Calibri" pitchFamily="34" charset="-122"/>
                          <a:cs typeface="Calibri" pitchFamily="34" charset="-120"/>
                        </a:rPr>
                        <a:t>Sign label as text → speech (Web Speech API)</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indent="0" marL="0">
                        <a:buNone/>
                      </a:pPr>
                      <a:r>
                        <a:rPr lang="en-US" sz="1400" b="1" dirty="0">
                          <a:solidFill>
                            <a:srgbClr val="2E9E5B"/>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L="121917" marR="121917"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4096410"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4096410"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11  ·  MODERN TOOLS AND TECHNOLOGIES</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Tools and Technologies Used</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15</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31221"/>
            <a:ext cx="3474633" cy="1341086"/>
          </a:xfrm>
          <a:prstGeom prst="roundRect">
            <a:avLst>
              <a:gd name="adj" fmla="val 7273"/>
            </a:avLst>
          </a:prstGeom>
          <a:solidFill>
            <a:srgbClr val="F2F5F9"/>
          </a:solidFill>
          <a:ln w="12700">
            <a:solidFill>
              <a:srgbClr val="D9E1EA"/>
            </a:solidFill>
            <a:prstDash val="solid"/>
          </a:ln>
        </p:spPr>
        <p:txBody>
          <a:bodyPr/>
          <a:p/>
        </p:txBody>
      </p:sp>
      <p:sp>
        <p:nvSpPr>
          <p:cNvPr id="9" name="Shape 6"/>
          <p:cNvSpPr/>
          <p:nvPr/>
        </p:nvSpPr>
        <p:spPr>
          <a:xfrm>
            <a:off x="804652" y="1975055"/>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950952" y="2121355"/>
            <a:ext cx="463284" cy="463284"/>
          </a:xfrm>
          <a:prstGeom prst="rect">
            <a:avLst/>
          </a:prstGeom>
        </p:spPr>
      </p:pic>
      <p:sp>
        <p:nvSpPr>
          <p:cNvPr id="11" name="Text 7"/>
          <p:cNvSpPr txBox="1"/>
          <p:nvPr/>
        </p:nvSpPr>
        <p:spPr>
          <a:xfrm>
            <a:off x="1731221" y="1901904"/>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Python</a:t>
            </a:r>
            <a:endParaRPr lang="en-US" sz="1600" dirty="0"/>
          </a:p>
        </p:txBody>
      </p:sp>
      <p:sp>
        <p:nvSpPr>
          <p:cNvPr id="12" name="Text 8"/>
          <p:cNvSpPr txBox="1"/>
          <p:nvPr/>
        </p:nvSpPr>
        <p:spPr>
          <a:xfrm>
            <a:off x="1731221" y="2255464"/>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Core language for data preparation, model, training and evaluation scripts</a:t>
            </a:r>
            <a:endParaRPr lang="en-US" sz="1267" dirty="0"/>
          </a:p>
        </p:txBody>
      </p:sp>
      <p:sp>
        <p:nvSpPr>
          <p:cNvPr id="13" name="Shape 9"/>
          <p:cNvSpPr/>
          <p:nvPr/>
        </p:nvSpPr>
        <p:spPr>
          <a:xfrm>
            <a:off x="4358531" y="1731221"/>
            <a:ext cx="3474633" cy="1341086"/>
          </a:xfrm>
          <a:prstGeom prst="roundRect">
            <a:avLst>
              <a:gd name="adj" fmla="val 7273"/>
            </a:avLst>
          </a:prstGeom>
          <a:solidFill>
            <a:srgbClr val="F2F5F9"/>
          </a:solidFill>
          <a:ln w="12700">
            <a:solidFill>
              <a:srgbClr val="D9E1EA"/>
            </a:solidFill>
            <a:prstDash val="solid"/>
          </a:ln>
        </p:spPr>
        <p:txBody>
          <a:bodyPr/>
          <a:p/>
        </p:txBody>
      </p:sp>
      <p:sp>
        <p:nvSpPr>
          <p:cNvPr id="14" name="Shape 10"/>
          <p:cNvSpPr/>
          <p:nvPr/>
        </p:nvSpPr>
        <p:spPr>
          <a:xfrm>
            <a:off x="4553598" y="1975055"/>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4699898" y="2121355"/>
            <a:ext cx="463284" cy="463284"/>
          </a:xfrm>
          <a:prstGeom prst="rect">
            <a:avLst/>
          </a:prstGeom>
        </p:spPr>
      </p:pic>
      <p:sp>
        <p:nvSpPr>
          <p:cNvPr id="16" name="Text 11"/>
          <p:cNvSpPr txBox="1"/>
          <p:nvPr/>
        </p:nvSpPr>
        <p:spPr>
          <a:xfrm>
            <a:off x="5480167" y="1901904"/>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OpenCV</a:t>
            </a:r>
            <a:endParaRPr lang="en-US" sz="1600" dirty="0"/>
          </a:p>
        </p:txBody>
      </p:sp>
      <p:sp>
        <p:nvSpPr>
          <p:cNvPr id="17" name="Text 12"/>
          <p:cNvSpPr txBox="1"/>
          <p:nvPr/>
        </p:nvSpPr>
        <p:spPr>
          <a:xfrm>
            <a:off x="5480167" y="2255464"/>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Reads videos; extracts, colour-converts and resizes frames</a:t>
            </a:r>
            <a:endParaRPr lang="en-US" sz="1267" dirty="0"/>
          </a:p>
        </p:txBody>
      </p:sp>
      <p:sp>
        <p:nvSpPr>
          <p:cNvPr id="18" name="Shape 13"/>
          <p:cNvSpPr/>
          <p:nvPr/>
        </p:nvSpPr>
        <p:spPr>
          <a:xfrm>
            <a:off x="8107477" y="1731221"/>
            <a:ext cx="3474633" cy="1341086"/>
          </a:xfrm>
          <a:prstGeom prst="roundRect">
            <a:avLst>
              <a:gd name="adj" fmla="val 7273"/>
            </a:avLst>
          </a:prstGeom>
          <a:solidFill>
            <a:srgbClr val="F2F5F9"/>
          </a:solidFill>
          <a:ln w="12700">
            <a:solidFill>
              <a:srgbClr val="D9E1EA"/>
            </a:solidFill>
            <a:prstDash val="solid"/>
          </a:ln>
        </p:spPr>
        <p:txBody>
          <a:bodyPr/>
          <a:p/>
        </p:txBody>
      </p:sp>
      <p:sp>
        <p:nvSpPr>
          <p:cNvPr id="19" name="Shape 14"/>
          <p:cNvSpPr/>
          <p:nvPr/>
        </p:nvSpPr>
        <p:spPr>
          <a:xfrm>
            <a:off x="8302544" y="1975055"/>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20" name="Image 3" descr="preencoded.png">    </p:cNvPr>
          <p:cNvPicPr>
            <a:picLocks noChangeAspect="1"/>
          </p:cNvPicPr>
          <p:nvPr/>
        </p:nvPicPr>
        <p:blipFill>
          <a:blip r:embed="rId4"/>
          <a:stretch>
            <a:fillRect/>
          </a:stretch>
        </p:blipFill>
        <p:spPr>
          <a:xfrm>
            <a:off x="8448845" y="2121355"/>
            <a:ext cx="463284" cy="463284"/>
          </a:xfrm>
          <a:prstGeom prst="rect">
            <a:avLst/>
          </a:prstGeom>
        </p:spPr>
      </p:pic>
      <p:sp>
        <p:nvSpPr>
          <p:cNvPr id="21" name="Text 15"/>
          <p:cNvSpPr txBox="1"/>
          <p:nvPr/>
        </p:nvSpPr>
        <p:spPr>
          <a:xfrm>
            <a:off x="9229113" y="1901904"/>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MediaPipe</a:t>
            </a:r>
            <a:endParaRPr lang="en-US" sz="1600" dirty="0"/>
          </a:p>
        </p:txBody>
      </p:sp>
      <p:sp>
        <p:nvSpPr>
          <p:cNvPr id="22" name="Text 16"/>
          <p:cNvSpPr txBox="1"/>
          <p:nvPr/>
        </p:nvSpPr>
        <p:spPr>
          <a:xfrm>
            <a:off x="9229113" y="2255464"/>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Pre-trained hand, pose and face landmark detection per frame</a:t>
            </a:r>
            <a:endParaRPr lang="en-US" sz="1267" dirty="0"/>
          </a:p>
        </p:txBody>
      </p:sp>
      <p:sp>
        <p:nvSpPr>
          <p:cNvPr id="23" name="Shape 17"/>
          <p:cNvSpPr/>
          <p:nvPr/>
        </p:nvSpPr>
        <p:spPr>
          <a:xfrm>
            <a:off x="609585" y="3291758"/>
            <a:ext cx="3474633" cy="1341086"/>
          </a:xfrm>
          <a:prstGeom prst="roundRect">
            <a:avLst>
              <a:gd name="adj" fmla="val 7273"/>
            </a:avLst>
          </a:prstGeom>
          <a:solidFill>
            <a:srgbClr val="F2F5F9"/>
          </a:solidFill>
          <a:ln w="12700">
            <a:solidFill>
              <a:srgbClr val="D9E1EA"/>
            </a:solidFill>
            <a:prstDash val="solid"/>
          </a:ln>
        </p:spPr>
        <p:txBody>
          <a:bodyPr/>
          <a:p/>
        </p:txBody>
      </p:sp>
      <p:sp>
        <p:nvSpPr>
          <p:cNvPr id="24" name="Shape 18"/>
          <p:cNvSpPr/>
          <p:nvPr/>
        </p:nvSpPr>
        <p:spPr>
          <a:xfrm>
            <a:off x="804652" y="3535592"/>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53" name="Image 4" descr="pytorch.png"/>
          <p:cNvPicPr>
            <a:picLocks noChangeAspect="1"/>
          </p:cNvPicPr>
          <p:nvPr/>
        </p:nvPicPr>
        <p:blipFill>
          <a:blip r:embed="rId13"/>
          <a:stretch>
            <a:fillRect/>
          </a:stretch>
        </p:blipFill>
        <p:spPr>
          <a:xfrm>
            <a:off x="950952" y="3681892"/>
            <a:ext cx="463284" cy="463284"/>
          </a:xfrm>
          <a:prstGeom prst="rect">
            <a:avLst/>
          </a:prstGeom>
        </p:spPr>
      </p:pic>
      <p:sp>
        <p:nvSpPr>
          <p:cNvPr id="26" name="Text 19"/>
          <p:cNvSpPr txBox="1"/>
          <p:nvPr/>
        </p:nvSpPr>
        <p:spPr>
          <a:xfrm>
            <a:off x="1731221" y="3462441"/>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PyTorch</a:t>
            </a:r>
            <a:endParaRPr lang="en-US" sz="1600" dirty="0"/>
          </a:p>
        </p:txBody>
      </p:sp>
      <p:sp>
        <p:nvSpPr>
          <p:cNvPr id="27" name="Text 20"/>
          <p:cNvSpPr txBox="1"/>
          <p:nvPr/>
        </p:nvSpPr>
        <p:spPr>
          <a:xfrm>
            <a:off x="1731221" y="3816001"/>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Custom model, training loop, checkpointing and inference</a:t>
            </a:r>
            <a:endParaRPr lang="en-US" sz="1267" dirty="0"/>
          </a:p>
        </p:txBody>
      </p:sp>
      <p:sp>
        <p:nvSpPr>
          <p:cNvPr id="28" name="Shape 21"/>
          <p:cNvSpPr/>
          <p:nvPr/>
        </p:nvSpPr>
        <p:spPr>
          <a:xfrm>
            <a:off x="4358531" y="3291758"/>
            <a:ext cx="3474633" cy="1341086"/>
          </a:xfrm>
          <a:prstGeom prst="roundRect">
            <a:avLst>
              <a:gd name="adj" fmla="val 7273"/>
            </a:avLst>
          </a:prstGeom>
          <a:solidFill>
            <a:srgbClr val="F2F5F9"/>
          </a:solidFill>
          <a:ln w="12700">
            <a:solidFill>
              <a:srgbClr val="D9E1EA"/>
            </a:solidFill>
            <a:prstDash val="solid"/>
          </a:ln>
        </p:spPr>
        <p:txBody>
          <a:bodyPr/>
          <a:p/>
        </p:txBody>
      </p:sp>
      <p:sp>
        <p:nvSpPr>
          <p:cNvPr id="29" name="Shape 22"/>
          <p:cNvSpPr/>
          <p:nvPr/>
        </p:nvSpPr>
        <p:spPr>
          <a:xfrm>
            <a:off x="4553598" y="3535592"/>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54" name="Image 5" descr="fastapi.png"/>
          <p:cNvPicPr>
            <a:picLocks noChangeAspect="1"/>
          </p:cNvPicPr>
          <p:nvPr/>
        </p:nvPicPr>
        <p:blipFill>
          <a:blip r:embed="rId14"/>
          <a:stretch>
            <a:fillRect/>
          </a:stretch>
        </p:blipFill>
        <p:spPr>
          <a:xfrm>
            <a:off x="4699898" y="3681892"/>
            <a:ext cx="463284" cy="463284"/>
          </a:xfrm>
          <a:prstGeom prst="rect">
            <a:avLst/>
          </a:prstGeom>
        </p:spPr>
      </p:pic>
      <p:sp>
        <p:nvSpPr>
          <p:cNvPr id="31" name="Text 23"/>
          <p:cNvSpPr txBox="1"/>
          <p:nvPr/>
        </p:nvSpPr>
        <p:spPr>
          <a:xfrm>
            <a:off x="5480167" y="3462441"/>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FastAPI</a:t>
            </a:r>
            <a:endParaRPr lang="en-US" sz="1600" dirty="0"/>
          </a:p>
        </p:txBody>
      </p:sp>
      <p:sp>
        <p:nvSpPr>
          <p:cNvPr id="32" name="Text 24"/>
          <p:cNvSpPr txBox="1"/>
          <p:nvPr/>
        </p:nvSpPr>
        <p:spPr>
          <a:xfrm>
            <a:off x="5480167" y="3816001"/>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Inference API: /predict returns label, confidence and Top-5</a:t>
            </a:r>
            <a:endParaRPr lang="en-US" sz="1267" dirty="0"/>
          </a:p>
        </p:txBody>
      </p:sp>
      <p:sp>
        <p:nvSpPr>
          <p:cNvPr id="33" name="Shape 25"/>
          <p:cNvSpPr/>
          <p:nvPr/>
        </p:nvSpPr>
        <p:spPr>
          <a:xfrm>
            <a:off x="8107477" y="3291758"/>
            <a:ext cx="3474633" cy="1341086"/>
          </a:xfrm>
          <a:prstGeom prst="roundRect">
            <a:avLst>
              <a:gd name="adj" fmla="val 7273"/>
            </a:avLst>
          </a:prstGeom>
          <a:solidFill>
            <a:srgbClr val="F2F5F9"/>
          </a:solidFill>
          <a:ln w="12700">
            <a:solidFill>
              <a:srgbClr val="D9E1EA"/>
            </a:solidFill>
            <a:prstDash val="solid"/>
          </a:ln>
        </p:spPr>
        <p:txBody>
          <a:bodyPr/>
          <a:p/>
        </p:txBody>
      </p:sp>
      <p:sp>
        <p:nvSpPr>
          <p:cNvPr id="34" name="Shape 26"/>
          <p:cNvSpPr/>
          <p:nvPr/>
        </p:nvSpPr>
        <p:spPr>
          <a:xfrm>
            <a:off x="8302544" y="3535592"/>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55" name="Image 6" descr="react.png"/>
          <p:cNvPicPr>
            <a:picLocks noChangeAspect="1"/>
          </p:cNvPicPr>
          <p:nvPr/>
        </p:nvPicPr>
        <p:blipFill>
          <a:blip r:embed="rId15"/>
          <a:stretch>
            <a:fillRect/>
          </a:stretch>
        </p:blipFill>
        <p:spPr>
          <a:xfrm>
            <a:off x="8448845" y="3681892"/>
            <a:ext cx="463284" cy="463284"/>
          </a:xfrm>
          <a:prstGeom prst="rect">
            <a:avLst/>
          </a:prstGeom>
        </p:spPr>
      </p:pic>
      <p:sp>
        <p:nvSpPr>
          <p:cNvPr id="36" name="Text 27"/>
          <p:cNvSpPr txBox="1"/>
          <p:nvPr/>
        </p:nvSpPr>
        <p:spPr>
          <a:xfrm>
            <a:off x="9229113" y="3462441"/>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React / Vite</a:t>
            </a:r>
            <a:endParaRPr lang="en-US" sz="1600" dirty="0"/>
          </a:p>
        </p:txBody>
      </p:sp>
      <p:sp>
        <p:nvSpPr>
          <p:cNvPr id="37" name="Text 28"/>
          <p:cNvSpPr txBox="1"/>
          <p:nvPr/>
        </p:nvSpPr>
        <p:spPr>
          <a:xfrm>
            <a:off x="9229113" y="3816001"/>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Frontend for video upload, camera recording and results</a:t>
            </a:r>
            <a:endParaRPr lang="en-US" sz="1267" dirty="0"/>
          </a:p>
        </p:txBody>
      </p:sp>
      <p:sp>
        <p:nvSpPr>
          <p:cNvPr id="38" name="Shape 29"/>
          <p:cNvSpPr/>
          <p:nvPr/>
        </p:nvSpPr>
        <p:spPr>
          <a:xfrm>
            <a:off x="609585" y="4852295"/>
            <a:ext cx="3474633" cy="1341086"/>
          </a:xfrm>
          <a:prstGeom prst="roundRect">
            <a:avLst>
              <a:gd name="adj" fmla="val 7273"/>
            </a:avLst>
          </a:prstGeom>
          <a:solidFill>
            <a:srgbClr val="F2F5F9"/>
          </a:solidFill>
          <a:ln w="12700">
            <a:solidFill>
              <a:srgbClr val="D9E1EA"/>
            </a:solidFill>
            <a:prstDash val="solid"/>
          </a:ln>
        </p:spPr>
        <p:txBody>
          <a:bodyPr/>
          <a:p/>
        </p:txBody>
      </p:sp>
      <p:sp>
        <p:nvSpPr>
          <p:cNvPr id="39" name="Shape 30"/>
          <p:cNvSpPr/>
          <p:nvPr/>
        </p:nvSpPr>
        <p:spPr>
          <a:xfrm>
            <a:off x="804652" y="5096129"/>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40" name="Image 7" descr="preencoded.png">    </p:cNvPr>
          <p:cNvPicPr>
            <a:picLocks noChangeAspect="1"/>
          </p:cNvPicPr>
          <p:nvPr/>
        </p:nvPicPr>
        <p:blipFill>
          <a:blip r:embed="rId8"/>
          <a:stretch>
            <a:fillRect/>
          </a:stretch>
        </p:blipFill>
        <p:spPr>
          <a:xfrm>
            <a:off x="950952" y="5242429"/>
            <a:ext cx="463284" cy="463284"/>
          </a:xfrm>
          <a:prstGeom prst="rect">
            <a:avLst/>
          </a:prstGeom>
        </p:spPr>
      </p:pic>
      <p:sp>
        <p:nvSpPr>
          <p:cNvPr id="41" name="Text 31"/>
          <p:cNvSpPr txBox="1"/>
          <p:nvPr/>
        </p:nvSpPr>
        <p:spPr>
          <a:xfrm>
            <a:off x="1731221" y="5022978"/>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NumPy</a:t>
            </a:r>
            <a:endParaRPr lang="en-US" sz="1600" dirty="0"/>
          </a:p>
        </p:txBody>
      </p:sp>
      <p:sp>
        <p:nvSpPr>
          <p:cNvPr id="42" name="Text 32"/>
          <p:cNvSpPr txBox="1"/>
          <p:nvPr/>
        </p:nvSpPr>
        <p:spPr>
          <a:xfrm>
            <a:off x="1731221" y="5376538"/>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Stores landmark and feature arrays; numerical operations</a:t>
            </a:r>
            <a:endParaRPr lang="en-US" sz="1267" dirty="0"/>
          </a:p>
        </p:txBody>
      </p:sp>
      <p:sp>
        <p:nvSpPr>
          <p:cNvPr id="43" name="Shape 33"/>
          <p:cNvSpPr/>
          <p:nvPr/>
        </p:nvSpPr>
        <p:spPr>
          <a:xfrm>
            <a:off x="4358531" y="4852295"/>
            <a:ext cx="3474633" cy="1341086"/>
          </a:xfrm>
          <a:prstGeom prst="roundRect">
            <a:avLst>
              <a:gd name="adj" fmla="val 7273"/>
            </a:avLst>
          </a:prstGeom>
          <a:solidFill>
            <a:srgbClr val="F2F5F9"/>
          </a:solidFill>
          <a:ln w="12700">
            <a:solidFill>
              <a:srgbClr val="D9E1EA"/>
            </a:solidFill>
            <a:prstDash val="solid"/>
          </a:ln>
        </p:spPr>
        <p:txBody>
          <a:bodyPr/>
          <a:p/>
        </p:txBody>
      </p:sp>
      <p:sp>
        <p:nvSpPr>
          <p:cNvPr id="44" name="Shape 34"/>
          <p:cNvSpPr/>
          <p:nvPr/>
        </p:nvSpPr>
        <p:spPr>
          <a:xfrm>
            <a:off x="4553598" y="5096129"/>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45" name="Image 8" descr="preencoded.png">    </p:cNvPr>
          <p:cNvPicPr>
            <a:picLocks noChangeAspect="1"/>
          </p:cNvPicPr>
          <p:nvPr/>
        </p:nvPicPr>
        <p:blipFill>
          <a:blip r:embed="rId9"/>
          <a:stretch>
            <a:fillRect/>
          </a:stretch>
        </p:blipFill>
        <p:spPr>
          <a:xfrm>
            <a:off x="4699898" y="5242429"/>
            <a:ext cx="463284" cy="463284"/>
          </a:xfrm>
          <a:prstGeom prst="rect">
            <a:avLst/>
          </a:prstGeom>
        </p:spPr>
      </p:pic>
      <p:sp>
        <p:nvSpPr>
          <p:cNvPr id="46" name="Text 35"/>
          <p:cNvSpPr txBox="1"/>
          <p:nvPr/>
        </p:nvSpPr>
        <p:spPr>
          <a:xfrm>
            <a:off x="5480167" y="5022978"/>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Pandas</a:t>
            </a:r>
            <a:endParaRPr lang="en-US" sz="1600" dirty="0"/>
          </a:p>
        </p:txBody>
      </p:sp>
      <p:sp>
        <p:nvSpPr>
          <p:cNvPr id="47" name="Text 36"/>
          <p:cNvSpPr txBox="1"/>
          <p:nvPr/>
        </p:nvSpPr>
        <p:spPr>
          <a:xfrm>
            <a:off x="5480167" y="5376538"/>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Handles dataset metadata tables (video paths, labels)</a:t>
            </a:r>
            <a:endParaRPr lang="en-US" sz="1267" dirty="0"/>
          </a:p>
        </p:txBody>
      </p:sp>
      <p:sp>
        <p:nvSpPr>
          <p:cNvPr id="48" name="Shape 37"/>
          <p:cNvSpPr/>
          <p:nvPr/>
        </p:nvSpPr>
        <p:spPr>
          <a:xfrm>
            <a:off x="8107477" y="4852295"/>
            <a:ext cx="3474633" cy="1341086"/>
          </a:xfrm>
          <a:prstGeom prst="roundRect">
            <a:avLst>
              <a:gd name="adj" fmla="val 7273"/>
            </a:avLst>
          </a:prstGeom>
          <a:solidFill>
            <a:srgbClr val="F2F5F9"/>
          </a:solidFill>
          <a:ln w="12700">
            <a:solidFill>
              <a:srgbClr val="D9E1EA"/>
            </a:solidFill>
            <a:prstDash val="solid"/>
          </a:ln>
        </p:spPr>
        <p:txBody>
          <a:bodyPr/>
          <a:p/>
        </p:txBody>
      </p:sp>
      <p:sp>
        <p:nvSpPr>
          <p:cNvPr id="49" name="Shape 38"/>
          <p:cNvSpPr/>
          <p:nvPr/>
        </p:nvSpPr>
        <p:spPr>
          <a:xfrm>
            <a:off x="8302544" y="5096129"/>
            <a:ext cx="755885" cy="755885"/>
          </a:xfrm>
          <a:prstGeom prst="roundRect">
            <a:avLst>
              <a:gd name="adj" fmla="val 16129"/>
            </a:avLst>
          </a:prstGeom>
          <a:solidFill>
            <a:srgbClr val="FFFFFF"/>
          </a:solidFill>
          <a:ln w="12700">
            <a:solidFill>
              <a:srgbClr val="D9E1EA"/>
            </a:solidFill>
            <a:prstDash val="solid"/>
          </a:ln>
        </p:spPr>
        <p:txBody>
          <a:bodyPr/>
          <a:p/>
        </p:txBody>
      </p:sp>
      <p:pic>
        <p:nvPicPr>
          <p:cNvPr id="56" name="Image 9" descr="speech.png"/>
          <p:cNvPicPr>
            <a:picLocks noChangeAspect="1"/>
          </p:cNvPicPr>
          <p:nvPr/>
        </p:nvPicPr>
        <p:blipFill>
          <a:blip r:embed="rId16"/>
          <a:stretch>
            <a:fillRect/>
          </a:stretch>
        </p:blipFill>
        <p:spPr>
          <a:xfrm>
            <a:off x="8448845" y="5242429"/>
            <a:ext cx="463284" cy="463284"/>
          </a:xfrm>
          <a:prstGeom prst="rect">
            <a:avLst/>
          </a:prstGeom>
        </p:spPr>
      </p:pic>
      <p:sp>
        <p:nvSpPr>
          <p:cNvPr id="51" name="Text 39"/>
          <p:cNvSpPr txBox="1"/>
          <p:nvPr/>
        </p:nvSpPr>
        <p:spPr>
          <a:xfrm>
            <a:off x="9229113" y="5022978"/>
            <a:ext cx="2206697" cy="341367"/>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Web Speech API</a:t>
            </a:r>
            <a:endParaRPr lang="en-US" sz="1600" dirty="0"/>
          </a:p>
        </p:txBody>
      </p:sp>
      <p:sp>
        <p:nvSpPr>
          <p:cNvPr id="52" name="Text 40"/>
          <p:cNvSpPr txBox="1"/>
          <p:nvPr/>
        </p:nvSpPr>
        <p:spPr>
          <a:xfrm>
            <a:off x="9229113" y="5376538"/>
            <a:ext cx="2206697" cy="707118"/>
          </a:xfrm>
          <a:prstGeom prst="rect">
            <a:avLst/>
          </a:prstGeom>
          <a:noFill/>
          <a:ln/>
        </p:spPr>
        <p:txBody>
          <a:bodyPr wrap="square" lIns="0" tIns="0" rIns="0" bIns="0" rtlCol="0" anchor="t"/>
          <a:lstStyle/>
          <a:p>
            <a:pPr indent="0" marL="0">
              <a:buNone/>
            </a:pPr>
            <a:r>
              <a:rPr lang="en-US" sz="1267" dirty="0">
                <a:solidFill>
                  <a:srgbClr val="5A6678"/>
                </a:solidFill>
                <a:latin typeface="Calibri" pitchFamily="34" charset="0"/>
                <a:ea typeface="Calibri" pitchFamily="34" charset="-122"/>
                <a:cs typeface="Calibri" pitchFamily="34" charset="-120"/>
              </a:rPr>
              <a:t>Browser speechSynthesis with an en-IN voice preference</a:t>
            </a:r>
            <a:endParaRPr lang="en-US" sz="126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541968"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541968"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12  ·  IMPLEMENTATION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Implementation I: Data and Feature Pipeline</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16</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79987"/>
            <a:ext cx="512051" cy="512051"/>
          </a:xfrm>
          <a:prstGeom prst="ellipse">
            <a:avLst/>
          </a:prstGeom>
          <a:solidFill>
            <a:srgbClr val="64748B"/>
          </a:solidFill>
          <a:ln w="12700">
            <a:solidFill>
              <a:srgbClr val="64748B"/>
            </a:solidFill>
            <a:prstDash val="solid"/>
          </a:ln>
        </p:spPr>
        <p:txBody>
          <a:bodyPr/>
          <a:p/>
        </p:txBody>
      </p:sp>
      <p:sp>
        <p:nvSpPr>
          <p:cNvPr id="9" name="Text 6"/>
          <p:cNvSpPr txBox="1"/>
          <p:nvPr/>
        </p:nvSpPr>
        <p:spPr>
          <a:xfrm>
            <a:off x="609585" y="1779987"/>
            <a:ext cx="512051" cy="512051"/>
          </a:xfrm>
          <a:prstGeom prst="rect">
            <a:avLst/>
          </a:prstGeom>
          <a:noFill/>
          <a:ln/>
        </p:spPr>
        <p:txBody>
          <a:bodyPr wrap="square" lIns="0" tIns="0" rIns="0" bIns="0" rtlCol="0" anchor="ctr"/>
          <a:lstStyle/>
          <a:p>
            <a:pPr algn="ctr" indent="0" marL="0">
              <a:buNone/>
            </a:pPr>
            <a:r>
              <a:rPr lang="en-US" sz="1733" b="1" dirty="0">
                <a:solidFill>
                  <a:srgbClr val="FFFFFF"/>
                </a:solidFill>
                <a:latin typeface="Calibri" pitchFamily="34" charset="0"/>
                <a:ea typeface="Calibri" pitchFamily="34" charset="-122"/>
                <a:cs typeface="Calibri" pitchFamily="34" charset="-120"/>
              </a:rPr>
              <a:t>1</a:t>
            </a:r>
            <a:endParaRPr lang="en-US" sz="1733" dirty="0"/>
          </a:p>
        </p:txBody>
      </p:sp>
      <p:sp>
        <p:nvSpPr>
          <p:cNvPr id="10" name="Shape 7"/>
          <p:cNvSpPr/>
          <p:nvPr/>
        </p:nvSpPr>
        <p:spPr>
          <a:xfrm>
            <a:off x="865610" y="2292039"/>
            <a:ext cx="0" cy="243834"/>
          </a:xfrm>
          <a:prstGeom prst="line">
            <a:avLst/>
          </a:prstGeom>
          <a:noFill/>
          <a:ln w="25399">
            <a:solidFill>
              <a:srgbClr val="D9E1EA"/>
            </a:solidFill>
            <a:prstDash val="solid"/>
          </a:ln>
        </p:spPr>
        <p:txBody>
          <a:bodyPr/>
          <a:p/>
        </p:txBody>
      </p:sp>
      <p:sp>
        <p:nvSpPr>
          <p:cNvPr id="11" name="Text 8"/>
          <p:cNvSpPr txBox="1"/>
          <p:nvPr/>
        </p:nvSpPr>
        <p:spPr>
          <a:xfrm>
            <a:off x="1341086" y="1755604"/>
            <a:ext cx="5364346" cy="292601"/>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INCLUDE dataset preparation</a:t>
            </a:r>
            <a:endParaRPr lang="en-US" sz="1600" dirty="0"/>
          </a:p>
        </p:txBody>
      </p:sp>
      <p:sp>
        <p:nvSpPr>
          <p:cNvPr id="12" name="Text 9"/>
          <p:cNvSpPr txBox="1"/>
          <p:nvPr/>
        </p:nvSpPr>
        <p:spPr>
          <a:xfrm>
            <a:off x="1341086" y="2060396"/>
            <a:ext cx="5364346" cy="268217"/>
          </a:xfrm>
          <a:prstGeom prst="rect">
            <a:avLst/>
          </a:prstGeom>
          <a:noFill/>
          <a:ln/>
        </p:spPr>
        <p:txBody>
          <a:bodyPr wrap="square" lIns="0" tIns="0" rIns="0" bIns="0" rtlCol="0" anchor="ctr"/>
          <a:lstStyle/>
          <a:p>
            <a:pPr indent="0" marL="0">
              <a:buNone/>
            </a:pPr>
            <a:r>
              <a:rPr lang="en-US" sz="1333" dirty="0">
                <a:solidFill>
                  <a:srgbClr val="5A6678"/>
                </a:solidFill>
                <a:latin typeface="Calibri" pitchFamily="34" charset="0"/>
                <a:ea typeface="Calibri" pitchFamily="34" charset="-122"/>
                <a:cs typeface="Calibri" pitchFamily="34" charset="-120"/>
              </a:rPr>
              <a:t>Official split: 3,121 train · 347 val · 816 test; 262 classes</a:t>
            </a:r>
            <a:endParaRPr lang="en-US" sz="1333" dirty="0"/>
          </a:p>
        </p:txBody>
      </p:sp>
      <p:sp>
        <p:nvSpPr>
          <p:cNvPr id="13" name="Shape 10"/>
          <p:cNvSpPr/>
          <p:nvPr/>
        </p:nvSpPr>
        <p:spPr>
          <a:xfrm>
            <a:off x="609585" y="2535873"/>
            <a:ext cx="512051" cy="512051"/>
          </a:xfrm>
          <a:prstGeom prst="ellipse">
            <a:avLst/>
          </a:prstGeom>
          <a:solidFill>
            <a:srgbClr val="64748B"/>
          </a:solidFill>
          <a:ln w="12700">
            <a:solidFill>
              <a:srgbClr val="64748B"/>
            </a:solidFill>
            <a:prstDash val="solid"/>
          </a:ln>
        </p:spPr>
        <p:txBody>
          <a:bodyPr/>
          <a:p/>
        </p:txBody>
      </p:sp>
      <p:sp>
        <p:nvSpPr>
          <p:cNvPr id="14" name="Text 11"/>
          <p:cNvSpPr txBox="1"/>
          <p:nvPr/>
        </p:nvSpPr>
        <p:spPr>
          <a:xfrm>
            <a:off x="609585" y="2535873"/>
            <a:ext cx="512051" cy="512051"/>
          </a:xfrm>
          <a:prstGeom prst="rect">
            <a:avLst/>
          </a:prstGeom>
          <a:noFill/>
          <a:ln/>
        </p:spPr>
        <p:txBody>
          <a:bodyPr wrap="square" lIns="0" tIns="0" rIns="0" bIns="0" rtlCol="0" anchor="ctr"/>
          <a:lstStyle/>
          <a:p>
            <a:pPr algn="ctr" indent="0" marL="0">
              <a:buNone/>
            </a:pPr>
            <a:r>
              <a:rPr lang="en-US" sz="1733" b="1" dirty="0">
                <a:solidFill>
                  <a:srgbClr val="FFFFFF"/>
                </a:solidFill>
                <a:latin typeface="Calibri" pitchFamily="34" charset="0"/>
                <a:ea typeface="Calibri" pitchFamily="34" charset="-122"/>
                <a:cs typeface="Calibri" pitchFamily="34" charset="-120"/>
              </a:rPr>
              <a:t>2</a:t>
            </a:r>
            <a:endParaRPr lang="en-US" sz="1733" dirty="0"/>
          </a:p>
        </p:txBody>
      </p:sp>
      <p:sp>
        <p:nvSpPr>
          <p:cNvPr id="15" name="Shape 12"/>
          <p:cNvSpPr/>
          <p:nvPr/>
        </p:nvSpPr>
        <p:spPr>
          <a:xfrm>
            <a:off x="865610" y="3047924"/>
            <a:ext cx="0" cy="243834"/>
          </a:xfrm>
          <a:prstGeom prst="line">
            <a:avLst/>
          </a:prstGeom>
          <a:noFill/>
          <a:ln w="25399">
            <a:solidFill>
              <a:srgbClr val="D9E1EA"/>
            </a:solidFill>
            <a:prstDash val="solid"/>
          </a:ln>
        </p:spPr>
        <p:txBody>
          <a:bodyPr/>
          <a:p/>
        </p:txBody>
      </p:sp>
      <p:sp>
        <p:nvSpPr>
          <p:cNvPr id="16" name="Text 13"/>
          <p:cNvSpPr txBox="1"/>
          <p:nvPr/>
        </p:nvSpPr>
        <p:spPr>
          <a:xfrm>
            <a:off x="1341086" y="2511489"/>
            <a:ext cx="5364346" cy="292601"/>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Video preprocessing</a:t>
            </a:r>
            <a:endParaRPr lang="en-US" sz="1600" dirty="0"/>
          </a:p>
        </p:txBody>
      </p:sp>
      <p:sp>
        <p:nvSpPr>
          <p:cNvPr id="17" name="Text 14"/>
          <p:cNvSpPr txBox="1"/>
          <p:nvPr/>
        </p:nvSpPr>
        <p:spPr>
          <a:xfrm>
            <a:off x="1341086" y="2816282"/>
            <a:ext cx="5364346" cy="268217"/>
          </a:xfrm>
          <a:prstGeom prst="rect">
            <a:avLst/>
          </a:prstGeom>
          <a:noFill/>
          <a:ln/>
        </p:spPr>
        <p:txBody>
          <a:bodyPr wrap="square" lIns="0" tIns="0" rIns="0" bIns="0" rtlCol="0" anchor="ctr"/>
          <a:lstStyle/>
          <a:p>
            <a:pPr indent="0" marL="0">
              <a:buNone/>
            </a:pPr>
            <a:r>
              <a:rPr lang="en-US" sz="1333" dirty="0">
                <a:solidFill>
                  <a:srgbClr val="5A6678"/>
                </a:solidFill>
                <a:latin typeface="Calibri" pitchFamily="34" charset="0"/>
                <a:ea typeface="Calibri" pitchFamily="34" charset="-122"/>
                <a:cs typeface="Calibri" pitchFamily="34" charset="-120"/>
              </a:rPr>
              <a:t>OpenCV reads each video frame by frame</a:t>
            </a:r>
            <a:endParaRPr lang="en-US" sz="1333" dirty="0"/>
          </a:p>
        </p:txBody>
      </p:sp>
      <p:sp>
        <p:nvSpPr>
          <p:cNvPr id="18" name="Shape 15"/>
          <p:cNvSpPr/>
          <p:nvPr/>
        </p:nvSpPr>
        <p:spPr>
          <a:xfrm>
            <a:off x="609585" y="3291758"/>
            <a:ext cx="512051" cy="512051"/>
          </a:xfrm>
          <a:prstGeom prst="ellipse">
            <a:avLst/>
          </a:prstGeom>
          <a:solidFill>
            <a:srgbClr val="64748B"/>
          </a:solidFill>
          <a:ln w="12700">
            <a:solidFill>
              <a:srgbClr val="64748B"/>
            </a:solidFill>
            <a:prstDash val="solid"/>
          </a:ln>
        </p:spPr>
        <p:txBody>
          <a:bodyPr/>
          <a:p/>
        </p:txBody>
      </p:sp>
      <p:sp>
        <p:nvSpPr>
          <p:cNvPr id="19" name="Text 16"/>
          <p:cNvSpPr txBox="1"/>
          <p:nvPr/>
        </p:nvSpPr>
        <p:spPr>
          <a:xfrm>
            <a:off x="609585" y="3291758"/>
            <a:ext cx="512051" cy="512051"/>
          </a:xfrm>
          <a:prstGeom prst="rect">
            <a:avLst/>
          </a:prstGeom>
          <a:noFill/>
          <a:ln/>
        </p:spPr>
        <p:txBody>
          <a:bodyPr wrap="square" lIns="0" tIns="0" rIns="0" bIns="0" rtlCol="0" anchor="ctr"/>
          <a:lstStyle/>
          <a:p>
            <a:pPr algn="ctr" indent="0" marL="0">
              <a:buNone/>
            </a:pPr>
            <a:r>
              <a:rPr lang="en-US" sz="1733" b="1" dirty="0">
                <a:solidFill>
                  <a:srgbClr val="FFFFFF"/>
                </a:solidFill>
                <a:latin typeface="Calibri" pitchFamily="34" charset="0"/>
                <a:ea typeface="Calibri" pitchFamily="34" charset="-122"/>
                <a:cs typeface="Calibri" pitchFamily="34" charset="-120"/>
              </a:rPr>
              <a:t>3</a:t>
            </a:r>
            <a:endParaRPr lang="en-US" sz="1733" dirty="0"/>
          </a:p>
        </p:txBody>
      </p:sp>
      <p:sp>
        <p:nvSpPr>
          <p:cNvPr id="20" name="Shape 17"/>
          <p:cNvSpPr/>
          <p:nvPr/>
        </p:nvSpPr>
        <p:spPr>
          <a:xfrm>
            <a:off x="865610" y="3803809"/>
            <a:ext cx="0" cy="243834"/>
          </a:xfrm>
          <a:prstGeom prst="line">
            <a:avLst/>
          </a:prstGeom>
          <a:noFill/>
          <a:ln w="25399">
            <a:solidFill>
              <a:srgbClr val="D9E1EA"/>
            </a:solidFill>
            <a:prstDash val="solid"/>
          </a:ln>
        </p:spPr>
        <p:txBody>
          <a:bodyPr/>
          <a:p/>
        </p:txBody>
      </p:sp>
      <p:sp>
        <p:nvSpPr>
          <p:cNvPr id="21" name="Text 18"/>
          <p:cNvSpPr txBox="1"/>
          <p:nvPr/>
        </p:nvSpPr>
        <p:spPr>
          <a:xfrm>
            <a:off x="1341086" y="3267374"/>
            <a:ext cx="5364346" cy="292601"/>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64-frame uniform sampling</a:t>
            </a:r>
            <a:endParaRPr lang="en-US" sz="1600" dirty="0"/>
          </a:p>
        </p:txBody>
      </p:sp>
      <p:sp>
        <p:nvSpPr>
          <p:cNvPr id="22" name="Text 19"/>
          <p:cNvSpPr txBox="1"/>
          <p:nvPr/>
        </p:nvSpPr>
        <p:spPr>
          <a:xfrm>
            <a:off x="1341086" y="3572167"/>
            <a:ext cx="5364346" cy="268217"/>
          </a:xfrm>
          <a:prstGeom prst="rect">
            <a:avLst/>
          </a:prstGeom>
          <a:noFill/>
          <a:ln/>
        </p:spPr>
        <p:txBody>
          <a:bodyPr wrap="square" lIns="0" tIns="0" rIns="0" bIns="0" rtlCol="0" anchor="ctr"/>
          <a:lstStyle/>
          <a:p>
            <a:pPr indent="0" marL="0">
              <a:buNone/>
            </a:pPr>
            <a:r>
              <a:rPr lang="en-US" sz="1333" dirty="0">
                <a:solidFill>
                  <a:srgbClr val="5A6678"/>
                </a:solidFill>
                <a:latin typeface="Calibri" pitchFamily="34" charset="0"/>
                <a:ea typeface="Calibri" pitchFamily="34" charset="-122"/>
                <a:cs typeface="Calibri" pitchFamily="34" charset="-120"/>
              </a:rPr>
              <a:t>np.linspace positions; short videos padded with the last frame</a:t>
            </a:r>
            <a:endParaRPr lang="en-US" sz="1333" dirty="0"/>
          </a:p>
        </p:txBody>
      </p:sp>
      <p:sp>
        <p:nvSpPr>
          <p:cNvPr id="23" name="Shape 20"/>
          <p:cNvSpPr/>
          <p:nvPr/>
        </p:nvSpPr>
        <p:spPr>
          <a:xfrm>
            <a:off x="609585" y="4047643"/>
            <a:ext cx="512051" cy="512051"/>
          </a:xfrm>
          <a:prstGeom prst="ellipse">
            <a:avLst/>
          </a:prstGeom>
          <a:solidFill>
            <a:srgbClr val="E39A0B"/>
          </a:solidFill>
          <a:ln w="12700">
            <a:solidFill>
              <a:srgbClr val="E39A0B"/>
            </a:solidFill>
            <a:prstDash val="solid"/>
          </a:ln>
        </p:spPr>
        <p:txBody>
          <a:bodyPr/>
          <a:p/>
        </p:txBody>
      </p:sp>
      <p:sp>
        <p:nvSpPr>
          <p:cNvPr id="24" name="Text 21"/>
          <p:cNvSpPr txBox="1"/>
          <p:nvPr/>
        </p:nvSpPr>
        <p:spPr>
          <a:xfrm>
            <a:off x="609585" y="4047643"/>
            <a:ext cx="512051" cy="512051"/>
          </a:xfrm>
          <a:prstGeom prst="rect">
            <a:avLst/>
          </a:prstGeom>
          <a:noFill/>
          <a:ln/>
        </p:spPr>
        <p:txBody>
          <a:bodyPr wrap="square" lIns="0" tIns="0" rIns="0" bIns="0" rtlCol="0" anchor="ctr"/>
          <a:lstStyle/>
          <a:p>
            <a:pPr algn="ctr" indent="0" marL="0">
              <a:buNone/>
            </a:pPr>
            <a:r>
              <a:rPr lang="en-US" sz="1733" b="1" dirty="0">
                <a:solidFill>
                  <a:srgbClr val="FFFFFF"/>
                </a:solidFill>
                <a:latin typeface="Calibri" pitchFamily="34" charset="0"/>
                <a:ea typeface="Calibri" pitchFamily="34" charset="-122"/>
                <a:cs typeface="Calibri" pitchFamily="34" charset="-120"/>
              </a:rPr>
              <a:t>4</a:t>
            </a:r>
            <a:endParaRPr lang="en-US" sz="1733" dirty="0"/>
          </a:p>
        </p:txBody>
      </p:sp>
      <p:sp>
        <p:nvSpPr>
          <p:cNvPr id="25" name="Shape 22"/>
          <p:cNvSpPr/>
          <p:nvPr/>
        </p:nvSpPr>
        <p:spPr>
          <a:xfrm>
            <a:off x="865610" y="4559694"/>
            <a:ext cx="0" cy="243834"/>
          </a:xfrm>
          <a:prstGeom prst="line">
            <a:avLst/>
          </a:prstGeom>
          <a:noFill/>
          <a:ln w="25399">
            <a:solidFill>
              <a:srgbClr val="D9E1EA"/>
            </a:solidFill>
            <a:prstDash val="solid"/>
          </a:ln>
        </p:spPr>
        <p:txBody>
          <a:bodyPr/>
          <a:p/>
        </p:txBody>
      </p:sp>
      <p:sp>
        <p:nvSpPr>
          <p:cNvPr id="26" name="Text 23"/>
          <p:cNvSpPr txBox="1"/>
          <p:nvPr/>
        </p:nvSpPr>
        <p:spPr>
          <a:xfrm>
            <a:off x="1341086" y="4023259"/>
            <a:ext cx="5364346" cy="292601"/>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MediaPipe landmark extraction</a:t>
            </a:r>
            <a:endParaRPr lang="en-US" sz="1600" dirty="0"/>
          </a:p>
        </p:txBody>
      </p:sp>
      <p:sp>
        <p:nvSpPr>
          <p:cNvPr id="27" name="Text 24"/>
          <p:cNvSpPr txBox="1"/>
          <p:nvPr/>
        </p:nvSpPr>
        <p:spPr>
          <a:xfrm>
            <a:off x="1341086" y="4328052"/>
            <a:ext cx="5364346" cy="268217"/>
          </a:xfrm>
          <a:prstGeom prst="rect">
            <a:avLst/>
          </a:prstGeom>
          <a:noFill/>
          <a:ln/>
        </p:spPr>
        <p:txBody>
          <a:bodyPr wrap="square" lIns="0" tIns="0" rIns="0" bIns="0" rtlCol="0" anchor="ctr"/>
          <a:lstStyle/>
          <a:p>
            <a:pPr indent="0" marL="0">
              <a:buNone/>
            </a:pPr>
            <a:r>
              <a:rPr lang="en-US" sz="1333" dirty="0">
                <a:solidFill>
                  <a:srgbClr val="5A6678"/>
                </a:solidFill>
                <a:latin typeface="Calibri" pitchFamily="34" charset="0"/>
                <a:ea typeface="Calibri" pitchFamily="34" charset="-122"/>
                <a:cs typeface="Calibri" pitchFamily="34" charset="-120"/>
              </a:rPr>
              <a:t>Hands, pose, selected face (534-D); pose-guided hand rescue</a:t>
            </a:r>
            <a:endParaRPr lang="en-US" sz="1333" dirty="0"/>
          </a:p>
        </p:txBody>
      </p:sp>
      <p:sp>
        <p:nvSpPr>
          <p:cNvPr id="28" name="Shape 25"/>
          <p:cNvSpPr/>
          <p:nvPr/>
        </p:nvSpPr>
        <p:spPr>
          <a:xfrm>
            <a:off x="609585" y="4803528"/>
            <a:ext cx="512051" cy="512051"/>
          </a:xfrm>
          <a:prstGeom prst="ellipse">
            <a:avLst/>
          </a:prstGeom>
          <a:solidFill>
            <a:srgbClr val="0E9AA7"/>
          </a:solidFill>
          <a:ln w="12700">
            <a:solidFill>
              <a:srgbClr val="0E9AA7"/>
            </a:solidFill>
            <a:prstDash val="solid"/>
          </a:ln>
        </p:spPr>
        <p:txBody>
          <a:bodyPr/>
          <a:p/>
        </p:txBody>
      </p:sp>
      <p:sp>
        <p:nvSpPr>
          <p:cNvPr id="29" name="Text 26"/>
          <p:cNvSpPr txBox="1"/>
          <p:nvPr/>
        </p:nvSpPr>
        <p:spPr>
          <a:xfrm>
            <a:off x="609585" y="4803528"/>
            <a:ext cx="512051" cy="512051"/>
          </a:xfrm>
          <a:prstGeom prst="rect">
            <a:avLst/>
          </a:prstGeom>
          <a:noFill/>
          <a:ln/>
        </p:spPr>
        <p:txBody>
          <a:bodyPr wrap="square" lIns="0" tIns="0" rIns="0" bIns="0" rtlCol="0" anchor="ctr"/>
          <a:lstStyle/>
          <a:p>
            <a:pPr algn="ctr" indent="0" marL="0">
              <a:buNone/>
            </a:pPr>
            <a:r>
              <a:rPr lang="en-US" sz="1733" b="1" dirty="0">
                <a:solidFill>
                  <a:srgbClr val="FFFFFF"/>
                </a:solidFill>
                <a:latin typeface="Calibri" pitchFamily="34" charset="0"/>
                <a:ea typeface="Calibri" pitchFamily="34" charset="-122"/>
                <a:cs typeface="Calibri" pitchFamily="34" charset="-120"/>
              </a:rPr>
              <a:t>5</a:t>
            </a:r>
            <a:endParaRPr lang="en-US" sz="1733" dirty="0"/>
          </a:p>
        </p:txBody>
      </p:sp>
      <p:sp>
        <p:nvSpPr>
          <p:cNvPr id="30" name="Shape 27"/>
          <p:cNvSpPr/>
          <p:nvPr/>
        </p:nvSpPr>
        <p:spPr>
          <a:xfrm>
            <a:off x="865610" y="5315579"/>
            <a:ext cx="0" cy="243834"/>
          </a:xfrm>
          <a:prstGeom prst="line">
            <a:avLst/>
          </a:prstGeom>
          <a:noFill/>
          <a:ln w="25399">
            <a:solidFill>
              <a:srgbClr val="D9E1EA"/>
            </a:solidFill>
            <a:prstDash val="solid"/>
          </a:ln>
        </p:spPr>
        <p:txBody>
          <a:bodyPr/>
          <a:p/>
        </p:txBody>
      </p:sp>
      <p:sp>
        <p:nvSpPr>
          <p:cNvPr id="31" name="Text 28"/>
          <p:cNvSpPr txBox="1"/>
          <p:nvPr/>
        </p:nvSpPr>
        <p:spPr>
          <a:xfrm>
            <a:off x="1341086" y="4779145"/>
            <a:ext cx="5364346" cy="292601"/>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Geometry + availability features</a:t>
            </a:r>
            <a:endParaRPr lang="en-US" sz="1600" dirty="0"/>
          </a:p>
        </p:txBody>
      </p:sp>
      <p:sp>
        <p:nvSpPr>
          <p:cNvPr id="32" name="Text 29"/>
          <p:cNvSpPr txBox="1"/>
          <p:nvPr/>
        </p:nvSpPr>
        <p:spPr>
          <a:xfrm>
            <a:off x="1341086" y="5083937"/>
            <a:ext cx="5364346" cy="268217"/>
          </a:xfrm>
          <a:prstGeom prst="rect">
            <a:avLst/>
          </a:prstGeom>
          <a:noFill/>
          <a:ln/>
        </p:spPr>
        <p:txBody>
          <a:bodyPr wrap="square" lIns="0" tIns="0" rIns="0" bIns="0" rtlCol="0" anchor="ctr"/>
          <a:lstStyle/>
          <a:p>
            <a:pPr indent="0" marL="0">
              <a:buNone/>
            </a:pPr>
            <a:r>
              <a:rPr lang="en-US" sz="1333" dirty="0">
                <a:solidFill>
                  <a:srgbClr val="5A6678"/>
                </a:solidFill>
                <a:latin typeface="Calibri" pitchFamily="34" charset="0"/>
                <a:ea typeface="Calibri" pitchFamily="34" charset="-122"/>
                <a:cs typeface="Calibri" pitchFamily="34" charset="-120"/>
              </a:rPr>
              <a:t>469-D geometry, 4-D availability; training-set normalisation</a:t>
            </a:r>
            <a:endParaRPr lang="en-US" sz="1333" dirty="0"/>
          </a:p>
        </p:txBody>
      </p:sp>
      <p:sp>
        <p:nvSpPr>
          <p:cNvPr id="33" name="Shape 30"/>
          <p:cNvSpPr/>
          <p:nvPr/>
        </p:nvSpPr>
        <p:spPr>
          <a:xfrm>
            <a:off x="609585" y="5559413"/>
            <a:ext cx="512051" cy="512051"/>
          </a:xfrm>
          <a:prstGeom prst="ellipse">
            <a:avLst/>
          </a:prstGeom>
          <a:solidFill>
            <a:srgbClr val="1A2A42"/>
          </a:solidFill>
          <a:ln w="12700">
            <a:solidFill>
              <a:srgbClr val="1A2A42"/>
            </a:solidFill>
            <a:prstDash val="solid"/>
          </a:ln>
        </p:spPr>
        <p:txBody>
          <a:bodyPr/>
          <a:p/>
        </p:txBody>
      </p:sp>
      <p:sp>
        <p:nvSpPr>
          <p:cNvPr id="34" name="Text 31"/>
          <p:cNvSpPr txBox="1"/>
          <p:nvPr/>
        </p:nvSpPr>
        <p:spPr>
          <a:xfrm>
            <a:off x="609585" y="5559413"/>
            <a:ext cx="512051" cy="512051"/>
          </a:xfrm>
          <a:prstGeom prst="rect">
            <a:avLst/>
          </a:prstGeom>
          <a:noFill/>
          <a:ln/>
        </p:spPr>
        <p:txBody>
          <a:bodyPr wrap="square" lIns="0" tIns="0" rIns="0" bIns="0" rtlCol="0" anchor="ctr"/>
          <a:lstStyle/>
          <a:p>
            <a:pPr algn="ctr" indent="0" marL="0">
              <a:buNone/>
            </a:pPr>
            <a:r>
              <a:rPr lang="en-US" sz="1733" b="1" dirty="0">
                <a:solidFill>
                  <a:srgbClr val="FFFFFF"/>
                </a:solidFill>
                <a:latin typeface="Calibri" pitchFamily="34" charset="0"/>
                <a:ea typeface="Calibri" pitchFamily="34" charset="-122"/>
                <a:cs typeface="Calibri" pitchFamily="34" charset="-120"/>
              </a:rPr>
              <a:t>6</a:t>
            </a:r>
            <a:endParaRPr lang="en-US" sz="1733" dirty="0"/>
          </a:p>
        </p:txBody>
      </p:sp>
      <p:sp>
        <p:nvSpPr>
          <p:cNvPr id="35" name="Text 32"/>
          <p:cNvSpPr txBox="1"/>
          <p:nvPr/>
        </p:nvSpPr>
        <p:spPr>
          <a:xfrm>
            <a:off x="1341086" y="5535030"/>
            <a:ext cx="5364346" cy="292601"/>
          </a:xfrm>
          <a:prstGeom prst="rect">
            <a:avLst/>
          </a:prstGeom>
          <a:noFill/>
          <a:ln/>
        </p:spPr>
        <p:txBody>
          <a:bodyPr wrap="square" lIns="0" tIns="0" rIns="0" bIns="0" rtlCol="0" anchor="ctr"/>
          <a:lstStyle/>
          <a:p>
            <a:pPr indent="0" marL="0">
              <a:buNone/>
            </a:pPr>
            <a:r>
              <a:rPr lang="en-US" sz="1600" b="1" dirty="0">
                <a:solidFill>
                  <a:srgbClr val="1A2332"/>
                </a:solidFill>
                <a:latin typeface="Calibri" pitchFamily="34" charset="0"/>
                <a:ea typeface="Calibri" pitchFamily="34" charset="-122"/>
                <a:cs typeface="Calibri" pitchFamily="34" charset="-120"/>
              </a:rPr>
              <a:t>Part encoders + gated fusion</a:t>
            </a:r>
            <a:endParaRPr lang="en-US" sz="1600" dirty="0"/>
          </a:p>
        </p:txBody>
      </p:sp>
      <p:sp>
        <p:nvSpPr>
          <p:cNvPr id="36" name="Text 33"/>
          <p:cNvSpPr txBox="1"/>
          <p:nvPr/>
        </p:nvSpPr>
        <p:spPr>
          <a:xfrm>
            <a:off x="1341086" y="5839822"/>
            <a:ext cx="5364346" cy="268217"/>
          </a:xfrm>
          <a:prstGeom prst="rect">
            <a:avLst/>
          </a:prstGeom>
          <a:noFill/>
          <a:ln/>
        </p:spPr>
        <p:txBody>
          <a:bodyPr wrap="square" lIns="0" tIns="0" rIns="0" bIns="0" rtlCol="0" anchor="ctr"/>
          <a:lstStyle/>
          <a:p>
            <a:pPr indent="0" marL="0">
              <a:buNone/>
            </a:pPr>
            <a:r>
              <a:rPr lang="en-US" sz="1333" dirty="0">
                <a:solidFill>
                  <a:srgbClr val="5A6678"/>
                </a:solidFill>
                <a:latin typeface="Calibri" pitchFamily="34" charset="0"/>
                <a:ea typeface="Calibri" pitchFamily="34" charset="-122"/>
                <a:cs typeface="Calibri" pitchFamily="34" charset="-120"/>
              </a:rPr>
              <a:t>Five streams gated and projected to 320-D per frame</a:t>
            </a:r>
            <a:endParaRPr lang="en-US" sz="1333" dirty="0"/>
          </a:p>
        </p:txBody>
      </p:sp>
      <p:sp>
        <p:nvSpPr>
          <p:cNvPr id="37" name="Shape 34"/>
          <p:cNvSpPr/>
          <p:nvPr/>
        </p:nvSpPr>
        <p:spPr>
          <a:xfrm>
            <a:off x="7132142" y="1731221"/>
            <a:ext cx="4449969" cy="4413394"/>
          </a:xfrm>
          <a:prstGeom prst="roundRect">
            <a:avLst>
              <a:gd name="adj" fmla="val 2210"/>
            </a:avLst>
          </a:prstGeom>
          <a:solidFill>
            <a:srgbClr val="F2F5F9"/>
          </a:solidFill>
          <a:ln w="12700">
            <a:solidFill>
              <a:srgbClr val="D9E1EA"/>
            </a:solidFill>
            <a:prstDash val="solid"/>
          </a:ln>
        </p:spPr>
        <p:txBody>
          <a:bodyPr/>
          <a:p/>
        </p:txBody>
      </p:sp>
      <p:sp>
        <p:nvSpPr>
          <p:cNvPr id="38" name="Text 35"/>
          <p:cNvSpPr txBox="1"/>
          <p:nvPr/>
        </p:nvSpPr>
        <p:spPr>
          <a:xfrm>
            <a:off x="7436934" y="1950671"/>
            <a:ext cx="3657509" cy="268217"/>
          </a:xfrm>
          <a:prstGeom prst="rect">
            <a:avLst/>
          </a:prstGeom>
          <a:noFill/>
          <a:ln/>
        </p:spPr>
        <p:txBody>
          <a:bodyPr wrap="square" lIns="0" tIns="0" rIns="0" bIns="0" rtlCol="0" anchor="ctr"/>
          <a:lstStyle/>
          <a:p>
            <a:pPr indent="0" marL="0">
              <a:buNone/>
            </a:pPr>
            <a:r>
              <a:rPr lang="en-US" sz="1200" b="1" spc="200" kern="0" dirty="0">
                <a:solidFill>
                  <a:srgbClr val="5A6678"/>
                </a:solidFill>
                <a:latin typeface="Calibri" pitchFamily="34" charset="0"/>
                <a:ea typeface="Calibri" pitchFamily="34" charset="-122"/>
                <a:cs typeface="Calibri" pitchFamily="34" charset="-120"/>
              </a:rPr>
              <a:t>PER-FRAME DATA FLOW</a:t>
            </a:r>
            <a:endParaRPr lang="en-US" sz="1200" dirty="0"/>
          </a:p>
        </p:txBody>
      </p:sp>
      <p:sp>
        <p:nvSpPr>
          <p:cNvPr id="39" name="Shape 36"/>
          <p:cNvSpPr/>
          <p:nvPr/>
        </p:nvSpPr>
        <p:spPr>
          <a:xfrm>
            <a:off x="7436934" y="2365189"/>
            <a:ext cx="3840384" cy="512051"/>
          </a:xfrm>
          <a:prstGeom prst="roundRect">
            <a:avLst>
              <a:gd name="adj" fmla="val 14286"/>
            </a:avLst>
          </a:prstGeom>
          <a:solidFill>
            <a:srgbClr val="FFFFFF"/>
          </a:solidFill>
          <a:ln w="16933">
            <a:solidFill>
              <a:srgbClr val="64748B"/>
            </a:solidFill>
            <a:prstDash val="solid"/>
          </a:ln>
        </p:spPr>
        <p:txBody>
          <a:bodyPr/>
          <a:p/>
        </p:txBody>
      </p:sp>
      <p:sp>
        <p:nvSpPr>
          <p:cNvPr id="40" name="Text 37"/>
          <p:cNvSpPr txBox="1"/>
          <p:nvPr/>
        </p:nvSpPr>
        <p:spPr>
          <a:xfrm>
            <a:off x="7436934" y="2365189"/>
            <a:ext cx="3840384" cy="512051"/>
          </a:xfrm>
          <a:prstGeom prst="rect">
            <a:avLst/>
          </a:prstGeom>
          <a:noFill/>
          <a:ln/>
        </p:spPr>
        <p:txBody>
          <a:bodyPr wrap="square" lIns="0" tIns="0" rIns="0" bIns="0" rtlCol="0" anchor="ctr"/>
          <a:lstStyle/>
          <a:p>
            <a:pPr algn="ctr" indent="0" marL="0">
              <a:buNone/>
            </a:pPr>
            <a:r>
              <a:rPr lang="en-US" sz="1467" b="1" dirty="0">
                <a:solidFill>
                  <a:srgbClr val="1A2332"/>
                </a:solidFill>
                <a:latin typeface="Calibri" pitchFamily="34" charset="0"/>
                <a:ea typeface="Calibri" pitchFamily="34" charset="-122"/>
                <a:cs typeface="Calibri" pitchFamily="34" charset="-120"/>
              </a:rPr>
              <a:t>Frame t</a:t>
            </a:r>
            <a:pPr algn="ctr" indent="0" marL="0">
              <a:buNone/>
            </a:pPr>
            <a:r>
              <a:rPr lang="en-US" sz="1467" dirty="0">
                <a:solidFill>
                  <a:srgbClr val="5A6678"/>
                </a:solidFill>
                <a:latin typeface="Calibri" pitchFamily="34" charset="0"/>
                <a:ea typeface="Calibri" pitchFamily="34" charset="-122"/>
                <a:cs typeface="Calibri" pitchFamily="34" charset="-120"/>
              </a:rPr>
              <a:t>   (sampled frame)</a:t>
            </a:r>
            <a:endParaRPr lang="en-US" sz="1467" dirty="0"/>
          </a:p>
        </p:txBody>
      </p:sp>
      <p:sp>
        <p:nvSpPr>
          <p:cNvPr id="41" name="Shape 38"/>
          <p:cNvSpPr/>
          <p:nvPr/>
        </p:nvSpPr>
        <p:spPr>
          <a:xfrm>
            <a:off x="8336072" y="2877240"/>
            <a:ext cx="0" cy="243834"/>
          </a:xfrm>
          <a:prstGeom prst="line">
            <a:avLst/>
          </a:prstGeom>
          <a:noFill/>
          <a:ln w="21166">
            <a:solidFill>
              <a:srgbClr val="8494AA"/>
            </a:solidFill>
            <a:prstDash val="solid"/>
            <a:tailEnd type="triangle"/>
          </a:ln>
        </p:spPr>
        <p:txBody>
          <a:bodyPr/>
          <a:p/>
        </p:txBody>
      </p:sp>
      <p:sp>
        <p:nvSpPr>
          <p:cNvPr id="42" name="Shape 39"/>
          <p:cNvSpPr/>
          <p:nvPr/>
        </p:nvSpPr>
        <p:spPr>
          <a:xfrm>
            <a:off x="10378181" y="2877240"/>
            <a:ext cx="0" cy="243834"/>
          </a:xfrm>
          <a:prstGeom prst="line">
            <a:avLst/>
          </a:prstGeom>
          <a:noFill/>
          <a:ln w="21166">
            <a:solidFill>
              <a:srgbClr val="8494AA"/>
            </a:solidFill>
            <a:prstDash val="solid"/>
            <a:tailEnd type="triangle"/>
          </a:ln>
        </p:spPr>
        <p:txBody>
          <a:bodyPr/>
          <a:p/>
        </p:txBody>
      </p:sp>
      <p:sp>
        <p:nvSpPr>
          <p:cNvPr id="43" name="Shape 40"/>
          <p:cNvSpPr/>
          <p:nvPr/>
        </p:nvSpPr>
        <p:spPr>
          <a:xfrm>
            <a:off x="7436934" y="3121074"/>
            <a:ext cx="1798275" cy="755885"/>
          </a:xfrm>
          <a:prstGeom prst="roundRect">
            <a:avLst>
              <a:gd name="adj" fmla="val 9677"/>
            </a:avLst>
          </a:prstGeom>
          <a:solidFill>
            <a:srgbClr val="E39A0B"/>
          </a:solidFill>
          <a:ln w="12700">
            <a:solidFill>
              <a:srgbClr val="E39A0B"/>
            </a:solidFill>
            <a:prstDash val="solid"/>
          </a:ln>
        </p:spPr>
        <p:txBody>
          <a:bodyPr/>
          <a:p/>
        </p:txBody>
      </p:sp>
      <p:sp>
        <p:nvSpPr>
          <p:cNvPr id="44" name="Text 41"/>
          <p:cNvSpPr txBox="1"/>
          <p:nvPr/>
        </p:nvSpPr>
        <p:spPr>
          <a:xfrm>
            <a:off x="7436934" y="3121074"/>
            <a:ext cx="1798275" cy="755885"/>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Landmarks</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534-D</a:t>
            </a:r>
            <a:endParaRPr lang="en-US" sz="1400" dirty="0"/>
          </a:p>
        </p:txBody>
      </p:sp>
      <p:sp>
        <p:nvSpPr>
          <p:cNvPr id="45" name="Shape 42"/>
          <p:cNvSpPr/>
          <p:nvPr/>
        </p:nvSpPr>
        <p:spPr>
          <a:xfrm>
            <a:off x="9479043" y="3121074"/>
            <a:ext cx="1798275" cy="755885"/>
          </a:xfrm>
          <a:prstGeom prst="roundRect">
            <a:avLst>
              <a:gd name="adj" fmla="val 9677"/>
            </a:avLst>
          </a:prstGeom>
          <a:solidFill>
            <a:srgbClr val="0E9AA7"/>
          </a:solidFill>
          <a:ln w="12700">
            <a:solidFill>
              <a:srgbClr val="0E9AA7"/>
            </a:solidFill>
            <a:prstDash val="solid"/>
          </a:ln>
        </p:spPr>
        <p:txBody>
          <a:bodyPr/>
          <a:p/>
        </p:txBody>
      </p:sp>
      <p:sp>
        <p:nvSpPr>
          <p:cNvPr id="46" name="Text 43"/>
          <p:cNvSpPr txBox="1"/>
          <p:nvPr/>
        </p:nvSpPr>
        <p:spPr>
          <a:xfrm>
            <a:off x="9479043" y="3121074"/>
            <a:ext cx="1798275" cy="755885"/>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Geometry + avail.</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469-D + 4-D</a:t>
            </a:r>
            <a:endParaRPr lang="en-US" sz="1400" dirty="0"/>
          </a:p>
        </p:txBody>
      </p:sp>
      <p:sp>
        <p:nvSpPr>
          <p:cNvPr id="47" name="Shape 44"/>
          <p:cNvSpPr/>
          <p:nvPr/>
        </p:nvSpPr>
        <p:spPr>
          <a:xfrm>
            <a:off x="8336072" y="3876959"/>
            <a:ext cx="655304" cy="268217"/>
          </a:xfrm>
          <a:prstGeom prst="line">
            <a:avLst/>
          </a:prstGeom>
          <a:noFill/>
          <a:ln w="21166">
            <a:solidFill>
              <a:srgbClr val="8494AA"/>
            </a:solidFill>
            <a:prstDash val="solid"/>
            <a:tailEnd type="triangle"/>
          </a:ln>
        </p:spPr>
        <p:txBody>
          <a:bodyPr/>
          <a:p/>
        </p:txBody>
      </p:sp>
      <p:sp>
        <p:nvSpPr>
          <p:cNvPr id="48" name="Shape 45"/>
          <p:cNvSpPr/>
          <p:nvPr/>
        </p:nvSpPr>
        <p:spPr>
          <a:xfrm flipV="1">
            <a:off x="9722877" y="3876959"/>
            <a:ext cx="655304" cy="268217"/>
          </a:xfrm>
          <a:prstGeom prst="line">
            <a:avLst/>
          </a:prstGeom>
          <a:noFill/>
          <a:ln w="21166">
            <a:solidFill>
              <a:srgbClr val="8494AA"/>
            </a:solidFill>
            <a:prstDash val="solid"/>
            <a:tailEnd type="triangle"/>
          </a:ln>
        </p:spPr>
        <p:txBody>
          <a:bodyPr/>
          <a:p/>
        </p:txBody>
      </p:sp>
      <p:sp>
        <p:nvSpPr>
          <p:cNvPr id="49" name="Shape 46"/>
          <p:cNvSpPr/>
          <p:nvPr/>
        </p:nvSpPr>
        <p:spPr>
          <a:xfrm>
            <a:off x="7436934" y="4145176"/>
            <a:ext cx="3840384" cy="512051"/>
          </a:xfrm>
          <a:prstGeom prst="roundRect">
            <a:avLst>
              <a:gd name="adj" fmla="val 14286"/>
            </a:avLst>
          </a:prstGeom>
          <a:solidFill>
            <a:srgbClr val="1A2A42"/>
          </a:solidFill>
          <a:ln w="12700">
            <a:solidFill>
              <a:srgbClr val="1A2A42"/>
            </a:solidFill>
            <a:prstDash val="solid"/>
          </a:ln>
        </p:spPr>
        <p:txBody>
          <a:bodyPr/>
          <a:p/>
        </p:txBody>
      </p:sp>
      <p:sp>
        <p:nvSpPr>
          <p:cNvPr id="50" name="Text 47"/>
          <p:cNvSpPr txBox="1"/>
          <p:nvPr/>
        </p:nvSpPr>
        <p:spPr>
          <a:xfrm>
            <a:off x="7436934" y="4145176"/>
            <a:ext cx="3840384" cy="512051"/>
          </a:xfrm>
          <a:prstGeom prst="rect">
            <a:avLst/>
          </a:prstGeom>
          <a:noFill/>
          <a:ln/>
        </p:spPr>
        <p:txBody>
          <a:bodyPr wrap="square" lIns="0" tIns="0" rIns="0" bIns="0" rtlCol="0" anchor="ctr"/>
          <a:lstStyle/>
          <a:p>
            <a:pPr algn="ctr" indent="0" marL="0">
              <a:buNone/>
            </a:pPr>
            <a:r>
              <a:rPr lang="en-US" sz="1467" b="1" dirty="0">
                <a:solidFill>
                  <a:srgbClr val="FFFFFF"/>
                </a:solidFill>
                <a:latin typeface="Calibri" pitchFamily="34" charset="0"/>
                <a:ea typeface="Calibri" pitchFamily="34" charset="-122"/>
                <a:cs typeface="Calibri" pitchFamily="34" charset="-120"/>
              </a:rPr>
              <a:t>Gated 320-D vector for frame t</a:t>
            </a:r>
            <a:endParaRPr lang="en-US" sz="1467" dirty="0"/>
          </a:p>
        </p:txBody>
      </p:sp>
      <p:sp>
        <p:nvSpPr>
          <p:cNvPr id="51" name="Text 48"/>
          <p:cNvSpPr txBox="1"/>
          <p:nvPr/>
        </p:nvSpPr>
        <p:spPr>
          <a:xfrm>
            <a:off x="7436934" y="4840103"/>
            <a:ext cx="3840384" cy="268217"/>
          </a:xfrm>
          <a:prstGeom prst="rect">
            <a:avLst/>
          </a:prstGeom>
          <a:noFill/>
          <a:ln/>
        </p:spPr>
        <p:txBody>
          <a:bodyPr wrap="square" lIns="0" tIns="0" rIns="0" bIns="0" rtlCol="0" anchor="ctr"/>
          <a:lstStyle/>
          <a:p>
            <a:pPr indent="0" marL="0">
              <a:buNone/>
            </a:pPr>
            <a:r>
              <a:rPr lang="en-US" sz="1267" dirty="0">
                <a:solidFill>
                  <a:srgbClr val="5A6678"/>
                </a:solidFill>
                <a:latin typeface="Calibri" pitchFamily="34" charset="0"/>
                <a:ea typeface="Calibri" pitchFamily="34" charset="-122"/>
                <a:cs typeface="Calibri" pitchFamily="34" charset="-120"/>
              </a:rPr>
              <a:t>Repeated for t = 1 … 64 and stacked in order:</a:t>
            </a:r>
            <a:endParaRPr lang="en-US" sz="1267" dirty="0"/>
          </a:p>
        </p:txBody>
      </p:sp>
      <p:sp>
        <p:nvSpPr>
          <p:cNvPr id="52" name="Shape 49"/>
          <p:cNvSpPr/>
          <p:nvPr/>
        </p:nvSpPr>
        <p:spPr>
          <a:xfrm>
            <a:off x="7436934" y="5193662"/>
            <a:ext cx="465026" cy="609585"/>
          </a:xfrm>
          <a:prstGeom prst="roundRect">
            <a:avLst>
              <a:gd name="adj" fmla="val 10487"/>
            </a:avLst>
          </a:prstGeom>
          <a:solidFill>
            <a:srgbClr val="5B5BD6"/>
          </a:solidFill>
          <a:ln w="12700">
            <a:solidFill>
              <a:srgbClr val="5B5BD6"/>
            </a:solidFill>
            <a:prstDash val="solid"/>
          </a:ln>
        </p:spPr>
        <p:txBody>
          <a:bodyPr/>
          <a:p/>
        </p:txBody>
      </p:sp>
      <p:sp>
        <p:nvSpPr>
          <p:cNvPr id="53" name="Text 50"/>
          <p:cNvSpPr txBox="1"/>
          <p:nvPr/>
        </p:nvSpPr>
        <p:spPr>
          <a:xfrm>
            <a:off x="7436934" y="5193662"/>
            <a:ext cx="465026" cy="609585"/>
          </a:xfrm>
          <a:prstGeom prst="rect">
            <a:avLst/>
          </a:prstGeom>
          <a:noFill/>
          <a:ln/>
        </p:spPr>
        <p:txBody>
          <a:bodyPr wrap="square" lIns="0" tIns="0" rIns="0" bIns="0" rtlCol="0" anchor="ctr"/>
          <a:lstStyle/>
          <a:p>
            <a:pPr algn="ctr" indent="0" marL="0">
              <a:buNone/>
            </a:pPr>
            <a:r>
              <a:rPr lang="en-US" sz="1333" b="1" dirty="0">
                <a:solidFill>
                  <a:srgbClr val="FFFFFF"/>
                </a:solidFill>
                <a:latin typeface="Calibri" pitchFamily="34" charset="0"/>
                <a:ea typeface="Calibri" pitchFamily="34" charset="-122"/>
                <a:cs typeface="Calibri" pitchFamily="34" charset="-120"/>
              </a:rPr>
              <a:t>1</a:t>
            </a:r>
            <a:endParaRPr lang="en-US" sz="1333" dirty="0"/>
          </a:p>
        </p:txBody>
      </p:sp>
      <p:sp>
        <p:nvSpPr>
          <p:cNvPr id="54" name="Shape 51"/>
          <p:cNvSpPr/>
          <p:nvPr/>
        </p:nvSpPr>
        <p:spPr>
          <a:xfrm>
            <a:off x="7999494" y="5193662"/>
            <a:ext cx="465026" cy="609585"/>
          </a:xfrm>
          <a:prstGeom prst="roundRect">
            <a:avLst>
              <a:gd name="adj" fmla="val 10487"/>
            </a:avLst>
          </a:prstGeom>
          <a:solidFill>
            <a:srgbClr val="5B5BD6"/>
          </a:solidFill>
          <a:ln w="12700">
            <a:solidFill>
              <a:srgbClr val="5B5BD6"/>
            </a:solidFill>
            <a:prstDash val="solid"/>
          </a:ln>
        </p:spPr>
        <p:txBody>
          <a:bodyPr/>
          <a:p/>
        </p:txBody>
      </p:sp>
      <p:sp>
        <p:nvSpPr>
          <p:cNvPr id="55" name="Text 52"/>
          <p:cNvSpPr txBox="1"/>
          <p:nvPr/>
        </p:nvSpPr>
        <p:spPr>
          <a:xfrm>
            <a:off x="7999494" y="5193662"/>
            <a:ext cx="465026" cy="609585"/>
          </a:xfrm>
          <a:prstGeom prst="rect">
            <a:avLst/>
          </a:prstGeom>
          <a:noFill/>
          <a:ln/>
        </p:spPr>
        <p:txBody>
          <a:bodyPr wrap="square" lIns="0" tIns="0" rIns="0" bIns="0" rtlCol="0" anchor="ctr"/>
          <a:lstStyle/>
          <a:p>
            <a:pPr algn="ctr" indent="0" marL="0">
              <a:buNone/>
            </a:pPr>
            <a:r>
              <a:rPr lang="en-US" sz="1333" b="1" dirty="0">
                <a:solidFill>
                  <a:srgbClr val="FFFFFF"/>
                </a:solidFill>
                <a:latin typeface="Calibri" pitchFamily="34" charset="0"/>
                <a:ea typeface="Calibri" pitchFamily="34" charset="-122"/>
                <a:cs typeface="Calibri" pitchFamily="34" charset="-120"/>
              </a:rPr>
              <a:t>2</a:t>
            </a:r>
            <a:endParaRPr lang="en-US" sz="1333" dirty="0"/>
          </a:p>
        </p:txBody>
      </p:sp>
      <p:sp>
        <p:nvSpPr>
          <p:cNvPr id="56" name="Shape 53"/>
          <p:cNvSpPr/>
          <p:nvPr/>
        </p:nvSpPr>
        <p:spPr>
          <a:xfrm>
            <a:off x="8562053" y="5193662"/>
            <a:ext cx="465026" cy="609585"/>
          </a:xfrm>
          <a:prstGeom prst="roundRect">
            <a:avLst>
              <a:gd name="adj" fmla="val 10487"/>
            </a:avLst>
          </a:prstGeom>
          <a:solidFill>
            <a:srgbClr val="5B5BD6"/>
          </a:solidFill>
          <a:ln w="12700">
            <a:solidFill>
              <a:srgbClr val="5B5BD6"/>
            </a:solidFill>
            <a:prstDash val="solid"/>
          </a:ln>
        </p:spPr>
        <p:txBody>
          <a:bodyPr/>
          <a:p/>
        </p:txBody>
      </p:sp>
      <p:sp>
        <p:nvSpPr>
          <p:cNvPr id="57" name="Text 54"/>
          <p:cNvSpPr txBox="1"/>
          <p:nvPr/>
        </p:nvSpPr>
        <p:spPr>
          <a:xfrm>
            <a:off x="8562053" y="5193662"/>
            <a:ext cx="465026" cy="609585"/>
          </a:xfrm>
          <a:prstGeom prst="rect">
            <a:avLst/>
          </a:prstGeom>
          <a:noFill/>
          <a:ln/>
        </p:spPr>
        <p:txBody>
          <a:bodyPr wrap="square" lIns="0" tIns="0" rIns="0" bIns="0" rtlCol="0" anchor="ctr"/>
          <a:lstStyle/>
          <a:p>
            <a:pPr algn="ctr" indent="0" marL="0">
              <a:buNone/>
            </a:pPr>
            <a:r>
              <a:rPr lang="en-US" sz="1333" b="1" dirty="0">
                <a:solidFill>
                  <a:srgbClr val="FFFFFF"/>
                </a:solidFill>
                <a:latin typeface="Calibri" pitchFamily="34" charset="0"/>
                <a:ea typeface="Calibri" pitchFamily="34" charset="-122"/>
                <a:cs typeface="Calibri" pitchFamily="34" charset="-120"/>
              </a:rPr>
              <a:t>3</a:t>
            </a:r>
            <a:endParaRPr lang="en-US" sz="1333" dirty="0"/>
          </a:p>
        </p:txBody>
      </p:sp>
      <p:sp>
        <p:nvSpPr>
          <p:cNvPr id="58" name="Shape 55"/>
          <p:cNvSpPr/>
          <p:nvPr/>
        </p:nvSpPr>
        <p:spPr>
          <a:xfrm>
            <a:off x="9124613" y="5193662"/>
            <a:ext cx="465026" cy="609585"/>
          </a:xfrm>
          <a:prstGeom prst="roundRect">
            <a:avLst>
              <a:gd name="adj" fmla="val 10487"/>
            </a:avLst>
          </a:prstGeom>
          <a:solidFill>
            <a:srgbClr val="5B5BD6"/>
          </a:solidFill>
          <a:ln w="12700">
            <a:solidFill>
              <a:srgbClr val="5B5BD6"/>
            </a:solidFill>
            <a:prstDash val="solid"/>
          </a:ln>
        </p:spPr>
        <p:txBody>
          <a:bodyPr/>
          <a:p/>
        </p:txBody>
      </p:sp>
      <p:sp>
        <p:nvSpPr>
          <p:cNvPr id="59" name="Text 56"/>
          <p:cNvSpPr txBox="1"/>
          <p:nvPr/>
        </p:nvSpPr>
        <p:spPr>
          <a:xfrm>
            <a:off x="9124613" y="5193662"/>
            <a:ext cx="465026" cy="609585"/>
          </a:xfrm>
          <a:prstGeom prst="rect">
            <a:avLst/>
          </a:prstGeom>
          <a:noFill/>
          <a:ln/>
        </p:spPr>
        <p:txBody>
          <a:bodyPr wrap="square" lIns="0" tIns="0" rIns="0" bIns="0" rtlCol="0" anchor="ctr"/>
          <a:lstStyle/>
          <a:p>
            <a:pPr algn="ctr" indent="0" marL="0">
              <a:buNone/>
            </a:pPr>
            <a:r>
              <a:rPr lang="en-US" sz="1333" b="1" dirty="0">
                <a:solidFill>
                  <a:srgbClr val="FFFFFF"/>
                </a:solidFill>
                <a:latin typeface="Calibri" pitchFamily="34" charset="0"/>
                <a:ea typeface="Calibri" pitchFamily="34" charset="-122"/>
                <a:cs typeface="Calibri" pitchFamily="34" charset="-120"/>
              </a:rPr>
              <a:t>4</a:t>
            </a:r>
            <a:endParaRPr lang="en-US" sz="1333" dirty="0"/>
          </a:p>
        </p:txBody>
      </p:sp>
      <p:sp>
        <p:nvSpPr>
          <p:cNvPr id="60" name="Shape 57"/>
          <p:cNvSpPr/>
          <p:nvPr/>
        </p:nvSpPr>
        <p:spPr>
          <a:xfrm>
            <a:off x="9687173" y="5193662"/>
            <a:ext cx="465026" cy="609585"/>
          </a:xfrm>
          <a:prstGeom prst="roundRect">
            <a:avLst>
              <a:gd name="adj" fmla="val 10487"/>
            </a:avLst>
          </a:prstGeom>
          <a:solidFill>
            <a:srgbClr val="5B5BD6"/>
          </a:solidFill>
          <a:ln w="12700">
            <a:solidFill>
              <a:srgbClr val="5B5BD6"/>
            </a:solidFill>
            <a:prstDash val="solid"/>
          </a:ln>
        </p:spPr>
        <p:txBody>
          <a:bodyPr/>
          <a:p/>
        </p:txBody>
      </p:sp>
      <p:sp>
        <p:nvSpPr>
          <p:cNvPr id="61" name="Text 58"/>
          <p:cNvSpPr txBox="1"/>
          <p:nvPr/>
        </p:nvSpPr>
        <p:spPr>
          <a:xfrm>
            <a:off x="9687173" y="5193662"/>
            <a:ext cx="465026" cy="609585"/>
          </a:xfrm>
          <a:prstGeom prst="rect">
            <a:avLst/>
          </a:prstGeom>
          <a:noFill/>
          <a:ln/>
        </p:spPr>
        <p:txBody>
          <a:bodyPr wrap="square" lIns="0" tIns="0" rIns="0" bIns="0" rtlCol="0" anchor="ctr"/>
          <a:lstStyle/>
          <a:p>
            <a:pPr algn="ctr" indent="0" marL="0">
              <a:buNone/>
            </a:pPr>
            <a:r>
              <a:rPr lang="en-US" sz="1333" b="1" dirty="0">
                <a:solidFill>
                  <a:srgbClr val="FFFFFF"/>
                </a:solidFill>
                <a:latin typeface="Calibri" pitchFamily="34" charset="0"/>
                <a:ea typeface="Calibri" pitchFamily="34" charset="-122"/>
                <a:cs typeface="Calibri" pitchFamily="34" charset="-120"/>
              </a:rPr>
              <a:t>5</a:t>
            </a:r>
            <a:endParaRPr lang="en-US" sz="1333" dirty="0"/>
          </a:p>
        </p:txBody>
      </p:sp>
      <p:sp>
        <p:nvSpPr>
          <p:cNvPr id="62" name="Shape 59"/>
          <p:cNvSpPr/>
          <p:nvPr/>
        </p:nvSpPr>
        <p:spPr>
          <a:xfrm>
            <a:off x="10249732" y="5193662"/>
            <a:ext cx="465026" cy="609585"/>
          </a:xfrm>
          <a:prstGeom prst="roundRect">
            <a:avLst>
              <a:gd name="adj" fmla="val 10487"/>
            </a:avLst>
          </a:prstGeom>
          <a:solidFill>
            <a:srgbClr val="F2F5F9"/>
          </a:solidFill>
          <a:ln w="12700">
            <a:solidFill>
              <a:srgbClr val="F2F5F9"/>
            </a:solidFill>
            <a:prstDash val="solid"/>
          </a:ln>
        </p:spPr>
        <p:txBody>
          <a:bodyPr/>
          <a:p/>
        </p:txBody>
      </p:sp>
      <p:sp>
        <p:nvSpPr>
          <p:cNvPr id="63" name="Text 60"/>
          <p:cNvSpPr txBox="1"/>
          <p:nvPr/>
        </p:nvSpPr>
        <p:spPr>
          <a:xfrm>
            <a:off x="10249732" y="5193662"/>
            <a:ext cx="465026" cy="609585"/>
          </a:xfrm>
          <a:prstGeom prst="rect">
            <a:avLst/>
          </a:prstGeom>
          <a:noFill/>
          <a:ln/>
        </p:spPr>
        <p:txBody>
          <a:bodyPr wrap="square" lIns="0" tIns="0" rIns="0" bIns="0" rtlCol="0" anchor="ctr"/>
          <a:lstStyle/>
          <a:p>
            <a:pPr algn="ctr" indent="0" marL="0">
              <a:buNone/>
            </a:pPr>
            <a:r>
              <a:rPr lang="en-US" sz="1333" b="1" dirty="0">
                <a:solidFill>
                  <a:srgbClr val="5A6678"/>
                </a:solidFill>
                <a:latin typeface="Calibri" pitchFamily="34" charset="0"/>
                <a:ea typeface="Calibri" pitchFamily="34" charset="-122"/>
                <a:cs typeface="Calibri" pitchFamily="34" charset="-120"/>
              </a:rPr>
              <a:t>…</a:t>
            </a:r>
            <a:endParaRPr lang="en-US" sz="1333" dirty="0"/>
          </a:p>
        </p:txBody>
      </p:sp>
      <p:sp>
        <p:nvSpPr>
          <p:cNvPr id="64" name="Shape 61"/>
          <p:cNvSpPr/>
          <p:nvPr/>
        </p:nvSpPr>
        <p:spPr>
          <a:xfrm>
            <a:off x="10812292" y="5193662"/>
            <a:ext cx="465026" cy="609585"/>
          </a:xfrm>
          <a:prstGeom prst="roundRect">
            <a:avLst>
              <a:gd name="adj" fmla="val 10487"/>
            </a:avLst>
          </a:prstGeom>
          <a:solidFill>
            <a:srgbClr val="5B5BD6"/>
          </a:solidFill>
          <a:ln w="12700">
            <a:solidFill>
              <a:srgbClr val="5B5BD6"/>
            </a:solidFill>
            <a:prstDash val="solid"/>
          </a:ln>
        </p:spPr>
        <p:txBody>
          <a:bodyPr/>
          <a:p/>
        </p:txBody>
      </p:sp>
      <p:sp>
        <p:nvSpPr>
          <p:cNvPr id="65" name="Text 62"/>
          <p:cNvSpPr txBox="1"/>
          <p:nvPr/>
        </p:nvSpPr>
        <p:spPr>
          <a:xfrm>
            <a:off x="10812292" y="5193662"/>
            <a:ext cx="465026" cy="609585"/>
          </a:xfrm>
          <a:prstGeom prst="rect">
            <a:avLst/>
          </a:prstGeom>
          <a:noFill/>
          <a:ln/>
        </p:spPr>
        <p:txBody>
          <a:bodyPr wrap="square" lIns="0" tIns="0" rIns="0" bIns="0" rtlCol="0" anchor="ctr"/>
          <a:lstStyle/>
          <a:p>
            <a:pPr algn="ctr" indent="0" marL="0">
              <a:buNone/>
            </a:pPr>
            <a:r>
              <a:rPr lang="en-US" sz="1333" b="1" dirty="0">
                <a:solidFill>
                  <a:srgbClr val="FFFFFF"/>
                </a:solidFill>
                <a:latin typeface="Calibri" pitchFamily="34" charset="0"/>
                <a:ea typeface="Calibri" pitchFamily="34" charset="-122"/>
                <a:cs typeface="Calibri" pitchFamily="34" charset="-120"/>
              </a:rPr>
              <a:t>64</a:t>
            </a:r>
            <a:endParaRPr lang="en-US" sz="1333"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541968"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541968"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12  ·  IMPLEMENTATION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Implementation II: From Sequence to Prediction</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17</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31221"/>
            <a:ext cx="2438339" cy="2657790"/>
          </a:xfrm>
          <a:prstGeom prst="roundRect">
            <a:avLst>
              <a:gd name="adj" fmla="val 4000"/>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9" name="Shape 6"/>
          <p:cNvSpPr/>
          <p:nvPr/>
        </p:nvSpPr>
        <p:spPr>
          <a:xfrm>
            <a:off x="829035" y="1975055"/>
            <a:ext cx="609585" cy="609585"/>
          </a:xfrm>
          <a:prstGeom prst="ellipse">
            <a:avLst/>
          </a:prstGeom>
          <a:solidFill>
            <a:srgbClr val="5B5BD6"/>
          </a:solidFill>
          <a:ln w="12700">
            <a:solidFill>
              <a:srgbClr val="5B5BD6"/>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987527" y="2133547"/>
            <a:ext cx="292601" cy="292601"/>
          </a:xfrm>
          <a:prstGeom prst="rect">
            <a:avLst/>
          </a:prstGeom>
        </p:spPr>
      </p:pic>
      <p:sp>
        <p:nvSpPr>
          <p:cNvPr id="11" name="Text 7"/>
          <p:cNvSpPr txBox="1"/>
          <p:nvPr/>
        </p:nvSpPr>
        <p:spPr>
          <a:xfrm>
            <a:off x="2292039" y="1999438"/>
            <a:ext cx="548626" cy="365751"/>
          </a:xfrm>
          <a:prstGeom prst="rect">
            <a:avLst/>
          </a:prstGeom>
          <a:noFill/>
          <a:ln/>
        </p:spPr>
        <p:txBody>
          <a:bodyPr wrap="square" lIns="0" tIns="0" rIns="0" bIns="0" rtlCol="0" anchor="ctr"/>
          <a:lstStyle/>
          <a:p>
            <a:pPr algn="r" indent="0" marL="0">
              <a:buNone/>
            </a:pPr>
            <a:r>
              <a:rPr lang="en-US" sz="2133" b="1" dirty="0">
                <a:solidFill>
                  <a:srgbClr val="AFBCCD"/>
                </a:solidFill>
                <a:latin typeface="Calibri" pitchFamily="34" charset="0"/>
                <a:ea typeface="Calibri" pitchFamily="34" charset="-122"/>
                <a:cs typeface="Calibri" pitchFamily="34" charset="-120"/>
              </a:rPr>
              <a:t>7</a:t>
            </a:r>
            <a:endParaRPr lang="en-US" sz="2133" dirty="0"/>
          </a:p>
        </p:txBody>
      </p:sp>
      <p:sp>
        <p:nvSpPr>
          <p:cNvPr id="12" name="Text 8"/>
          <p:cNvSpPr txBox="1"/>
          <p:nvPr/>
        </p:nvSpPr>
        <p:spPr>
          <a:xfrm>
            <a:off x="829035" y="2755323"/>
            <a:ext cx="2048205" cy="365751"/>
          </a:xfrm>
          <a:prstGeom prst="rect">
            <a:avLst/>
          </a:prstGeom>
          <a:noFill/>
          <a:ln/>
        </p:spPr>
        <p:txBody>
          <a:bodyPr wrap="square" lIns="0" tIns="0" rIns="0" bIns="0" rtlCol="0" anchor="ctr"/>
          <a:lstStyle/>
          <a:p>
            <a:pPr indent="0" marL="0">
              <a:buNone/>
            </a:pPr>
            <a:r>
              <a:rPr lang="en-US" sz="1667" b="1" dirty="0">
                <a:solidFill>
                  <a:srgbClr val="1A2332"/>
                </a:solidFill>
                <a:latin typeface="Calibri" pitchFamily="34" charset="0"/>
                <a:ea typeface="Calibri" pitchFamily="34" charset="-122"/>
                <a:cs typeface="Calibri" pitchFamily="34" charset="-120"/>
              </a:rPr>
              <a:t>Sequence Preparation</a:t>
            </a:r>
            <a:endParaRPr lang="en-US" sz="1667" dirty="0"/>
          </a:p>
        </p:txBody>
      </p:sp>
      <p:sp>
        <p:nvSpPr>
          <p:cNvPr id="13" name="Text 9"/>
          <p:cNvSpPr txBox="1"/>
          <p:nvPr/>
        </p:nvSpPr>
        <p:spPr>
          <a:xfrm>
            <a:off x="829035" y="3145457"/>
            <a:ext cx="2048205" cy="1097253"/>
          </a:xfrm>
          <a:prstGeom prst="rect">
            <a:avLst/>
          </a:prstGeom>
          <a:noFill/>
          <a:ln/>
        </p:spPr>
        <p:txBody>
          <a:bodyPr wrap="square" lIns="0" tIns="0" rIns="0" bIns="0" rtlCol="0" anchor="t"/>
          <a:lstStyle/>
          <a:p>
            <a:pPr indent="0" marL="0">
              <a:buNone/>
            </a:pPr>
            <a:r>
              <a:rPr lang="en-US" sz="1333" dirty="0">
                <a:solidFill>
                  <a:srgbClr val="5A6678"/>
                </a:solidFill>
                <a:latin typeface="Calibri" pitchFamily="34" charset="0"/>
                <a:ea typeface="Calibri" pitchFamily="34" charset="-122"/>
                <a:cs typeface="Calibri" pitchFamily="34" charset="-120"/>
              </a:rPr>
              <a:t>A learned CLS token and positional embedding are added to the 64 frame vectors</a:t>
            </a:r>
            <a:endParaRPr lang="en-US" sz="1333" dirty="0"/>
          </a:p>
        </p:txBody>
      </p:sp>
      <p:sp>
        <p:nvSpPr>
          <p:cNvPr id="14" name="Text 10"/>
          <p:cNvSpPr txBox="1"/>
          <p:nvPr/>
        </p:nvSpPr>
        <p:spPr>
          <a:xfrm>
            <a:off x="3047924" y="2816282"/>
            <a:ext cx="405983" cy="487668"/>
          </a:xfrm>
          <a:prstGeom prst="rect">
            <a:avLst/>
          </a:prstGeom>
          <a:noFill/>
          <a:ln/>
        </p:spPr>
        <p:txBody>
          <a:bodyPr wrap="square" lIns="0" tIns="0" rIns="0" bIns="0" rtlCol="0" anchor="ctr"/>
          <a:lstStyle/>
          <a:p>
            <a:pPr algn="ctr" indent="0" marL="0">
              <a:buNone/>
            </a:pPr>
            <a:r>
              <a:rPr lang="en-US" sz="2933" b="1" dirty="0">
                <a:solidFill>
                  <a:srgbClr val="AFBCCD"/>
                </a:solidFill>
                <a:latin typeface="Calibri" pitchFamily="34" charset="0"/>
                <a:ea typeface="Calibri" pitchFamily="34" charset="-122"/>
                <a:cs typeface="Calibri" pitchFamily="34" charset="-120"/>
              </a:rPr>
              <a:t>›</a:t>
            </a:r>
            <a:endParaRPr lang="en-US" sz="2933" dirty="0"/>
          </a:p>
        </p:txBody>
      </p:sp>
      <p:sp>
        <p:nvSpPr>
          <p:cNvPr id="15" name="Shape 11"/>
          <p:cNvSpPr/>
          <p:nvPr/>
        </p:nvSpPr>
        <p:spPr>
          <a:xfrm>
            <a:off x="3453907" y="1731221"/>
            <a:ext cx="2438339" cy="2657790"/>
          </a:xfrm>
          <a:prstGeom prst="roundRect">
            <a:avLst>
              <a:gd name="adj" fmla="val 4000"/>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16" name="Shape 12"/>
          <p:cNvSpPr/>
          <p:nvPr/>
        </p:nvSpPr>
        <p:spPr>
          <a:xfrm>
            <a:off x="3673358" y="1975055"/>
            <a:ext cx="609585" cy="609585"/>
          </a:xfrm>
          <a:prstGeom prst="ellipse">
            <a:avLst/>
          </a:prstGeom>
          <a:solidFill>
            <a:srgbClr val="5B5BD6"/>
          </a:solidFill>
          <a:ln w="12700">
            <a:solidFill>
              <a:srgbClr val="5B5BD6"/>
            </a:solidFill>
            <a:prstDash val="solid"/>
          </a:ln>
        </p:spPr>
        <p:txBody>
          <a:bodyPr/>
          <a:p/>
        </p:txBody>
      </p:sp>
      <p:pic>
        <p:nvPicPr>
          <p:cNvPr id="17" name="Image 2" descr="preencoded.png">    </p:cNvPr>
          <p:cNvPicPr>
            <a:picLocks noChangeAspect="1"/>
          </p:cNvPicPr>
          <p:nvPr/>
        </p:nvPicPr>
        <p:blipFill>
          <a:blip r:embed="rId3"/>
          <a:stretch>
            <a:fillRect/>
          </a:stretch>
        </p:blipFill>
        <p:spPr>
          <a:xfrm>
            <a:off x="3831850" y="2133547"/>
            <a:ext cx="292601" cy="292601"/>
          </a:xfrm>
          <a:prstGeom prst="rect">
            <a:avLst/>
          </a:prstGeom>
        </p:spPr>
      </p:pic>
      <p:sp>
        <p:nvSpPr>
          <p:cNvPr id="18" name="Text 13"/>
          <p:cNvSpPr txBox="1"/>
          <p:nvPr/>
        </p:nvSpPr>
        <p:spPr>
          <a:xfrm>
            <a:off x="5136361" y="1999438"/>
            <a:ext cx="548626" cy="365751"/>
          </a:xfrm>
          <a:prstGeom prst="rect">
            <a:avLst/>
          </a:prstGeom>
          <a:noFill/>
          <a:ln/>
        </p:spPr>
        <p:txBody>
          <a:bodyPr wrap="square" lIns="0" tIns="0" rIns="0" bIns="0" rtlCol="0" anchor="ctr"/>
          <a:lstStyle/>
          <a:p>
            <a:pPr algn="r" indent="0" marL="0">
              <a:buNone/>
            </a:pPr>
            <a:r>
              <a:rPr lang="en-US" sz="2133" b="1" dirty="0">
                <a:solidFill>
                  <a:srgbClr val="AFBCCD"/>
                </a:solidFill>
                <a:latin typeface="Calibri" pitchFamily="34" charset="0"/>
                <a:ea typeface="Calibri" pitchFamily="34" charset="-122"/>
                <a:cs typeface="Calibri" pitchFamily="34" charset="-120"/>
              </a:rPr>
              <a:t>8</a:t>
            </a:r>
            <a:endParaRPr lang="en-US" sz="2133" dirty="0"/>
          </a:p>
        </p:txBody>
      </p:sp>
      <p:sp>
        <p:nvSpPr>
          <p:cNvPr id="19" name="Text 14"/>
          <p:cNvSpPr txBox="1"/>
          <p:nvPr/>
        </p:nvSpPr>
        <p:spPr>
          <a:xfrm>
            <a:off x="3673358" y="2755323"/>
            <a:ext cx="2048205" cy="365751"/>
          </a:xfrm>
          <a:prstGeom prst="rect">
            <a:avLst/>
          </a:prstGeom>
          <a:noFill/>
          <a:ln/>
        </p:spPr>
        <p:txBody>
          <a:bodyPr wrap="square" lIns="0" tIns="0" rIns="0" bIns="0" rtlCol="0" anchor="ctr"/>
          <a:lstStyle/>
          <a:p>
            <a:pPr indent="0" marL="0">
              <a:buNone/>
            </a:pPr>
            <a:r>
              <a:rPr lang="en-US" sz="1667" b="1" dirty="0">
                <a:solidFill>
                  <a:srgbClr val="1A2332"/>
                </a:solidFill>
                <a:latin typeface="Calibri" pitchFamily="34" charset="0"/>
                <a:ea typeface="Calibri" pitchFamily="34" charset="-122"/>
                <a:cs typeface="Calibri" pitchFamily="34" charset="-120"/>
              </a:rPr>
              <a:t>4 × HTMA Blocks</a:t>
            </a:r>
            <a:endParaRPr lang="en-US" sz="1667" dirty="0"/>
          </a:p>
        </p:txBody>
      </p:sp>
      <p:sp>
        <p:nvSpPr>
          <p:cNvPr id="20" name="Text 15"/>
          <p:cNvSpPr txBox="1"/>
          <p:nvPr/>
        </p:nvSpPr>
        <p:spPr>
          <a:xfrm>
            <a:off x="3673358" y="3145457"/>
            <a:ext cx="2048205" cy="1097253"/>
          </a:xfrm>
          <a:prstGeom prst="rect">
            <a:avLst/>
          </a:prstGeom>
          <a:noFill/>
          <a:ln/>
        </p:spPr>
        <p:txBody>
          <a:bodyPr wrap="square" lIns="0" tIns="0" rIns="0" bIns="0" rtlCol="0" anchor="t"/>
          <a:lstStyle/>
          <a:p>
            <a:pPr indent="0" marL="0">
              <a:buNone/>
            </a:pPr>
            <a:r>
              <a:rPr lang="en-US" sz="1333" dirty="0">
                <a:solidFill>
                  <a:srgbClr val="5A6678"/>
                </a:solidFill>
                <a:latin typeface="Calibri" pitchFamily="34" charset="0"/>
                <a:ea typeface="Calibri" pitchFamily="34" charset="-122"/>
                <a:cs typeface="Calibri" pitchFamily="34" charset="-120"/>
              </a:rPr>
              <a:t>8-head head-token mixing attention (d = 320) with a 320 → 1280 → 320 MLP</a:t>
            </a:r>
            <a:endParaRPr lang="en-US" sz="1333" dirty="0"/>
          </a:p>
        </p:txBody>
      </p:sp>
      <p:sp>
        <p:nvSpPr>
          <p:cNvPr id="21" name="Text 16"/>
          <p:cNvSpPr txBox="1"/>
          <p:nvPr/>
        </p:nvSpPr>
        <p:spPr>
          <a:xfrm>
            <a:off x="5892246" y="2816282"/>
            <a:ext cx="405983" cy="487668"/>
          </a:xfrm>
          <a:prstGeom prst="rect">
            <a:avLst/>
          </a:prstGeom>
          <a:noFill/>
          <a:ln/>
        </p:spPr>
        <p:txBody>
          <a:bodyPr wrap="square" lIns="0" tIns="0" rIns="0" bIns="0" rtlCol="0" anchor="ctr"/>
          <a:lstStyle/>
          <a:p>
            <a:pPr algn="ctr" indent="0" marL="0">
              <a:buNone/>
            </a:pPr>
            <a:r>
              <a:rPr lang="en-US" sz="2933" b="1" dirty="0">
                <a:solidFill>
                  <a:srgbClr val="AFBCCD"/>
                </a:solidFill>
                <a:latin typeface="Calibri" pitchFamily="34" charset="0"/>
                <a:ea typeface="Calibri" pitchFamily="34" charset="-122"/>
                <a:cs typeface="Calibri" pitchFamily="34" charset="-120"/>
              </a:rPr>
              <a:t>›</a:t>
            </a:r>
            <a:endParaRPr lang="en-US" sz="2933" dirty="0"/>
          </a:p>
        </p:txBody>
      </p:sp>
      <p:sp>
        <p:nvSpPr>
          <p:cNvPr id="22" name="Shape 17"/>
          <p:cNvSpPr/>
          <p:nvPr/>
        </p:nvSpPr>
        <p:spPr>
          <a:xfrm>
            <a:off x="6298230" y="1731221"/>
            <a:ext cx="2438339" cy="2657790"/>
          </a:xfrm>
          <a:prstGeom prst="roundRect">
            <a:avLst>
              <a:gd name="adj" fmla="val 4000"/>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23" name="Shape 18"/>
          <p:cNvSpPr/>
          <p:nvPr/>
        </p:nvSpPr>
        <p:spPr>
          <a:xfrm>
            <a:off x="6517680" y="1975055"/>
            <a:ext cx="609585" cy="609585"/>
          </a:xfrm>
          <a:prstGeom prst="ellipse">
            <a:avLst/>
          </a:prstGeom>
          <a:solidFill>
            <a:srgbClr val="3B4A60"/>
          </a:solidFill>
          <a:ln w="12700">
            <a:solidFill>
              <a:srgbClr val="3B4A60"/>
            </a:solidFill>
            <a:prstDash val="solid"/>
          </a:ln>
        </p:spPr>
        <p:txBody>
          <a:bodyPr/>
          <a:p/>
        </p:txBody>
      </p:sp>
      <p:pic>
        <p:nvPicPr>
          <p:cNvPr id="24" name="Image 3" descr="preencoded.png">    </p:cNvPr>
          <p:cNvPicPr>
            <a:picLocks noChangeAspect="1"/>
          </p:cNvPicPr>
          <p:nvPr/>
        </p:nvPicPr>
        <p:blipFill>
          <a:blip r:embed="rId4"/>
          <a:stretch>
            <a:fillRect/>
          </a:stretch>
        </p:blipFill>
        <p:spPr>
          <a:xfrm>
            <a:off x="6676172" y="2133547"/>
            <a:ext cx="292601" cy="292601"/>
          </a:xfrm>
          <a:prstGeom prst="rect">
            <a:avLst/>
          </a:prstGeom>
        </p:spPr>
      </p:pic>
      <p:sp>
        <p:nvSpPr>
          <p:cNvPr id="25" name="Text 19"/>
          <p:cNvSpPr txBox="1"/>
          <p:nvPr/>
        </p:nvSpPr>
        <p:spPr>
          <a:xfrm>
            <a:off x="7980684" y="1999438"/>
            <a:ext cx="548626" cy="365751"/>
          </a:xfrm>
          <a:prstGeom prst="rect">
            <a:avLst/>
          </a:prstGeom>
          <a:noFill/>
          <a:ln/>
        </p:spPr>
        <p:txBody>
          <a:bodyPr wrap="square" lIns="0" tIns="0" rIns="0" bIns="0" rtlCol="0" anchor="ctr"/>
          <a:lstStyle/>
          <a:p>
            <a:pPr algn="r" indent="0" marL="0">
              <a:buNone/>
            </a:pPr>
            <a:r>
              <a:rPr lang="en-US" sz="2133" b="1" dirty="0">
                <a:solidFill>
                  <a:srgbClr val="AFBCCD"/>
                </a:solidFill>
                <a:latin typeface="Calibri" pitchFamily="34" charset="0"/>
                <a:ea typeface="Calibri" pitchFamily="34" charset="-122"/>
                <a:cs typeface="Calibri" pitchFamily="34" charset="-120"/>
              </a:rPr>
              <a:t>9</a:t>
            </a:r>
            <a:endParaRPr lang="en-US" sz="2133" dirty="0"/>
          </a:p>
        </p:txBody>
      </p:sp>
      <p:sp>
        <p:nvSpPr>
          <p:cNvPr id="26" name="Text 20"/>
          <p:cNvSpPr txBox="1"/>
          <p:nvPr/>
        </p:nvSpPr>
        <p:spPr>
          <a:xfrm>
            <a:off x="6517680" y="2755323"/>
            <a:ext cx="2048205" cy="365751"/>
          </a:xfrm>
          <a:prstGeom prst="rect">
            <a:avLst/>
          </a:prstGeom>
          <a:noFill/>
          <a:ln/>
        </p:spPr>
        <p:txBody>
          <a:bodyPr wrap="square" lIns="0" tIns="0" rIns="0" bIns="0" rtlCol="0" anchor="ctr"/>
          <a:lstStyle/>
          <a:p>
            <a:pPr indent="0" marL="0">
              <a:buNone/>
            </a:pPr>
            <a:r>
              <a:rPr lang="en-US" sz="1667" b="1" dirty="0">
                <a:solidFill>
                  <a:srgbClr val="1A2332"/>
                </a:solidFill>
                <a:latin typeface="Calibri" pitchFamily="34" charset="0"/>
                <a:ea typeface="Calibri" pitchFamily="34" charset="-122"/>
                <a:cs typeface="Calibri" pitchFamily="34" charset="-120"/>
              </a:rPr>
              <a:t>Classification</a:t>
            </a:r>
            <a:endParaRPr lang="en-US" sz="1667" dirty="0"/>
          </a:p>
        </p:txBody>
      </p:sp>
      <p:sp>
        <p:nvSpPr>
          <p:cNvPr id="27" name="Text 21"/>
          <p:cNvSpPr txBox="1"/>
          <p:nvPr/>
        </p:nvSpPr>
        <p:spPr>
          <a:xfrm>
            <a:off x="6517680" y="3145457"/>
            <a:ext cx="2048205" cy="1097253"/>
          </a:xfrm>
          <a:prstGeom prst="rect">
            <a:avLst/>
          </a:prstGeom>
          <a:noFill/>
          <a:ln/>
        </p:spPr>
        <p:txBody>
          <a:bodyPr wrap="square" lIns="0" tIns="0" rIns="0" bIns="0" rtlCol="0" anchor="t"/>
          <a:lstStyle/>
          <a:p>
            <a:pPr indent="0" marL="0">
              <a:buNone/>
            </a:pPr>
            <a:r>
              <a:rPr lang="en-US" sz="1333" dirty="0">
                <a:solidFill>
                  <a:srgbClr val="5A6678"/>
                </a:solidFill>
                <a:latin typeface="Calibri" pitchFamily="34" charset="0"/>
                <a:ea typeface="Calibri" pitchFamily="34" charset="-122"/>
                <a:cs typeface="Calibri" pitchFamily="34" charset="-120"/>
              </a:rPr>
              <a:t>CLS ‖ attention pool (640 → 320) → linear layer → a score for each of 262 classes</a:t>
            </a:r>
            <a:endParaRPr lang="en-US" sz="1333" dirty="0"/>
          </a:p>
        </p:txBody>
      </p:sp>
      <p:sp>
        <p:nvSpPr>
          <p:cNvPr id="28" name="Text 22"/>
          <p:cNvSpPr txBox="1"/>
          <p:nvPr/>
        </p:nvSpPr>
        <p:spPr>
          <a:xfrm>
            <a:off x="8736569" y="2816282"/>
            <a:ext cx="405983" cy="487668"/>
          </a:xfrm>
          <a:prstGeom prst="rect">
            <a:avLst/>
          </a:prstGeom>
          <a:noFill/>
          <a:ln/>
        </p:spPr>
        <p:txBody>
          <a:bodyPr wrap="square" lIns="0" tIns="0" rIns="0" bIns="0" rtlCol="0" anchor="ctr"/>
          <a:lstStyle/>
          <a:p>
            <a:pPr algn="ctr" indent="0" marL="0">
              <a:buNone/>
            </a:pPr>
            <a:r>
              <a:rPr lang="en-US" sz="2933" b="1" dirty="0">
                <a:solidFill>
                  <a:srgbClr val="AFBCCD"/>
                </a:solidFill>
                <a:latin typeface="Calibri" pitchFamily="34" charset="0"/>
                <a:ea typeface="Calibri" pitchFamily="34" charset="-122"/>
                <a:cs typeface="Calibri" pitchFamily="34" charset="-120"/>
              </a:rPr>
              <a:t>›</a:t>
            </a:r>
            <a:endParaRPr lang="en-US" sz="2933" dirty="0"/>
          </a:p>
        </p:txBody>
      </p:sp>
      <p:sp>
        <p:nvSpPr>
          <p:cNvPr id="29" name="Shape 23"/>
          <p:cNvSpPr/>
          <p:nvPr/>
        </p:nvSpPr>
        <p:spPr>
          <a:xfrm>
            <a:off x="9142552" y="1731221"/>
            <a:ext cx="2438339" cy="2657790"/>
          </a:xfrm>
          <a:prstGeom prst="roundRect">
            <a:avLst>
              <a:gd name="adj" fmla="val 4000"/>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30" name="Shape 24"/>
          <p:cNvSpPr/>
          <p:nvPr/>
        </p:nvSpPr>
        <p:spPr>
          <a:xfrm>
            <a:off x="9362003" y="1975055"/>
            <a:ext cx="609585" cy="609585"/>
          </a:xfrm>
          <a:prstGeom prst="ellipse">
            <a:avLst/>
          </a:prstGeom>
          <a:solidFill>
            <a:srgbClr val="2E9E5B"/>
          </a:solidFill>
          <a:ln w="12700">
            <a:solidFill>
              <a:srgbClr val="2E9E5B"/>
            </a:solidFill>
            <a:prstDash val="solid"/>
          </a:ln>
        </p:spPr>
        <p:txBody>
          <a:bodyPr/>
          <a:p/>
        </p:txBody>
      </p:sp>
      <p:pic>
        <p:nvPicPr>
          <p:cNvPr id="31" name="Image 4" descr="preencoded.png">    </p:cNvPr>
          <p:cNvPicPr>
            <a:picLocks noChangeAspect="1"/>
          </p:cNvPicPr>
          <p:nvPr/>
        </p:nvPicPr>
        <p:blipFill>
          <a:blip r:embed="rId5"/>
          <a:stretch>
            <a:fillRect/>
          </a:stretch>
        </p:blipFill>
        <p:spPr>
          <a:xfrm>
            <a:off x="9520495" y="2133547"/>
            <a:ext cx="292601" cy="292601"/>
          </a:xfrm>
          <a:prstGeom prst="rect">
            <a:avLst/>
          </a:prstGeom>
        </p:spPr>
      </p:pic>
      <p:sp>
        <p:nvSpPr>
          <p:cNvPr id="32" name="Text 25"/>
          <p:cNvSpPr txBox="1"/>
          <p:nvPr/>
        </p:nvSpPr>
        <p:spPr>
          <a:xfrm>
            <a:off x="10825006" y="1999438"/>
            <a:ext cx="548626" cy="365751"/>
          </a:xfrm>
          <a:prstGeom prst="rect">
            <a:avLst/>
          </a:prstGeom>
          <a:noFill/>
          <a:ln/>
        </p:spPr>
        <p:txBody>
          <a:bodyPr wrap="square" lIns="0" tIns="0" rIns="0" bIns="0" rtlCol="0" anchor="ctr"/>
          <a:lstStyle/>
          <a:p>
            <a:pPr algn="r" indent="0" marL="0">
              <a:buNone/>
            </a:pPr>
            <a:r>
              <a:rPr lang="en-US" sz="2133" b="1" dirty="0">
                <a:solidFill>
                  <a:srgbClr val="AFBCCD"/>
                </a:solidFill>
                <a:latin typeface="Calibri" pitchFamily="34" charset="0"/>
                <a:ea typeface="Calibri" pitchFamily="34" charset="-122"/>
                <a:cs typeface="Calibri" pitchFamily="34" charset="-120"/>
              </a:rPr>
              <a:t>10</a:t>
            </a:r>
            <a:endParaRPr lang="en-US" sz="2133" dirty="0"/>
          </a:p>
        </p:txBody>
      </p:sp>
      <p:sp>
        <p:nvSpPr>
          <p:cNvPr id="33" name="Text 26"/>
          <p:cNvSpPr txBox="1"/>
          <p:nvPr/>
        </p:nvSpPr>
        <p:spPr>
          <a:xfrm>
            <a:off x="9362003" y="2755323"/>
            <a:ext cx="2048205" cy="365751"/>
          </a:xfrm>
          <a:prstGeom prst="rect">
            <a:avLst/>
          </a:prstGeom>
          <a:noFill/>
          <a:ln/>
        </p:spPr>
        <p:txBody>
          <a:bodyPr wrap="square" lIns="0" tIns="0" rIns="0" bIns="0" rtlCol="0" anchor="ctr"/>
          <a:lstStyle/>
          <a:p>
            <a:pPr indent="0" marL="0">
              <a:buNone/>
            </a:pPr>
            <a:r>
              <a:rPr lang="en-US" sz="1667" b="1" dirty="0">
                <a:solidFill>
                  <a:srgbClr val="1A2332"/>
                </a:solidFill>
                <a:latin typeface="Calibri" pitchFamily="34" charset="0"/>
                <a:ea typeface="Calibri" pitchFamily="34" charset="-122"/>
                <a:cs typeface="Calibri" pitchFamily="34" charset="-120"/>
              </a:rPr>
              <a:t>Final Prediction</a:t>
            </a:r>
            <a:endParaRPr lang="en-US" sz="1667" dirty="0"/>
          </a:p>
        </p:txBody>
      </p:sp>
      <p:sp>
        <p:nvSpPr>
          <p:cNvPr id="34" name="Text 27"/>
          <p:cNvSpPr txBox="1"/>
          <p:nvPr/>
        </p:nvSpPr>
        <p:spPr>
          <a:xfrm>
            <a:off x="9362003" y="3145457"/>
            <a:ext cx="2048205" cy="1097253"/>
          </a:xfrm>
          <a:prstGeom prst="rect">
            <a:avLst/>
          </a:prstGeom>
          <a:noFill/>
          <a:ln/>
        </p:spPr>
        <p:txBody>
          <a:bodyPr wrap="square" lIns="0" tIns="0" rIns="0" bIns="0" rtlCol="0" anchor="t"/>
          <a:lstStyle/>
          <a:p>
            <a:pPr indent="0" marL="0">
              <a:buNone/>
            </a:pPr>
            <a:r>
              <a:rPr lang="en-US" sz="1333" dirty="0">
                <a:solidFill>
                  <a:srgbClr val="5A6678"/>
                </a:solidFill>
                <a:latin typeface="Calibri" pitchFamily="34" charset="0"/>
                <a:ea typeface="Calibri" pitchFamily="34" charset="-122"/>
                <a:cs typeface="Calibri" pitchFamily="34" charset="-120"/>
              </a:rPr>
              <a:t>Highest score = Top-1 sign; five highest = Top-5 ranking; class mapped to text label</a:t>
            </a:r>
            <a:endParaRPr lang="en-US" sz="1333" dirty="0"/>
          </a:p>
        </p:txBody>
      </p:sp>
      <p:sp>
        <p:nvSpPr>
          <p:cNvPr id="35" name="Shape 28"/>
          <p:cNvSpPr/>
          <p:nvPr/>
        </p:nvSpPr>
        <p:spPr>
          <a:xfrm>
            <a:off x="609585" y="4730378"/>
            <a:ext cx="10972526" cy="1438620"/>
          </a:xfrm>
          <a:prstGeom prst="roundRect">
            <a:avLst>
              <a:gd name="adj" fmla="val 6780"/>
            </a:avLst>
          </a:prstGeom>
          <a:solidFill>
            <a:srgbClr val="0F1B2D"/>
          </a:solidFill>
          <a:ln w="12700">
            <a:solidFill>
              <a:srgbClr val="0F1B2D"/>
            </a:solidFill>
            <a:prstDash val="solid"/>
          </a:ln>
        </p:spPr>
        <p:txBody>
          <a:bodyPr/>
          <a:p/>
        </p:txBody>
      </p:sp>
      <p:sp>
        <p:nvSpPr>
          <p:cNvPr id="36" name="Text 29"/>
          <p:cNvSpPr txBox="1"/>
          <p:nvPr/>
        </p:nvSpPr>
        <p:spPr>
          <a:xfrm>
            <a:off x="914377" y="4925445"/>
            <a:ext cx="3657509" cy="268217"/>
          </a:xfrm>
          <a:prstGeom prst="rect">
            <a:avLst/>
          </a:prstGeom>
          <a:noFill/>
          <a:ln/>
        </p:spPr>
        <p:txBody>
          <a:bodyPr wrap="square" lIns="0" tIns="0" rIns="0" bIns="0" rtlCol="0" anchor="ctr"/>
          <a:lstStyle/>
          <a:p>
            <a:pPr indent="0" marL="0">
              <a:buNone/>
            </a:pPr>
            <a:r>
              <a:rPr lang="en-US" sz="1200" b="1" spc="200" kern="0" dirty="0">
                <a:solidFill>
                  <a:srgbClr val="F5B031"/>
                </a:solidFill>
                <a:latin typeface="Calibri" pitchFamily="34" charset="0"/>
                <a:ea typeface="Calibri" pitchFamily="34" charset="-122"/>
                <a:cs typeface="Calibri" pitchFamily="34" charset="-120"/>
              </a:rPr>
              <a:t>FINAL EVALUATION RUN</a:t>
            </a:r>
            <a:endParaRPr lang="en-US" sz="1200" dirty="0"/>
          </a:p>
        </p:txBody>
      </p:sp>
      <p:sp>
        <p:nvSpPr>
          <p:cNvPr id="37" name="Text 30"/>
          <p:cNvSpPr txBox="1"/>
          <p:nvPr/>
        </p:nvSpPr>
        <p:spPr>
          <a:xfrm>
            <a:off x="914377" y="5242429"/>
            <a:ext cx="2438339" cy="487668"/>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Epoch 38</a:t>
            </a:r>
            <a:endParaRPr lang="en-US" sz="2933" dirty="0"/>
          </a:p>
        </p:txBody>
      </p:sp>
      <p:sp>
        <p:nvSpPr>
          <p:cNvPr id="38" name="Text 31"/>
          <p:cNvSpPr txBox="1"/>
          <p:nvPr/>
        </p:nvSpPr>
        <p:spPr>
          <a:xfrm>
            <a:off x="914377" y="5730097"/>
            <a:ext cx="2438339"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best-validation checkpoint (EMA)</a:t>
            </a:r>
            <a:endParaRPr lang="en-US" sz="1267" dirty="0"/>
          </a:p>
        </p:txBody>
      </p:sp>
      <p:sp>
        <p:nvSpPr>
          <p:cNvPr id="39" name="Text 32"/>
          <p:cNvSpPr txBox="1"/>
          <p:nvPr/>
        </p:nvSpPr>
        <p:spPr>
          <a:xfrm>
            <a:off x="3596550" y="5242429"/>
            <a:ext cx="2438339" cy="487668"/>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816</a:t>
            </a:r>
            <a:endParaRPr lang="en-US" sz="2933" dirty="0"/>
          </a:p>
        </p:txBody>
      </p:sp>
      <p:sp>
        <p:nvSpPr>
          <p:cNvPr id="40" name="Text 33"/>
          <p:cNvSpPr txBox="1"/>
          <p:nvPr/>
        </p:nvSpPr>
        <p:spPr>
          <a:xfrm>
            <a:off x="3596550" y="5730097"/>
            <a:ext cx="2438339"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INCLUDE test samples</a:t>
            </a:r>
            <a:endParaRPr lang="en-US" sz="1267" dirty="0"/>
          </a:p>
        </p:txBody>
      </p:sp>
      <p:sp>
        <p:nvSpPr>
          <p:cNvPr id="41" name="Text 34"/>
          <p:cNvSpPr txBox="1"/>
          <p:nvPr/>
        </p:nvSpPr>
        <p:spPr>
          <a:xfrm>
            <a:off x="6278723" y="5242429"/>
            <a:ext cx="2438339" cy="487668"/>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262 / 262</a:t>
            </a:r>
            <a:endParaRPr lang="en-US" sz="2933" dirty="0"/>
          </a:p>
        </p:txBody>
      </p:sp>
      <p:sp>
        <p:nvSpPr>
          <p:cNvPr id="42" name="Text 35"/>
          <p:cNvSpPr txBox="1"/>
          <p:nvPr/>
        </p:nvSpPr>
        <p:spPr>
          <a:xfrm>
            <a:off x="6278723" y="5730097"/>
            <a:ext cx="2438339"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test classes represented</a:t>
            </a:r>
            <a:endParaRPr lang="en-US" sz="1267" dirty="0"/>
          </a:p>
        </p:txBody>
      </p:sp>
      <p:sp>
        <p:nvSpPr>
          <p:cNvPr id="43" name="Text 36"/>
          <p:cNvSpPr txBox="1"/>
          <p:nvPr/>
        </p:nvSpPr>
        <p:spPr>
          <a:xfrm>
            <a:off x="8960896" y="5242429"/>
            <a:ext cx="2438339" cy="487668"/>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6.60 s</a:t>
            </a:r>
            <a:endParaRPr lang="en-US" sz="2933" dirty="0"/>
          </a:p>
        </p:txBody>
      </p:sp>
      <p:sp>
        <p:nvSpPr>
          <p:cNvPr id="44" name="Text 37"/>
          <p:cNvSpPr txBox="1"/>
          <p:nvPr/>
        </p:nvSpPr>
        <p:spPr>
          <a:xfrm>
            <a:off x="8960896" y="5730097"/>
            <a:ext cx="2438339"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total evaluation time</a:t>
            </a:r>
            <a:endParaRPr lang="en-US" sz="126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2541968"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2541968"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12  ·  IMPLEMENTATION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Implementation Status</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18</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31221"/>
            <a:ext cx="6095848" cy="4437777"/>
          </a:xfrm>
          <a:prstGeom prst="roundRect">
            <a:avLst>
              <a:gd name="adj" fmla="val 2198"/>
            </a:avLst>
          </a:prstGeom>
          <a:solidFill>
            <a:srgbClr val="EEF7F1"/>
          </a:solidFill>
          <a:ln w="12700">
            <a:solidFill>
              <a:srgbClr val="CFE6D8"/>
            </a:solidFill>
            <a:prstDash val="solid"/>
          </a:ln>
        </p:spPr>
        <p:txBody>
          <a:bodyPr/>
          <a:p/>
        </p:txBody>
      </p:sp>
      <p:sp>
        <p:nvSpPr>
          <p:cNvPr id="9" name="Shape 6"/>
          <p:cNvSpPr/>
          <p:nvPr/>
        </p:nvSpPr>
        <p:spPr>
          <a:xfrm>
            <a:off x="877802" y="1975055"/>
            <a:ext cx="512051" cy="512051"/>
          </a:xfrm>
          <a:prstGeom prst="ellipse">
            <a:avLst/>
          </a:prstGeom>
          <a:solidFill>
            <a:srgbClr val="2E9E5B"/>
          </a:solidFill>
          <a:ln w="12700">
            <a:solidFill>
              <a:srgbClr val="2E9E5B"/>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1010935" y="2108188"/>
            <a:ext cx="245785" cy="245785"/>
          </a:xfrm>
          <a:prstGeom prst="rect">
            <a:avLst/>
          </a:prstGeom>
        </p:spPr>
      </p:pic>
      <p:sp>
        <p:nvSpPr>
          <p:cNvPr id="11" name="Text 7"/>
          <p:cNvSpPr txBox="1"/>
          <p:nvPr/>
        </p:nvSpPr>
        <p:spPr>
          <a:xfrm>
            <a:off x="1536154" y="1975055"/>
            <a:ext cx="3657509" cy="512051"/>
          </a:xfrm>
          <a:prstGeom prst="rect">
            <a:avLst/>
          </a:prstGeom>
          <a:noFill/>
          <a:ln/>
        </p:spPr>
        <p:txBody>
          <a:bodyPr wrap="square" lIns="0" tIns="0" rIns="0" bIns="0" rtlCol="0" anchor="ctr"/>
          <a:lstStyle/>
          <a:p>
            <a:pPr indent="0" marL="0">
              <a:buNone/>
            </a:pPr>
            <a:r>
              <a:rPr lang="en-US" sz="2133" b="1" dirty="0">
                <a:solidFill>
                  <a:srgbClr val="1A2332"/>
                </a:solidFill>
                <a:latin typeface="Calibri" pitchFamily="34" charset="0"/>
                <a:ea typeface="Calibri" pitchFamily="34" charset="-122"/>
                <a:cs typeface="Calibri" pitchFamily="34" charset="-120"/>
              </a:rPr>
              <a:t>Completed</a:t>
            </a:r>
            <a:endParaRPr lang="en-US" sz="2133" dirty="0"/>
          </a:p>
        </p:txBody>
      </p:sp>
      <p:sp>
        <p:nvSpPr>
          <p:cNvPr id="12" name="Text 8"/>
          <p:cNvSpPr txBox="1"/>
          <p:nvPr/>
        </p:nvSpPr>
        <p:spPr>
          <a:xfrm>
            <a:off x="975336" y="2730940"/>
            <a:ext cx="5486263" cy="3291758"/>
          </a:xfrm>
          <a:prstGeom prst="rect">
            <a:avLst/>
          </a:prstGeom>
          <a:noFill/>
          <a:ln/>
        </p:spPr>
        <p:txBody>
          <a:bodyPr wrap="square" lIns="0" tIns="0" rIns="0" bIns="0" rtlCol="0" anchor="t"/>
          <a:lstStyle/>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INCLUDE dataset preparation (262 classes)</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64-frame sampling and preprocessing</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MediaPipe landmarks (hands, pose, face)</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Geometry + availability features</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Part-aware Conv1D encoders + gated fusion</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4 × HTMA + CLS / attention-pool classifier</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Locked test evaluation (epoch-38 EMA checkpoint)</a:t>
            </a:r>
            <a:endParaRPr lang="en-US" sz="1667" dirty="0"/>
          </a:p>
          <a:p>
            <a:pPr marL="342900" indent="-342900">
              <a:spcAft>
                <a:spcPts val="1067"/>
              </a:spcAft>
              <a:buSzPct val="100000"/>
              <a:buChar char="✓"/>
            </a:pPr>
            <a:r>
              <a:rPr lang="en-US" sz="1667" dirty="0">
                <a:solidFill>
                  <a:srgbClr val="1A2332"/>
                </a:solidFill>
                <a:latin typeface="Calibri" pitchFamily="34" charset="0"/>
                <a:ea typeface="Calibri" pitchFamily="34" charset="-122"/>
                <a:cs typeface="Calibri" pitchFamily="34" charset="-120"/>
              </a:rPr>
              <a:t>FastAPI + React app: text + browser speech</a:t>
            </a:r>
            <a:endParaRPr lang="en-US" sz="1667" dirty="0"/>
          </a:p>
        </p:txBody>
      </p:sp>
      <p:sp>
        <p:nvSpPr>
          <p:cNvPr id="13" name="Shape 9"/>
          <p:cNvSpPr/>
          <p:nvPr/>
        </p:nvSpPr>
        <p:spPr>
          <a:xfrm>
            <a:off x="7071183" y="1731221"/>
            <a:ext cx="4510927" cy="2377381"/>
          </a:xfrm>
          <a:prstGeom prst="roundRect">
            <a:avLst>
              <a:gd name="adj" fmla="val 4103"/>
            </a:avLst>
          </a:prstGeom>
          <a:solidFill>
            <a:srgbClr val="FDF5E6"/>
          </a:solidFill>
          <a:ln w="12700">
            <a:solidFill>
              <a:srgbClr val="F1DDB5"/>
            </a:solidFill>
            <a:prstDash val="solid"/>
          </a:ln>
        </p:spPr>
        <p:txBody>
          <a:bodyPr/>
          <a:p/>
        </p:txBody>
      </p:sp>
      <p:sp>
        <p:nvSpPr>
          <p:cNvPr id="14" name="Shape 10"/>
          <p:cNvSpPr/>
          <p:nvPr/>
        </p:nvSpPr>
        <p:spPr>
          <a:xfrm>
            <a:off x="7339401" y="1975055"/>
            <a:ext cx="512051" cy="512051"/>
          </a:xfrm>
          <a:prstGeom prst="ellipse">
            <a:avLst/>
          </a:prstGeom>
          <a:solidFill>
            <a:srgbClr val="E39A0B"/>
          </a:solidFill>
          <a:ln w="12700">
            <a:solidFill>
              <a:srgbClr val="E39A0B"/>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7472534" y="2108188"/>
            <a:ext cx="245785" cy="245785"/>
          </a:xfrm>
          <a:prstGeom prst="rect">
            <a:avLst/>
          </a:prstGeom>
        </p:spPr>
      </p:pic>
      <p:sp>
        <p:nvSpPr>
          <p:cNvPr id="16" name="Text 11"/>
          <p:cNvSpPr txBox="1"/>
          <p:nvPr/>
        </p:nvSpPr>
        <p:spPr>
          <a:xfrm>
            <a:off x="7997752" y="1975055"/>
            <a:ext cx="3413675" cy="512051"/>
          </a:xfrm>
          <a:prstGeom prst="rect">
            <a:avLst/>
          </a:prstGeom>
          <a:noFill/>
          <a:ln/>
        </p:spPr>
        <p:txBody>
          <a:bodyPr wrap="square" lIns="0" tIns="0" rIns="0" bIns="0" rtlCol="0" anchor="ctr"/>
          <a:lstStyle/>
          <a:p>
            <a:pPr indent="0" marL="0">
              <a:buNone/>
            </a:pPr>
            <a:r>
              <a:rPr lang="en-US" sz="1867" b="1" dirty="0">
                <a:solidFill>
                  <a:srgbClr val="1A2332"/>
                </a:solidFill>
                <a:latin typeface="Calibri" pitchFamily="34" charset="0"/>
                <a:ea typeface="Calibri" pitchFamily="34" charset="-122"/>
                <a:cs typeface="Calibri" pitchFamily="34" charset="-120"/>
              </a:rPr>
              <a:t>In progress / future work</a:t>
            </a:r>
            <a:endParaRPr lang="en-US" sz="1867" dirty="0"/>
          </a:p>
        </p:txBody>
      </p:sp>
      <p:sp>
        <p:nvSpPr>
          <p:cNvPr id="17" name="Text 12"/>
          <p:cNvSpPr txBox="1"/>
          <p:nvPr/>
        </p:nvSpPr>
        <p:spPr>
          <a:xfrm>
            <a:off x="7436934" y="2706556"/>
            <a:ext cx="3901342" cy="1219170"/>
          </a:xfrm>
          <a:prstGeom prst="rect">
            <a:avLst/>
          </a:prstGeom>
          <a:noFill/>
          <a:ln/>
        </p:spPr>
        <p:txBody>
          <a:bodyPr wrap="square" lIns="0" tIns="0" rIns="0" bIns="0" rtlCol="0" anchor="t"/>
          <a:lstStyle/>
          <a:p>
            <a:pPr marL="342900" indent="-342900">
              <a:spcAft>
                <a:spcPts val="667"/>
              </a:spcAft>
              <a:buSzPct val="100000"/>
              <a:buChar char="•"/>
            </a:pPr>
            <a:r>
              <a:rPr lang="en-US" sz="1467" dirty="0">
                <a:solidFill>
                  <a:srgbClr val="1A2332"/>
                </a:solidFill>
                <a:latin typeface="Calibri" pitchFamily="34" charset="0"/>
                <a:ea typeface="Calibri" pitchFamily="34" charset="-122"/>
                <a:cs typeface="Calibri" pitchFamily="34" charset="-120"/>
              </a:rPr>
              <a:t>Webcam domain adaptation, measured separately</a:t>
            </a:r>
            <a:endParaRPr lang="en-US" sz="1467" dirty="0"/>
          </a:p>
          <a:p>
            <a:pPr marL="342900" indent="-342900">
              <a:spcAft>
                <a:spcPts val="667"/>
              </a:spcAft>
              <a:buSzPct val="100000"/>
              <a:buChar char="•"/>
            </a:pPr>
            <a:r>
              <a:rPr lang="en-US" sz="1467" dirty="0">
                <a:solidFill>
                  <a:srgbClr val="1A2332"/>
                </a:solidFill>
                <a:latin typeface="Calibri" pitchFamily="34" charset="0"/>
                <a:ea typeface="Calibri" pitchFamily="34" charset="-122"/>
                <a:cs typeface="Calibri" pitchFamily="34" charset="-120"/>
              </a:rPr>
              <a:t>Continuous sign recognition (future extension)</a:t>
            </a:r>
            <a:endParaRPr lang="en-US" sz="1467" dirty="0"/>
          </a:p>
        </p:txBody>
      </p:sp>
      <p:sp>
        <p:nvSpPr>
          <p:cNvPr id="18" name="Shape 13"/>
          <p:cNvSpPr/>
          <p:nvPr/>
        </p:nvSpPr>
        <p:spPr>
          <a:xfrm>
            <a:off x="7071183" y="4413394"/>
            <a:ext cx="4510927" cy="1755604"/>
          </a:xfrm>
          <a:prstGeom prst="roundRect">
            <a:avLst>
              <a:gd name="adj" fmla="val 5556"/>
            </a:avLst>
          </a:prstGeom>
          <a:solidFill>
            <a:srgbClr val="F2F5F9"/>
          </a:solidFill>
          <a:ln w="12700">
            <a:solidFill>
              <a:srgbClr val="D9E1EA"/>
            </a:solidFill>
            <a:prstDash val="solid"/>
          </a:ln>
        </p:spPr>
        <p:txBody>
          <a:bodyPr/>
          <a:p/>
        </p:txBody>
      </p:sp>
      <p:sp>
        <p:nvSpPr>
          <p:cNvPr id="19" name="Text 14"/>
          <p:cNvSpPr txBox="1"/>
          <p:nvPr/>
        </p:nvSpPr>
        <p:spPr>
          <a:xfrm>
            <a:off x="7375976" y="4608461"/>
            <a:ext cx="3901342" cy="268217"/>
          </a:xfrm>
          <a:prstGeom prst="rect">
            <a:avLst/>
          </a:prstGeom>
          <a:noFill/>
          <a:ln/>
        </p:spPr>
        <p:txBody>
          <a:bodyPr wrap="square" lIns="0" tIns="0" rIns="0" bIns="0" rtlCol="0" anchor="ctr"/>
          <a:lstStyle/>
          <a:p>
            <a:pPr indent="0" marL="0">
              <a:buNone/>
            </a:pPr>
            <a:r>
              <a:rPr lang="en-US" sz="1200" b="1" spc="200" kern="0" dirty="0">
                <a:solidFill>
                  <a:srgbClr val="5A6678"/>
                </a:solidFill>
                <a:latin typeface="Calibri" pitchFamily="34" charset="0"/>
                <a:ea typeface="Calibri" pitchFamily="34" charset="-122"/>
                <a:cs typeface="Calibri" pitchFamily="34" charset="-120"/>
              </a:rPr>
              <a:t>EVIDENCE FOR THE LAB DEMO</a:t>
            </a:r>
            <a:endParaRPr lang="en-US" sz="1200" dirty="0"/>
          </a:p>
        </p:txBody>
      </p:sp>
      <p:sp>
        <p:nvSpPr>
          <p:cNvPr id="20" name="Text 15"/>
          <p:cNvSpPr txBox="1"/>
          <p:nvPr/>
        </p:nvSpPr>
        <p:spPr>
          <a:xfrm>
            <a:off x="7375976" y="4974212"/>
            <a:ext cx="3962301" cy="1097253"/>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A2332"/>
                </a:solidFill>
                <a:latin typeface="Calibri" pitchFamily="34" charset="0"/>
                <a:ea typeface="Calibri" pitchFamily="34" charset="-122"/>
                <a:cs typeface="Calibri" pitchFamily="34" charset="-120"/>
              </a:rPr>
              <a:t>Evaluation script console output</a:t>
            </a:r>
            <a:endParaRPr lang="en-US" sz="1400" dirty="0"/>
          </a:p>
          <a:p>
            <a:pPr marL="342900" indent="-342900">
              <a:spcAft>
                <a:spcPts val="400"/>
              </a:spcAft>
              <a:buSzPct val="100000"/>
              <a:buChar char="•"/>
            </a:pPr>
            <a:r>
              <a:rPr lang="en-US" sz="1400" dirty="0">
                <a:solidFill>
                  <a:srgbClr val="1A2332"/>
                </a:solidFill>
                <a:latin typeface="Calibri" pitchFamily="34" charset="0"/>
                <a:ea typeface="Calibri" pitchFamily="34" charset="-122"/>
                <a:cs typeface="Calibri" pitchFamily="34" charset="-120"/>
              </a:rPr>
              <a:t>Landmarks drawn on a sample frame</a:t>
            </a:r>
            <a:endParaRPr lang="en-US" sz="1400" dirty="0"/>
          </a:p>
          <a:p>
            <a:pPr marL="342900" indent="-342900">
              <a:spcAft>
                <a:spcPts val="400"/>
              </a:spcAft>
              <a:buSzPct val="100000"/>
              <a:buChar char="•"/>
            </a:pPr>
            <a:r>
              <a:rPr lang="en-US" sz="1400" dirty="0">
                <a:solidFill>
                  <a:srgbClr val="1A2332"/>
                </a:solidFill>
                <a:latin typeface="Calibri" pitchFamily="34" charset="0"/>
                <a:ea typeface="Calibri" pitchFamily="34" charset="-122"/>
                <a:cs typeface="Calibri" pitchFamily="34" charset="-120"/>
              </a:rPr>
              <a:t>Predicted label for a test video</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0">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1377662" y="365751"/>
            <a:ext cx="1816563" cy="316984"/>
          </a:xfrm>
          <a:prstGeom prst="roundRect">
            <a:avLst>
              <a:gd name="adj" fmla="val 50000"/>
            </a:avLst>
          </a:prstGeom>
          <a:solidFill>
            <a:srgbClr val="2A3C57"/>
          </a:solidFill>
          <a:ln w="12700">
            <a:solidFill>
              <a:srgbClr val="2A3C57"/>
            </a:solidFill>
            <a:prstDash val="solid"/>
          </a:ln>
        </p:spPr>
        <p:txBody>
          <a:bodyPr/>
          <a:p/>
        </p:txBody>
      </p:sp>
      <p:sp>
        <p:nvSpPr>
          <p:cNvPr id="3" name="Text 1"/>
          <p:cNvSpPr txBox="1"/>
          <p:nvPr/>
        </p:nvSpPr>
        <p:spPr>
          <a:xfrm>
            <a:off x="1377662" y="365751"/>
            <a:ext cx="1816563" cy="316984"/>
          </a:xfrm>
          <a:prstGeom prst="rect">
            <a:avLst/>
          </a:prstGeom>
          <a:noFill/>
          <a:ln/>
        </p:spPr>
        <p:txBody>
          <a:bodyPr wrap="square" lIns="0" tIns="0" rIns="0" bIns="0" rtlCol="0" anchor="ctr"/>
          <a:lstStyle/>
          <a:p>
            <a:pPr algn="ctr" indent="0" marL="0">
              <a:buNone/>
            </a:pPr>
            <a:r>
              <a:rPr lang="en-US" sz="1133" b="1" spc="200" kern="0" dirty="0">
                <a:solidFill>
                  <a:srgbClr val="F5B031"/>
                </a:solidFill>
                <a:latin typeface="Calibri" pitchFamily="34" charset="0"/>
                <a:ea typeface="Calibri" pitchFamily="34" charset="-122"/>
                <a:cs typeface="Calibri" pitchFamily="34" charset="-120"/>
              </a:rPr>
              <a:t>13  ·  RESULTS</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FFFFFF"/>
                </a:solidFill>
                <a:latin typeface="Cambria" pitchFamily="34" charset="0"/>
                <a:ea typeface="Cambria" pitchFamily="34" charset="-122"/>
                <a:cs typeface="Cambria" pitchFamily="34" charset="-120"/>
              </a:rPr>
              <a:t>Final INCLUDE262 Test Result</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7F8DA3"/>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7F8DA3"/>
                </a:solidFill>
                <a:latin typeface="Calibri" pitchFamily="34" charset="0"/>
                <a:ea typeface="Calibri" pitchFamily="34" charset="-122"/>
                <a:cs typeface="Calibri" pitchFamily="34" charset="-120"/>
              </a:rPr>
              <a:t>19</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06837"/>
            <a:ext cx="4876678" cy="4145176"/>
          </a:xfrm>
          <a:prstGeom prst="roundRect">
            <a:avLst>
              <a:gd name="adj" fmla="val 2353"/>
            </a:avLst>
          </a:prstGeom>
          <a:solidFill>
            <a:srgbClr val="1A2A42"/>
          </a:solidFill>
          <a:ln w="12700">
            <a:solidFill>
              <a:srgbClr val="2A3C57"/>
            </a:solidFill>
            <a:prstDash val="solid"/>
          </a:ln>
        </p:spPr>
        <p:txBody>
          <a:bodyPr/>
          <a:p/>
        </p:txBody>
      </p:sp>
      <p:sp>
        <p:nvSpPr>
          <p:cNvPr id="9" name="Text 6"/>
          <p:cNvSpPr txBox="1"/>
          <p:nvPr/>
        </p:nvSpPr>
        <p:spPr>
          <a:xfrm>
            <a:off x="1036294" y="2133547"/>
            <a:ext cx="4023259" cy="304792"/>
          </a:xfrm>
          <a:prstGeom prst="rect">
            <a:avLst/>
          </a:prstGeom>
          <a:noFill/>
          <a:ln/>
        </p:spPr>
        <p:txBody>
          <a:bodyPr wrap="square" lIns="0" tIns="0" rIns="0" bIns="0" rtlCol="0" anchor="ctr"/>
          <a:lstStyle/>
          <a:p>
            <a:pPr indent="0" marL="0">
              <a:buNone/>
            </a:pPr>
            <a:r>
              <a:rPr lang="en-US" sz="1467" b="1" spc="267" kern="0" dirty="0">
                <a:solidFill>
                  <a:srgbClr val="9AA8BC"/>
                </a:solidFill>
                <a:latin typeface="Calibri" pitchFamily="34" charset="0"/>
                <a:ea typeface="Calibri" pitchFamily="34" charset="-122"/>
                <a:cs typeface="Calibri" pitchFamily="34" charset="-120"/>
              </a:rPr>
              <a:t>FINAL TOP-1 ACCURACY</a:t>
            </a:r>
            <a:endParaRPr lang="en-US" sz="1467" dirty="0"/>
          </a:p>
        </p:txBody>
      </p:sp>
      <p:sp>
        <p:nvSpPr>
          <p:cNvPr id="10" name="Text 7"/>
          <p:cNvSpPr txBox="1"/>
          <p:nvPr/>
        </p:nvSpPr>
        <p:spPr>
          <a:xfrm>
            <a:off x="975336" y="2584639"/>
            <a:ext cx="4267093" cy="1402045"/>
          </a:xfrm>
          <a:prstGeom prst="rect">
            <a:avLst/>
          </a:prstGeom>
          <a:noFill/>
          <a:ln/>
        </p:spPr>
        <p:txBody>
          <a:bodyPr wrap="square" lIns="0" tIns="0" rIns="0" bIns="0" rtlCol="0" anchor="ctr"/>
          <a:lstStyle/>
          <a:p>
            <a:pPr indent="0" marL="0">
              <a:buNone/>
            </a:pPr>
            <a:r>
              <a:rPr lang="en-US" sz="9600" b="1" dirty="0">
                <a:solidFill>
                  <a:srgbClr val="F5B031"/>
                </a:solidFill>
                <a:latin typeface="Calibri" pitchFamily="34" charset="0"/>
                <a:ea typeface="Calibri" pitchFamily="34" charset="-122"/>
                <a:cs typeface="Calibri" pitchFamily="34" charset="-120"/>
              </a:rPr>
              <a:t>98.04%</a:t>
            </a:r>
            <a:endParaRPr lang="en-US" sz="9600" dirty="0"/>
          </a:p>
        </p:txBody>
      </p:sp>
      <p:sp>
        <p:nvSpPr>
          <p:cNvPr id="11" name="Text 8"/>
          <p:cNvSpPr txBox="1"/>
          <p:nvPr/>
        </p:nvSpPr>
        <p:spPr>
          <a:xfrm>
            <a:off x="1036294" y="4242710"/>
            <a:ext cx="4145176" cy="365751"/>
          </a:xfrm>
          <a:prstGeom prst="rect">
            <a:avLst/>
          </a:prstGeom>
          <a:noFill/>
          <a:ln/>
        </p:spPr>
        <p:txBody>
          <a:bodyPr wrap="square" lIns="0" tIns="0" rIns="0" bIns="0" rtlCol="0" anchor="ctr"/>
          <a:lstStyle/>
          <a:p>
            <a:pPr indent="0" marL="0">
              <a:buNone/>
            </a:pPr>
            <a:r>
              <a:rPr lang="en-US" sz="1733" b="1" dirty="0">
                <a:solidFill>
                  <a:srgbClr val="FFFFFF"/>
                </a:solidFill>
                <a:latin typeface="Calibri" pitchFamily="34" charset="0"/>
                <a:ea typeface="Calibri" pitchFamily="34" charset="-122"/>
                <a:cs typeface="Calibri" pitchFamily="34" charset="-120"/>
              </a:rPr>
              <a:t>800 / 816</a:t>
            </a:r>
            <a:pPr indent="0" marL="0">
              <a:buNone/>
            </a:pPr>
            <a:r>
              <a:rPr lang="en-US" sz="1733" dirty="0">
                <a:solidFill>
                  <a:srgbClr val="C3CEDD"/>
                </a:solidFill>
                <a:latin typeface="Calibri" pitchFamily="34" charset="0"/>
                <a:ea typeface="Calibri" pitchFamily="34" charset="-122"/>
                <a:cs typeface="Calibri" pitchFamily="34" charset="-120"/>
              </a:rPr>
              <a:t>  test samples correctly classified</a:t>
            </a:r>
            <a:endParaRPr lang="en-US" sz="1733" dirty="0"/>
          </a:p>
        </p:txBody>
      </p:sp>
      <p:sp>
        <p:nvSpPr>
          <p:cNvPr id="12" name="Shape 9"/>
          <p:cNvSpPr/>
          <p:nvPr/>
        </p:nvSpPr>
        <p:spPr>
          <a:xfrm>
            <a:off x="1036294" y="4693803"/>
            <a:ext cx="4023259" cy="243834"/>
          </a:xfrm>
          <a:prstGeom prst="roundRect">
            <a:avLst>
              <a:gd name="adj" fmla="val 50000"/>
            </a:avLst>
          </a:prstGeom>
          <a:solidFill>
            <a:srgbClr val="E0605A"/>
          </a:solidFill>
          <a:ln w="12700">
            <a:solidFill>
              <a:srgbClr val="E0605A"/>
            </a:solidFill>
            <a:prstDash val="solid"/>
          </a:ln>
        </p:spPr>
        <p:txBody>
          <a:bodyPr/>
          <a:p/>
        </p:txBody>
      </p:sp>
      <p:sp>
        <p:nvSpPr>
          <p:cNvPr id="13" name="Shape 10"/>
          <p:cNvSpPr/>
          <p:nvPr/>
        </p:nvSpPr>
        <p:spPr>
          <a:xfrm>
            <a:off x="1036294" y="4693803"/>
            <a:ext cx="3944372" cy="243834"/>
          </a:xfrm>
          <a:prstGeom prst="roundRect">
            <a:avLst>
              <a:gd name="adj" fmla="val 50000"/>
            </a:avLst>
          </a:prstGeom>
          <a:solidFill>
            <a:srgbClr val="2E9E5B"/>
          </a:solidFill>
          <a:ln w="12700">
            <a:solidFill>
              <a:srgbClr val="2E9E5B"/>
            </a:solidFill>
            <a:prstDash val="solid"/>
          </a:ln>
        </p:spPr>
        <p:txBody>
          <a:bodyPr/>
          <a:p/>
        </p:txBody>
      </p:sp>
      <p:sp>
        <p:nvSpPr>
          <p:cNvPr id="14" name="Text 11"/>
          <p:cNvSpPr txBox="1"/>
          <p:nvPr/>
        </p:nvSpPr>
        <p:spPr>
          <a:xfrm>
            <a:off x="1036294" y="5059554"/>
            <a:ext cx="4023259" cy="292601"/>
          </a:xfrm>
          <a:prstGeom prst="rect">
            <a:avLst/>
          </a:prstGeom>
          <a:noFill/>
          <a:ln/>
        </p:spPr>
        <p:txBody>
          <a:bodyPr wrap="square" lIns="0" tIns="0" rIns="0" bIns="0" rtlCol="0" anchor="ctr"/>
          <a:lstStyle/>
          <a:p>
            <a:pPr indent="0" marL="0">
              <a:buNone/>
            </a:pPr>
            <a:r>
              <a:rPr lang="en-US" sz="1333" dirty="0">
                <a:solidFill>
                  <a:srgbClr val="2E9E5B"/>
                </a:solidFill>
                <a:latin typeface="Calibri" pitchFamily="34" charset="0"/>
                <a:ea typeface="Calibri" pitchFamily="34" charset="-122"/>
                <a:cs typeface="Calibri" pitchFamily="34" charset="-120"/>
              </a:rPr>
              <a:t>■ </a:t>
            </a:r>
            <a:pPr indent="0" marL="0">
              <a:buNone/>
            </a:pPr>
            <a:r>
              <a:rPr lang="en-US" sz="1333" dirty="0">
                <a:solidFill>
                  <a:srgbClr val="C3CEDD"/>
                </a:solidFill>
                <a:latin typeface="Calibri" pitchFamily="34" charset="0"/>
                <a:ea typeface="Calibri" pitchFamily="34" charset="-122"/>
                <a:cs typeface="Calibri" pitchFamily="34" charset="-120"/>
              </a:rPr>
              <a:t>Correct 800     </a:t>
            </a:r>
            <a:pPr indent="0" marL="0">
              <a:buNone/>
            </a:pPr>
            <a:r>
              <a:rPr lang="en-US" sz="1333" dirty="0">
                <a:solidFill>
                  <a:srgbClr val="E0605A"/>
                </a:solidFill>
                <a:latin typeface="Calibri" pitchFamily="34" charset="0"/>
                <a:ea typeface="Calibri" pitchFamily="34" charset="-122"/>
                <a:cs typeface="Calibri" pitchFamily="34" charset="-120"/>
              </a:rPr>
              <a:t>■ </a:t>
            </a:r>
            <a:pPr indent="0" marL="0">
              <a:buNone/>
            </a:pPr>
            <a:r>
              <a:rPr lang="en-US" sz="1333" dirty="0">
                <a:solidFill>
                  <a:srgbClr val="C3CEDD"/>
                </a:solidFill>
                <a:latin typeface="Calibri" pitchFamily="34" charset="0"/>
                <a:ea typeface="Calibri" pitchFamily="34" charset="-122"/>
                <a:cs typeface="Calibri" pitchFamily="34" charset="-120"/>
              </a:rPr>
              <a:t>Wrong 16</a:t>
            </a:r>
            <a:endParaRPr lang="en-US" sz="1333" dirty="0"/>
          </a:p>
        </p:txBody>
      </p:sp>
      <p:sp>
        <p:nvSpPr>
          <p:cNvPr id="15" name="Text 12"/>
          <p:cNvSpPr txBox="1"/>
          <p:nvPr/>
        </p:nvSpPr>
        <p:spPr>
          <a:xfrm>
            <a:off x="1036294" y="5388729"/>
            <a:ext cx="4023259" cy="304792"/>
          </a:xfrm>
          <a:prstGeom prst="rect">
            <a:avLst/>
          </a:prstGeom>
          <a:noFill/>
          <a:ln/>
        </p:spPr>
        <p:txBody>
          <a:bodyPr wrap="square" lIns="0" tIns="0" rIns="0" bIns="0" rtlCol="0" anchor="ctr"/>
          <a:lstStyle/>
          <a:p>
            <a:pPr indent="0" marL="0">
              <a:buNone/>
            </a:pPr>
            <a:r>
              <a:rPr lang="en-US" sz="1200" i="1" dirty="0">
                <a:solidFill>
                  <a:srgbClr val="8B99AE"/>
                </a:solidFill>
                <a:latin typeface="Calibri" pitchFamily="34" charset="0"/>
                <a:ea typeface="Calibri" pitchFamily="34" charset="-122"/>
                <a:cs typeface="Calibri" pitchFamily="34" charset="-120"/>
              </a:rPr>
              <a:t>Top-1 = model’s highest-scoring class matches the true sign</a:t>
            </a:r>
            <a:endParaRPr lang="en-US" sz="1200" dirty="0"/>
          </a:p>
        </p:txBody>
      </p:sp>
      <p:sp>
        <p:nvSpPr>
          <p:cNvPr id="16" name="Shape 13"/>
          <p:cNvSpPr/>
          <p:nvPr/>
        </p:nvSpPr>
        <p:spPr>
          <a:xfrm>
            <a:off x="5730097" y="1706837"/>
            <a:ext cx="2926007" cy="926569"/>
          </a:xfrm>
          <a:prstGeom prst="roundRect">
            <a:avLst>
              <a:gd name="adj" fmla="val 10526"/>
            </a:avLst>
          </a:prstGeom>
          <a:solidFill>
            <a:srgbClr val="1A2A42"/>
          </a:solidFill>
          <a:ln w="12700">
            <a:solidFill>
              <a:srgbClr val="2A3C57"/>
            </a:solidFill>
            <a:prstDash val="solid"/>
          </a:ln>
        </p:spPr>
        <p:txBody>
          <a:bodyPr/>
          <a:p/>
        </p:txBody>
      </p:sp>
      <p:sp>
        <p:nvSpPr>
          <p:cNvPr id="17" name="Text 14"/>
          <p:cNvSpPr txBox="1"/>
          <p:nvPr/>
        </p:nvSpPr>
        <p:spPr>
          <a:xfrm>
            <a:off x="5998314" y="1779987"/>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99.51%</a:t>
            </a:r>
            <a:endParaRPr lang="en-US" sz="2933" dirty="0"/>
          </a:p>
        </p:txBody>
      </p:sp>
      <p:sp>
        <p:nvSpPr>
          <p:cNvPr id="18" name="Text 15"/>
          <p:cNvSpPr txBox="1"/>
          <p:nvPr/>
        </p:nvSpPr>
        <p:spPr>
          <a:xfrm>
            <a:off x="5998314" y="2292039"/>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Top-5 Accuracy</a:t>
            </a:r>
            <a:endParaRPr lang="en-US" sz="1267" dirty="0"/>
          </a:p>
        </p:txBody>
      </p:sp>
      <p:sp>
        <p:nvSpPr>
          <p:cNvPr id="19" name="Shape 16"/>
          <p:cNvSpPr/>
          <p:nvPr/>
        </p:nvSpPr>
        <p:spPr>
          <a:xfrm>
            <a:off x="8899937" y="1706837"/>
            <a:ext cx="2926007" cy="926569"/>
          </a:xfrm>
          <a:prstGeom prst="roundRect">
            <a:avLst>
              <a:gd name="adj" fmla="val 10526"/>
            </a:avLst>
          </a:prstGeom>
          <a:solidFill>
            <a:srgbClr val="1A2A42"/>
          </a:solidFill>
          <a:ln w="12700">
            <a:solidFill>
              <a:srgbClr val="2A3C57"/>
            </a:solidFill>
            <a:prstDash val="solid"/>
          </a:ln>
        </p:spPr>
        <p:txBody>
          <a:bodyPr/>
          <a:p/>
        </p:txBody>
      </p:sp>
      <p:sp>
        <p:nvSpPr>
          <p:cNvPr id="20" name="Text 17"/>
          <p:cNvSpPr txBox="1"/>
          <p:nvPr/>
        </p:nvSpPr>
        <p:spPr>
          <a:xfrm>
            <a:off x="9168155" y="1779987"/>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98.09%</a:t>
            </a:r>
            <a:endParaRPr lang="en-US" sz="2933" dirty="0"/>
          </a:p>
        </p:txBody>
      </p:sp>
      <p:sp>
        <p:nvSpPr>
          <p:cNvPr id="21" name="Text 18"/>
          <p:cNvSpPr txBox="1"/>
          <p:nvPr/>
        </p:nvSpPr>
        <p:spPr>
          <a:xfrm>
            <a:off x="9168155" y="2292039"/>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Macro-F1 *</a:t>
            </a:r>
            <a:endParaRPr lang="en-US" sz="1267" dirty="0"/>
          </a:p>
        </p:txBody>
      </p:sp>
      <p:sp>
        <p:nvSpPr>
          <p:cNvPr id="22" name="Shape 19"/>
          <p:cNvSpPr/>
          <p:nvPr/>
        </p:nvSpPr>
        <p:spPr>
          <a:xfrm>
            <a:off x="5730097" y="2779707"/>
            <a:ext cx="2926007" cy="926569"/>
          </a:xfrm>
          <a:prstGeom prst="roundRect">
            <a:avLst>
              <a:gd name="adj" fmla="val 10526"/>
            </a:avLst>
          </a:prstGeom>
          <a:solidFill>
            <a:srgbClr val="1A2A42"/>
          </a:solidFill>
          <a:ln w="12700">
            <a:solidFill>
              <a:srgbClr val="2A3C57"/>
            </a:solidFill>
            <a:prstDash val="solid"/>
          </a:ln>
        </p:spPr>
        <p:txBody>
          <a:bodyPr/>
          <a:p/>
        </p:txBody>
      </p:sp>
      <p:sp>
        <p:nvSpPr>
          <p:cNvPr id="23" name="Text 20"/>
          <p:cNvSpPr txBox="1"/>
          <p:nvPr/>
        </p:nvSpPr>
        <p:spPr>
          <a:xfrm>
            <a:off x="5998314" y="2852857"/>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98.19%</a:t>
            </a:r>
            <a:endParaRPr lang="en-US" sz="2933" dirty="0"/>
          </a:p>
        </p:txBody>
      </p:sp>
      <p:sp>
        <p:nvSpPr>
          <p:cNvPr id="24" name="Text 21"/>
          <p:cNvSpPr txBox="1"/>
          <p:nvPr/>
        </p:nvSpPr>
        <p:spPr>
          <a:xfrm>
            <a:off x="5998314" y="3364908"/>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Balanced Accuracy *</a:t>
            </a:r>
            <a:endParaRPr lang="en-US" sz="1267" dirty="0"/>
          </a:p>
        </p:txBody>
      </p:sp>
      <p:sp>
        <p:nvSpPr>
          <p:cNvPr id="25" name="Shape 22"/>
          <p:cNvSpPr/>
          <p:nvPr/>
        </p:nvSpPr>
        <p:spPr>
          <a:xfrm>
            <a:off x="8899937" y="2779707"/>
            <a:ext cx="2926007" cy="926569"/>
          </a:xfrm>
          <a:prstGeom prst="roundRect">
            <a:avLst>
              <a:gd name="adj" fmla="val 10526"/>
            </a:avLst>
          </a:prstGeom>
          <a:solidFill>
            <a:srgbClr val="1A2A42"/>
          </a:solidFill>
          <a:ln w="12700">
            <a:solidFill>
              <a:srgbClr val="2A3C57"/>
            </a:solidFill>
            <a:prstDash val="solid"/>
          </a:ln>
        </p:spPr>
        <p:txBody>
          <a:bodyPr/>
          <a:p/>
        </p:txBody>
      </p:sp>
      <p:sp>
        <p:nvSpPr>
          <p:cNvPr id="26" name="Text 23"/>
          <p:cNvSpPr txBox="1"/>
          <p:nvPr/>
        </p:nvSpPr>
        <p:spPr>
          <a:xfrm>
            <a:off x="9168155" y="2852857"/>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262 / 262</a:t>
            </a:r>
            <a:endParaRPr lang="en-US" sz="2933" dirty="0"/>
          </a:p>
        </p:txBody>
      </p:sp>
      <p:sp>
        <p:nvSpPr>
          <p:cNvPr id="27" name="Text 24"/>
          <p:cNvSpPr txBox="1"/>
          <p:nvPr/>
        </p:nvSpPr>
        <p:spPr>
          <a:xfrm>
            <a:off x="9168155" y="3364908"/>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Test Classes Represented</a:t>
            </a:r>
            <a:endParaRPr lang="en-US" sz="1267" dirty="0"/>
          </a:p>
        </p:txBody>
      </p:sp>
      <p:sp>
        <p:nvSpPr>
          <p:cNvPr id="28" name="Shape 25"/>
          <p:cNvSpPr/>
          <p:nvPr/>
        </p:nvSpPr>
        <p:spPr>
          <a:xfrm>
            <a:off x="5730097" y="3852576"/>
            <a:ext cx="2926007" cy="926569"/>
          </a:xfrm>
          <a:prstGeom prst="roundRect">
            <a:avLst>
              <a:gd name="adj" fmla="val 10526"/>
            </a:avLst>
          </a:prstGeom>
          <a:solidFill>
            <a:srgbClr val="1A2A42"/>
          </a:solidFill>
          <a:ln w="12700">
            <a:solidFill>
              <a:srgbClr val="2A3C57"/>
            </a:solidFill>
            <a:prstDash val="solid"/>
          </a:ln>
        </p:spPr>
        <p:txBody>
          <a:bodyPr/>
          <a:p/>
        </p:txBody>
      </p:sp>
      <p:sp>
        <p:nvSpPr>
          <p:cNvPr id="29" name="Text 26"/>
          <p:cNvSpPr txBox="1"/>
          <p:nvPr/>
        </p:nvSpPr>
        <p:spPr>
          <a:xfrm>
            <a:off x="5998314" y="3925726"/>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816</a:t>
            </a:r>
            <a:endParaRPr lang="en-US" sz="2933" dirty="0"/>
          </a:p>
        </p:txBody>
      </p:sp>
      <p:sp>
        <p:nvSpPr>
          <p:cNvPr id="30" name="Text 27"/>
          <p:cNvSpPr txBox="1"/>
          <p:nvPr/>
        </p:nvSpPr>
        <p:spPr>
          <a:xfrm>
            <a:off x="5998314" y="4437777"/>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Test Samples</a:t>
            </a:r>
            <a:endParaRPr lang="en-US" sz="1267" dirty="0"/>
          </a:p>
        </p:txBody>
      </p:sp>
      <p:sp>
        <p:nvSpPr>
          <p:cNvPr id="31" name="Shape 28"/>
          <p:cNvSpPr/>
          <p:nvPr/>
        </p:nvSpPr>
        <p:spPr>
          <a:xfrm>
            <a:off x="8899937" y="3852576"/>
            <a:ext cx="2926007" cy="926569"/>
          </a:xfrm>
          <a:prstGeom prst="roundRect">
            <a:avLst>
              <a:gd name="adj" fmla="val 10526"/>
            </a:avLst>
          </a:prstGeom>
          <a:solidFill>
            <a:srgbClr val="1A2A42"/>
          </a:solidFill>
          <a:ln w="12700">
            <a:solidFill>
              <a:srgbClr val="2A3C57"/>
            </a:solidFill>
            <a:prstDash val="solid"/>
          </a:ln>
        </p:spPr>
        <p:txBody>
          <a:bodyPr/>
          <a:p/>
        </p:txBody>
      </p:sp>
      <p:sp>
        <p:nvSpPr>
          <p:cNvPr id="32" name="Text 29"/>
          <p:cNvSpPr txBox="1"/>
          <p:nvPr/>
        </p:nvSpPr>
        <p:spPr>
          <a:xfrm>
            <a:off x="9168155" y="3925726"/>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16</a:t>
            </a:r>
            <a:endParaRPr lang="en-US" sz="2933" dirty="0"/>
          </a:p>
        </p:txBody>
      </p:sp>
      <p:sp>
        <p:nvSpPr>
          <p:cNvPr id="33" name="Text 30"/>
          <p:cNvSpPr txBox="1"/>
          <p:nvPr/>
        </p:nvSpPr>
        <p:spPr>
          <a:xfrm>
            <a:off x="9168155" y="4437777"/>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Wrong Top-1 Predictions</a:t>
            </a:r>
            <a:endParaRPr lang="en-US" sz="1267" dirty="0"/>
          </a:p>
        </p:txBody>
      </p:sp>
      <p:sp>
        <p:nvSpPr>
          <p:cNvPr id="34" name="Shape 31"/>
          <p:cNvSpPr/>
          <p:nvPr/>
        </p:nvSpPr>
        <p:spPr>
          <a:xfrm>
            <a:off x="5730097" y="4925445"/>
            <a:ext cx="2926007" cy="926569"/>
          </a:xfrm>
          <a:prstGeom prst="roundRect">
            <a:avLst>
              <a:gd name="adj" fmla="val 10526"/>
            </a:avLst>
          </a:prstGeom>
          <a:solidFill>
            <a:srgbClr val="1A2A42"/>
          </a:solidFill>
          <a:ln w="12700">
            <a:solidFill>
              <a:srgbClr val="2A3C57"/>
            </a:solidFill>
            <a:prstDash val="solid"/>
          </a:ln>
        </p:spPr>
        <p:txBody>
          <a:bodyPr/>
          <a:p/>
        </p:txBody>
      </p:sp>
      <p:sp>
        <p:nvSpPr>
          <p:cNvPr id="35" name="Text 32"/>
          <p:cNvSpPr txBox="1"/>
          <p:nvPr/>
        </p:nvSpPr>
        <p:spPr>
          <a:xfrm>
            <a:off x="5998314" y="4998595"/>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6.60 s</a:t>
            </a:r>
            <a:endParaRPr lang="en-US" sz="2933" dirty="0"/>
          </a:p>
        </p:txBody>
      </p:sp>
      <p:sp>
        <p:nvSpPr>
          <p:cNvPr id="36" name="Text 33"/>
          <p:cNvSpPr txBox="1"/>
          <p:nvPr/>
        </p:nvSpPr>
        <p:spPr>
          <a:xfrm>
            <a:off x="5998314" y="5510646"/>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Total Evaluation Time</a:t>
            </a:r>
            <a:endParaRPr lang="en-US" sz="1267" dirty="0"/>
          </a:p>
        </p:txBody>
      </p:sp>
      <p:sp>
        <p:nvSpPr>
          <p:cNvPr id="37" name="Shape 34"/>
          <p:cNvSpPr/>
          <p:nvPr/>
        </p:nvSpPr>
        <p:spPr>
          <a:xfrm>
            <a:off x="8899937" y="4925445"/>
            <a:ext cx="2926007" cy="926569"/>
          </a:xfrm>
          <a:prstGeom prst="roundRect">
            <a:avLst>
              <a:gd name="adj" fmla="val 10526"/>
            </a:avLst>
          </a:prstGeom>
          <a:solidFill>
            <a:srgbClr val="1A2A42"/>
          </a:solidFill>
          <a:ln w="12700">
            <a:solidFill>
              <a:srgbClr val="2A3C57"/>
            </a:solidFill>
            <a:prstDash val="solid"/>
          </a:ln>
        </p:spPr>
        <p:txBody>
          <a:bodyPr/>
          <a:p/>
        </p:txBody>
      </p:sp>
      <p:sp>
        <p:nvSpPr>
          <p:cNvPr id="38" name="Text 35"/>
          <p:cNvSpPr txBox="1"/>
          <p:nvPr/>
        </p:nvSpPr>
        <p:spPr>
          <a:xfrm>
            <a:off x="9168155" y="4998595"/>
            <a:ext cx="2560256" cy="512051"/>
          </a:xfrm>
          <a:prstGeom prst="rect">
            <a:avLst/>
          </a:prstGeom>
          <a:noFill/>
          <a:ln/>
        </p:spPr>
        <p:txBody>
          <a:bodyPr wrap="square" lIns="0" tIns="0" rIns="0" bIns="0" rtlCol="0" anchor="ctr"/>
          <a:lstStyle/>
          <a:p>
            <a:pPr indent="0" marL="0">
              <a:buNone/>
            </a:pPr>
            <a:r>
              <a:rPr lang="en-US" sz="2933" b="1" dirty="0">
                <a:solidFill>
                  <a:srgbClr val="FFFFFF"/>
                </a:solidFill>
                <a:latin typeface="Calibri" pitchFamily="34" charset="0"/>
                <a:ea typeface="Calibri" pitchFamily="34" charset="-122"/>
                <a:cs typeface="Calibri" pitchFamily="34" charset="-120"/>
              </a:rPr>
              <a:t>Epoch 38</a:t>
            </a:r>
            <a:endParaRPr lang="en-US" sz="2933" dirty="0"/>
          </a:p>
        </p:txBody>
      </p:sp>
      <p:sp>
        <p:nvSpPr>
          <p:cNvPr id="39" name="Text 36"/>
          <p:cNvSpPr txBox="1"/>
          <p:nvPr/>
        </p:nvSpPr>
        <p:spPr>
          <a:xfrm>
            <a:off x="9168155" y="5510646"/>
            <a:ext cx="2560256" cy="268217"/>
          </a:xfrm>
          <a:prstGeom prst="rect">
            <a:avLst/>
          </a:prstGeom>
          <a:noFill/>
          <a:ln/>
        </p:spPr>
        <p:txBody>
          <a:bodyPr wrap="square" lIns="0" tIns="0" rIns="0" bIns="0" rtlCol="0" anchor="ctr"/>
          <a:lstStyle/>
          <a:p>
            <a:pPr indent="0" marL="0">
              <a:buNone/>
            </a:pPr>
            <a:r>
              <a:rPr lang="en-US" sz="1267" dirty="0">
                <a:solidFill>
                  <a:srgbClr val="9AA8BC"/>
                </a:solidFill>
                <a:latin typeface="Calibri" pitchFamily="34" charset="0"/>
                <a:ea typeface="Calibri" pitchFamily="34" charset="-122"/>
                <a:cs typeface="Calibri" pitchFamily="34" charset="-120"/>
              </a:rPr>
              <a:t>Best Checkpoint (EMA)</a:t>
            </a:r>
            <a:endParaRPr lang="en-US" sz="1267" dirty="0"/>
          </a:p>
        </p:txBody>
      </p:sp>
      <p:sp>
        <p:nvSpPr>
          <p:cNvPr id="40" name="Text 37"/>
          <p:cNvSpPr txBox="1"/>
          <p:nvPr/>
        </p:nvSpPr>
        <p:spPr>
          <a:xfrm>
            <a:off x="609585" y="5998314"/>
            <a:ext cx="10972526" cy="243834"/>
          </a:xfrm>
          <a:prstGeom prst="rect">
            <a:avLst/>
          </a:prstGeom>
          <a:noFill/>
          <a:ln/>
        </p:spPr>
        <p:txBody>
          <a:bodyPr wrap="square" lIns="0" tIns="0" rIns="0" bIns="0" rtlCol="0" anchor="ctr"/>
          <a:lstStyle/>
          <a:p>
            <a:pPr indent="0" marL="0">
              <a:buNone/>
            </a:pPr>
            <a:r>
              <a:rPr lang="en-US" sz="1133" dirty="0">
                <a:solidFill>
                  <a:srgbClr val="8B99AE"/>
                </a:solidFill>
                <a:latin typeface="Calibri" pitchFamily="34" charset="0"/>
                <a:ea typeface="Calibri" pitchFamily="34" charset="-122"/>
                <a:cs typeface="Calibri" pitchFamily="34" charset="-120"/>
              </a:rPr>
              <a:t>* Macro-F1 and Balanced Accuracy computed over supported classes only.  All values are measured results of the final test evaluation.</a:t>
            </a:r>
            <a:endParaRPr lang="en-US" sz="1133"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3371004" cy="316984"/>
          </a:xfrm>
          <a:prstGeom prst="roundRect">
            <a:avLst>
              <a:gd name="adj" fmla="val 50000"/>
            </a:avLst>
          </a:prstGeom>
          <a:solidFill>
            <a:srgbClr val="F2F5F9"/>
          </a:solidFill>
          <a:ln w="12700">
            <a:solidFill>
              <a:srgbClr val="D9E1EA"/>
            </a:solidFill>
            <a:prstDash val="solid"/>
          </a:ln>
        </p:spPr>
      </p:sp>
      <p:sp>
        <p:nvSpPr>
          <p:cNvPr id="3" name="Text 1"/>
          <p:cNvSpPr txBox="1"/>
          <p:nvPr/>
        </p:nvSpPr>
        <p:spPr>
          <a:xfrm>
            <a:off x="1377662" y="365751"/>
            <a:ext cx="3371004"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14  ·  PERFORMANCE EVALUATION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Performance Summary</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20</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9585" y="1731221"/>
          <a:ext cx="5608180" cy="914400"/>
        </p:xfrm>
        <a:graphic>
          <a:graphicData uri="http://schemas.openxmlformats.org/drawingml/2006/table">
            <a:tbl>
              <a:tblPr/>
              <a:tblGrid>
                <a:gridCol w="3657509"/>
                <a:gridCol w="1950671"/>
              </a:tblGrid>
              <a:tr h="463284">
                <a:tc>
                  <a:txBody>
                    <a:bodyPr/>
                    <a:lstStyle/>
                    <a:p>
                      <a:pPr algn="l" indent="0" marL="0">
                        <a:buNone/>
                      </a:pPr>
                      <a:r>
                        <a:rPr lang="en-US" sz="1533" b="1" dirty="0">
                          <a:solidFill>
                            <a:srgbClr val="FFFFFF"/>
                          </a:solidFill>
                          <a:latin typeface="Calibri" pitchFamily="34" charset="0"/>
                          <a:ea typeface="Calibri" pitchFamily="34" charset="-122"/>
                          <a:cs typeface="Calibri" pitchFamily="34" charset="-120"/>
                        </a:rPr>
                        <a:t>Metric</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0F1B2D"/>
                    </a:solidFill>
                  </a:tcPr>
                </a:tc>
                <a:tc>
                  <a:txBody>
                    <a:bodyPr/>
                    <a:lstStyle/>
                    <a:p>
                      <a:pPr algn="r" indent="0" marL="0">
                        <a:buNone/>
                      </a:pPr>
                      <a:r>
                        <a:rPr lang="en-US" sz="1533" b="1" dirty="0">
                          <a:solidFill>
                            <a:srgbClr val="FFFFFF"/>
                          </a:solidFill>
                          <a:latin typeface="Calibri" pitchFamily="34" charset="0"/>
                          <a:ea typeface="Calibri" pitchFamily="34" charset="-122"/>
                          <a:cs typeface="Calibri" pitchFamily="34" charset="-120"/>
                        </a:rPr>
                        <a:t>Result</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0F1B2D"/>
                    </a:solidFill>
                  </a:tcPr>
                </a:tc>
              </a:tr>
              <a:tr h="463284">
                <a:tc>
                  <a:txBody>
                    <a:bodyPr/>
                    <a:lstStyle/>
                    <a:p>
                      <a:pPr indent="0" marL="0">
                        <a:buNone/>
                      </a:pPr>
                      <a:r>
                        <a:rPr lang="en-US" sz="1533" b="1" dirty="0">
                          <a:solidFill>
                            <a:srgbClr val="1A2332"/>
                          </a:solidFill>
                          <a:latin typeface="Calibri" pitchFamily="34" charset="0"/>
                          <a:ea typeface="Calibri" pitchFamily="34" charset="-122"/>
                          <a:cs typeface="Calibri" pitchFamily="34" charset="-120"/>
                        </a:rPr>
                        <a:t>Top-1 Accuracy</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DF1D8"/>
                    </a:solidFill>
                  </a:tcPr>
                </a:tc>
                <a:tc>
                  <a:txBody>
                    <a:bodyPr/>
                    <a:lstStyle/>
                    <a:p>
                      <a:pPr algn="r" indent="0" marL="0">
                        <a:buNone/>
                      </a:pPr>
                      <a:r>
                        <a:rPr lang="en-US" sz="1533" b="1" dirty="0">
                          <a:solidFill>
                            <a:srgbClr val="B7770A"/>
                          </a:solidFill>
                          <a:latin typeface="Calibri" pitchFamily="34" charset="0"/>
                          <a:ea typeface="Calibri" pitchFamily="34" charset="-122"/>
                          <a:cs typeface="Calibri" pitchFamily="34" charset="-120"/>
                        </a:rPr>
                        <a:t>98.04%</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DF1D8"/>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Top-5 Accuracy</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99.51%</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Macro-F1 *</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98.09%</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Balanced Accuracy *</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98.19%</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Test Classes Represented</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262 / 262</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Test Samples</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816</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Correct Top-1 Predictions</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800 / 816</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2F5F9"/>
                    </a:solidFill>
                  </a:tcPr>
                </a:tc>
              </a:tr>
              <a:tr h="463284">
                <a:tc>
                  <a:txBody>
                    <a:bodyPr/>
                    <a:lstStyle/>
                    <a:p>
                      <a:pPr indent="0" marL="0">
                        <a:buNone/>
                      </a:pPr>
                      <a:r>
                        <a:rPr lang="en-US" sz="1533" dirty="0">
                          <a:solidFill>
                            <a:srgbClr val="1A2332"/>
                          </a:solidFill>
                          <a:latin typeface="Calibri" pitchFamily="34" charset="0"/>
                          <a:ea typeface="Calibri" pitchFamily="34" charset="-122"/>
                          <a:cs typeface="Calibri" pitchFamily="34" charset="-120"/>
                        </a:rPr>
                        <a:t>Wrong Top-1 Predictions</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c>
                  <a:txBody>
                    <a:bodyPr/>
                    <a:lstStyle/>
                    <a:p>
                      <a:pPr algn="r" indent="0" marL="0">
                        <a:buNone/>
                      </a:pPr>
                      <a:r>
                        <a:rPr lang="en-US" sz="1533" b="1" dirty="0">
                          <a:solidFill>
                            <a:srgbClr val="1A2332"/>
                          </a:solidFill>
                          <a:latin typeface="Calibri" pitchFamily="34" charset="0"/>
                          <a:ea typeface="Calibri" pitchFamily="34" charset="-122"/>
                          <a:cs typeface="Calibri" pitchFamily="34" charset="-120"/>
                        </a:rPr>
                        <a:t>16</a:t>
                      </a:r>
                      <a:endParaRPr lang="en-US" sz="1533" dirty="0">
                        <a:latin typeface="Calibri" charset="0"/>
                        <a:ea typeface="Calibri" charset="0"/>
                        <a:cs typeface="Calibri" charset="0"/>
                      </a:endParaRPr>
                    </a:p>
                  </a:txBody>
                  <a:tcPr marL="146300" marR="146300" marT="0" marB="0" anchor="ctr">
                    <a:lnL w="8466" cap="flat" cmpd="sng" algn="ctr">
                      <a:solidFill>
                        <a:srgbClr val="D9E1EA"/>
                      </a:solidFill>
                      <a:prstDash val="solid"/>
                      <a:round/>
                      <a:headEnd type="none" w="med" len="med"/>
                      <a:tailEnd type="none" w="med" len="med"/>
                    </a:lnL>
                    <a:lnR w="8466" cap="flat" cmpd="sng" algn="ctr">
                      <a:solidFill>
                        <a:srgbClr val="D9E1EA"/>
                      </a:solidFill>
                      <a:prstDash val="solid"/>
                      <a:round/>
                      <a:headEnd type="none" w="med" len="med"/>
                      <a:tailEnd type="none" w="med" len="med"/>
                    </a:lnR>
                    <a:lnT w="8466" cap="flat" cmpd="sng" algn="ctr">
                      <a:solidFill>
                        <a:srgbClr val="D9E1EA"/>
                      </a:solidFill>
                      <a:prstDash val="solid"/>
                      <a:round/>
                      <a:headEnd type="none" w="med" len="med"/>
                      <a:tailEnd type="none" w="med" len="med"/>
                    </a:lnT>
                    <a:lnB w="8466" cap="flat" cmpd="sng" algn="ctr">
                      <a:solidFill>
                        <a:srgbClr val="D9E1EA"/>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09585" y="6034889"/>
            <a:ext cx="5608180" cy="243834"/>
          </a:xfrm>
          <a:prstGeom prst="rect">
            <a:avLst/>
          </a:prstGeom>
          <a:noFill/>
          <a:ln/>
        </p:spPr>
        <p:txBody>
          <a:bodyPr wrap="square" lIns="0" tIns="0" rIns="0" bIns="0" rtlCol="0" anchor="ctr"/>
          <a:lstStyle/>
          <a:p>
            <a:pPr indent="0" marL="0">
              <a:buNone/>
            </a:pPr>
            <a:r>
              <a:rPr lang="en-US" sz="1133" dirty="0">
                <a:solidFill>
                  <a:srgbClr val="5A6678"/>
                </a:solidFill>
                <a:latin typeface="Calibri" pitchFamily="34" charset="0"/>
                <a:ea typeface="Calibri" pitchFamily="34" charset="-122"/>
                <a:cs typeface="Calibri" pitchFamily="34" charset="-120"/>
              </a:rPr>
              <a:t>* computed over supported classes only</a:t>
            </a:r>
            <a:endParaRPr lang="en-US" sz="1133" dirty="0"/>
          </a:p>
        </p:txBody>
      </p:sp>
      <p:sp>
        <p:nvSpPr>
          <p:cNvPr id="10" name="Shape 6"/>
          <p:cNvSpPr/>
          <p:nvPr/>
        </p:nvSpPr>
        <p:spPr>
          <a:xfrm>
            <a:off x="6705432" y="1731221"/>
            <a:ext cx="4876678" cy="4413394"/>
          </a:xfrm>
          <a:prstGeom prst="roundRect">
            <a:avLst>
              <a:gd name="adj" fmla="val 2210"/>
            </a:avLst>
          </a:prstGeom>
          <a:solidFill>
            <a:srgbClr val="F2F5F9"/>
          </a:solidFill>
          <a:ln w="12700">
            <a:solidFill>
              <a:srgbClr val="D9E1EA"/>
            </a:solidFill>
            <a:prstDash val="solid"/>
          </a:ln>
        </p:spPr>
      </p:sp>
      <p:sp>
        <p:nvSpPr>
          <p:cNvPr id="11" name="Text 7"/>
          <p:cNvSpPr txBox="1"/>
          <p:nvPr/>
        </p:nvSpPr>
        <p:spPr>
          <a:xfrm>
            <a:off x="7010225" y="1926288"/>
            <a:ext cx="4267093" cy="316984"/>
          </a:xfrm>
          <a:prstGeom prst="rect">
            <a:avLst/>
          </a:prstGeom>
          <a:noFill/>
          <a:ln/>
        </p:spPr>
        <p:txBody>
          <a:bodyPr wrap="square" lIns="0" tIns="0" rIns="0" bIns="0" rtlCol="0" anchor="ctr"/>
          <a:lstStyle/>
          <a:p>
            <a:pPr indent="0" marL="0">
              <a:buNone/>
            </a:pPr>
            <a:r>
              <a:rPr lang="en-US" sz="1533" b="1" dirty="0">
                <a:solidFill>
                  <a:srgbClr val="1A2332"/>
                </a:solidFill>
                <a:latin typeface="Calibri" pitchFamily="34" charset="0"/>
                <a:ea typeface="Calibri" pitchFamily="34" charset="-122"/>
                <a:cs typeface="Calibri" pitchFamily="34" charset="-120"/>
              </a:rPr>
              <a:t>Top-1 outcomes on 816 test samples</a:t>
            </a:r>
            <a:endParaRPr lang="en-US" sz="1533" dirty="0"/>
          </a:p>
        </p:txBody>
      </p:sp>
      <p:graphicFrame>
        <p:nvGraphicFramePr>
          <p:cNvPr id="12" name="Chart 0" descr=""/>
          <p:cNvGraphicFramePr/>
          <p:nvPr/>
        </p:nvGraphicFramePr>
        <p:xfrm>
          <a:off x="7254059" y="2340805"/>
          <a:ext cx="3779426" cy="3194224"/>
        </p:xfrm>
        <a:graphic xmlns:a="http://schemas.openxmlformats.org/drawingml/2006/main">
          <a:graphicData uri="http://schemas.openxmlformats.org/drawingml/2006/chart">
            <c:chart xmlns:c="http://schemas.openxmlformats.org/drawingml/2006/chart" r:id="rId2"/>
          </a:graphicData>
        </a:graphic>
      </p:graphicFrame>
      <p:sp>
        <p:nvSpPr>
          <p:cNvPr id="13" name="Text 8"/>
          <p:cNvSpPr txBox="1"/>
          <p:nvPr/>
        </p:nvSpPr>
        <p:spPr>
          <a:xfrm>
            <a:off x="7924602" y="3511208"/>
            <a:ext cx="2438339" cy="853419"/>
          </a:xfrm>
          <a:prstGeom prst="rect">
            <a:avLst/>
          </a:prstGeom>
          <a:noFill/>
          <a:ln/>
        </p:spPr>
        <p:txBody>
          <a:bodyPr wrap="square" lIns="0" tIns="0" rIns="0" bIns="0" rtlCol="0" anchor="ctr"/>
          <a:lstStyle/>
          <a:p>
            <a:pPr algn="ctr" indent="0" marL="0">
              <a:buNone/>
            </a:pPr>
            <a:r>
              <a:rPr lang="en-US" sz="2267" b="1" dirty="0">
                <a:solidFill>
                  <a:srgbClr val="1A2332"/>
                </a:solidFill>
                <a:latin typeface="Calibri" pitchFamily="34" charset="0"/>
                <a:ea typeface="Calibri" pitchFamily="34" charset="-122"/>
                <a:cs typeface="Calibri" pitchFamily="34" charset="-120"/>
              </a:rPr>
              <a:t>800 / 816</a:t>
            </a:r>
            <a:endParaRPr lang="en-US" sz="2267" dirty="0"/>
          </a:p>
          <a:p>
            <a:pPr algn="ctr" indent="0" marL="0">
              <a:buNone/>
            </a:pPr>
            <a:r>
              <a:rPr lang="en-US" sz="1267" dirty="0">
                <a:solidFill>
                  <a:srgbClr val="5A6678"/>
                </a:solidFill>
                <a:latin typeface="Calibri" pitchFamily="34" charset="0"/>
                <a:ea typeface="Calibri" pitchFamily="34" charset="-122"/>
                <a:cs typeface="Calibri" pitchFamily="34" charset="-120"/>
              </a:rPr>
              <a:t>correct at Top-1</a:t>
            </a:r>
            <a:endParaRPr lang="en-US" sz="2267" dirty="0"/>
          </a:p>
        </p:txBody>
      </p:sp>
      <p:sp>
        <p:nvSpPr>
          <p:cNvPr id="14" name="Text 9"/>
          <p:cNvSpPr txBox="1"/>
          <p:nvPr/>
        </p:nvSpPr>
        <p:spPr>
          <a:xfrm>
            <a:off x="7010225" y="5632563"/>
            <a:ext cx="4267093" cy="316984"/>
          </a:xfrm>
          <a:prstGeom prst="rect">
            <a:avLst/>
          </a:prstGeom>
          <a:noFill/>
          <a:ln/>
        </p:spPr>
        <p:txBody>
          <a:bodyPr wrap="square" lIns="0" tIns="0" rIns="0" bIns="0" rtlCol="0" anchor="ctr"/>
          <a:lstStyle/>
          <a:p>
            <a:pPr algn="ctr" indent="0" marL="0">
              <a:buNone/>
            </a:pPr>
            <a:r>
              <a:rPr lang="en-US" sz="1400" dirty="0">
                <a:solidFill>
                  <a:srgbClr val="2E9E5B"/>
                </a:solidFill>
                <a:latin typeface="Calibri" pitchFamily="34" charset="0"/>
                <a:ea typeface="Calibri" pitchFamily="34" charset="-122"/>
                <a:cs typeface="Calibri" pitchFamily="34" charset="-120"/>
              </a:rPr>
              <a:t>■ </a:t>
            </a:r>
            <a:pPr algn="ctr" indent="0" marL="0">
              <a:buNone/>
            </a:pPr>
            <a:r>
              <a:rPr lang="en-US" sz="1400" dirty="0">
                <a:solidFill>
                  <a:srgbClr val="1A2332"/>
                </a:solidFill>
                <a:latin typeface="Calibri" pitchFamily="34" charset="0"/>
                <a:ea typeface="Calibri" pitchFamily="34" charset="-122"/>
                <a:cs typeface="Calibri" pitchFamily="34" charset="-120"/>
              </a:rPr>
              <a:t>Correct: 800        </a:t>
            </a:r>
            <a:pPr algn="ctr" indent="0" marL="0">
              <a:buNone/>
            </a:pPr>
            <a:r>
              <a:rPr lang="en-US" sz="1400" dirty="0">
                <a:solidFill>
                  <a:srgbClr val="E0605A"/>
                </a:solidFill>
                <a:latin typeface="Calibri" pitchFamily="34" charset="0"/>
                <a:ea typeface="Calibri" pitchFamily="34" charset="-122"/>
                <a:cs typeface="Calibri" pitchFamily="34" charset="-120"/>
              </a:rPr>
              <a:t>■ </a:t>
            </a:r>
            <a:pPr algn="ctr" indent="0" marL="0">
              <a:buNone/>
            </a:pPr>
            <a:r>
              <a:rPr lang="en-US" sz="1400" dirty="0">
                <a:solidFill>
                  <a:srgbClr val="1A2332"/>
                </a:solidFill>
                <a:latin typeface="Calibri" pitchFamily="34" charset="0"/>
                <a:ea typeface="Calibri" pitchFamily="34" charset="-122"/>
                <a:cs typeface="Calibri" pitchFamily="34" charset="-120"/>
              </a:rPr>
              <a:t>Wrong: 16</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377662" y="365751"/>
            <a:ext cx="3371004" cy="316984"/>
          </a:xfrm>
          <a:prstGeom prst="roundRect">
            <a:avLst>
              <a:gd name="adj" fmla="val 50000"/>
            </a:avLst>
          </a:prstGeom>
          <a:solidFill>
            <a:srgbClr val="F2F5F9"/>
          </a:solidFill>
          <a:ln w="12700">
            <a:solidFill>
              <a:srgbClr val="D9E1EA"/>
            </a:solidFill>
            <a:prstDash val="solid"/>
          </a:ln>
        </p:spPr>
        <p:txBody>
          <a:bodyPr/>
          <a:p/>
        </p:txBody>
      </p:sp>
      <p:sp>
        <p:nvSpPr>
          <p:cNvPr id="3" name="Text 1"/>
          <p:cNvSpPr txBox="1"/>
          <p:nvPr/>
        </p:nvSpPr>
        <p:spPr>
          <a:xfrm>
            <a:off x="1377662" y="365751"/>
            <a:ext cx="3371004" cy="316984"/>
          </a:xfrm>
          <a:prstGeom prst="rect">
            <a:avLst/>
          </a:prstGeom>
          <a:noFill/>
          <a:ln/>
        </p:spPr>
        <p:txBody>
          <a:bodyPr wrap="square" lIns="0" tIns="0" rIns="0" bIns="0" rtlCol="0" anchor="ctr"/>
          <a:lstStyle/>
          <a:p>
            <a:pPr algn="ctr" indent="0" marL="0">
              <a:buNone/>
            </a:pPr>
            <a:r>
              <a:rPr lang="en-US" sz="1133" b="1" spc="200" kern="0" dirty="0">
                <a:solidFill>
                  <a:srgbClr val="0E9AA7"/>
                </a:solidFill>
                <a:latin typeface="Calibri" pitchFamily="34" charset="0"/>
                <a:ea typeface="Calibri" pitchFamily="34" charset="-122"/>
                <a:cs typeface="Calibri" pitchFamily="34" charset="-120"/>
              </a:rPr>
              <a:t>14  ·  PERFORMANCE EVALUATION</a:t>
            </a:r>
            <a:endParaRPr lang="en-US" sz="1133" dirty="0"/>
          </a:p>
        </p:txBody>
      </p:sp>
      <p:sp>
        <p:nvSpPr>
          <p:cNvPr id="4" name="Text 2"/>
          <p:cNvSpPr txBox="1"/>
          <p:nvPr/>
        </p:nvSpPr>
        <p:spPr>
          <a:xfrm>
            <a:off x="1377662" y="780268"/>
            <a:ext cx="10204449" cy="682735"/>
          </a:xfrm>
          <a:prstGeom prst="rect">
            <a:avLst/>
          </a:prstGeom>
          <a:noFill/>
          <a:ln/>
        </p:spPr>
        <p:txBody>
          <a:bodyPr wrap="square" lIns="0" tIns="0" rIns="0" bIns="0" rtlCol="0" anchor="ctr"/>
          <a:lstStyle/>
          <a:p>
            <a:pPr indent="0" marL="0">
              <a:buNone/>
            </a:pPr>
            <a:r>
              <a:rPr lang="en-US" sz="3333" b="1" dirty="0">
                <a:solidFill>
                  <a:srgbClr val="1A2332"/>
                </a:solidFill>
                <a:latin typeface="Cambria" pitchFamily="34" charset="0"/>
                <a:ea typeface="Cambria" pitchFamily="34" charset="-122"/>
                <a:cs typeface="Cambria" pitchFamily="34" charset="-120"/>
              </a:rPr>
              <a:t>What the Metrics Indicate</a:t>
            </a:r>
            <a:endParaRPr lang="en-US" sz="3333" dirty="0"/>
          </a:p>
        </p:txBody>
      </p:sp>
      <p:sp>
        <p:nvSpPr>
          <p:cNvPr id="5" name="Text 3"/>
          <p:cNvSpPr txBox="1"/>
          <p:nvPr/>
        </p:nvSpPr>
        <p:spPr>
          <a:xfrm>
            <a:off x="609585" y="6437215"/>
            <a:ext cx="7924602" cy="243834"/>
          </a:xfrm>
          <a:prstGeom prst="rect">
            <a:avLst/>
          </a:prstGeom>
          <a:noFill/>
          <a:ln/>
        </p:spPr>
        <p:txBody>
          <a:bodyPr wrap="square" lIns="0" tIns="0" rIns="0" bIns="0" rtlCol="0" anchor="ctr"/>
          <a:lstStyle/>
          <a:p>
            <a:pPr indent="0" marL="0">
              <a:buNone/>
            </a:pPr>
            <a:r>
              <a:rPr lang="en-US" sz="1067" dirty="0">
                <a:solidFill>
                  <a:srgbClr val="5A6678"/>
                </a:solidFill>
                <a:latin typeface="Calibri" pitchFamily="34" charset="0"/>
                <a:ea typeface="Calibri" pitchFamily="34" charset="-122"/>
                <a:cs typeface="Calibri" pitchFamily="34" charset="-120"/>
              </a:rPr>
              <a:t>AI-Based Hand Gesture Recognition for Sign Language Communication  ·  Review-2</a:t>
            </a:r>
            <a:endParaRPr lang="en-US" sz="1067" dirty="0"/>
          </a:p>
        </p:txBody>
      </p:sp>
      <p:sp>
        <p:nvSpPr>
          <p:cNvPr id="6" name="Text 4"/>
          <p:cNvSpPr txBox="1"/>
          <p:nvPr/>
        </p:nvSpPr>
        <p:spPr>
          <a:xfrm>
            <a:off x="10362941" y="6437215"/>
            <a:ext cx="1219170" cy="243834"/>
          </a:xfrm>
          <a:prstGeom prst="rect">
            <a:avLst/>
          </a:prstGeom>
          <a:noFill/>
          <a:ln/>
        </p:spPr>
        <p:txBody>
          <a:bodyPr wrap="square" lIns="0" tIns="0" rIns="0" bIns="0" rtlCol="0" anchor="ctr"/>
          <a:lstStyle/>
          <a:p>
            <a:pPr algn="r" indent="0" marL="0">
              <a:buNone/>
            </a:pPr>
            <a:r>
              <a:rPr lang="en-US" sz="1067" dirty="0">
                <a:solidFill>
                  <a:srgbClr val="5A6678"/>
                </a:solidFill>
                <a:latin typeface="Calibri" pitchFamily="34" charset="0"/>
                <a:ea typeface="Calibri" pitchFamily="34" charset="-122"/>
                <a:cs typeface="Calibri" pitchFamily="34" charset="-120"/>
              </a:rPr>
              <a:t>21</a:t>
            </a:r>
            <a:endParaRPr lang="en-US" sz="1067" dirty="0"/>
          </a:p>
        </p:txBody>
      </p:sp>
      <p:pic>
        <p:nvPicPr>
          <p:cNvPr id="7" name="Image 0" descr="klh_logo.png">    </p:cNvPr>
          <p:cNvPicPr>
            <a:picLocks noChangeAspect="1"/>
          </p:cNvPicPr>
          <p:nvPr/>
        </p:nvPicPr>
        <p:blipFill>
          <a:blip r:embed="rId1"/>
          <a:stretch>
            <a:fillRect/>
          </a:stretch>
        </p:blipFill>
        <p:spPr>
          <a:xfrm>
            <a:off x="137160" y="118872"/>
            <a:ext cx="914400" cy="530352"/>
          </a:xfrm>
          <a:prstGeom prst="rect">
            <a:avLst/>
          </a:prstGeom>
        </p:spPr>
      </p:pic>
      <p:sp>
        <p:nvSpPr>
          <p:cNvPr id="8" name="Shape 5"/>
          <p:cNvSpPr/>
          <p:nvPr/>
        </p:nvSpPr>
        <p:spPr>
          <a:xfrm>
            <a:off x="609585" y="1731221"/>
            <a:ext cx="5364346" cy="1658071"/>
          </a:xfrm>
          <a:prstGeom prst="roundRect">
            <a:avLst>
              <a:gd name="adj" fmla="val 5882"/>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9" name="Text 6"/>
          <p:cNvSpPr txBox="1"/>
          <p:nvPr/>
        </p:nvSpPr>
        <p:spPr>
          <a:xfrm>
            <a:off x="877802" y="1926288"/>
            <a:ext cx="1767796" cy="609585"/>
          </a:xfrm>
          <a:prstGeom prst="rect">
            <a:avLst/>
          </a:prstGeom>
          <a:noFill/>
          <a:ln/>
        </p:spPr>
        <p:txBody>
          <a:bodyPr wrap="square" lIns="0" tIns="0" rIns="0" bIns="0" rtlCol="0" anchor="ctr"/>
          <a:lstStyle/>
          <a:p>
            <a:pPr indent="0" marL="0">
              <a:buNone/>
            </a:pPr>
            <a:r>
              <a:rPr lang="en-US" sz="3467" b="1" dirty="0">
                <a:solidFill>
                  <a:srgbClr val="C98509"/>
                </a:solidFill>
                <a:latin typeface="Calibri" pitchFamily="34" charset="0"/>
                <a:ea typeface="Calibri" pitchFamily="34" charset="-122"/>
                <a:cs typeface="Calibri" pitchFamily="34" charset="-120"/>
              </a:rPr>
              <a:t>98.04%</a:t>
            </a:r>
            <a:endParaRPr lang="en-US" sz="3467" dirty="0"/>
          </a:p>
        </p:txBody>
      </p:sp>
      <p:sp>
        <p:nvSpPr>
          <p:cNvPr id="10" name="Text 7"/>
          <p:cNvSpPr txBox="1"/>
          <p:nvPr/>
        </p:nvSpPr>
        <p:spPr>
          <a:xfrm>
            <a:off x="877802" y="2560256"/>
            <a:ext cx="1767796" cy="609585"/>
          </a:xfrm>
          <a:prstGeom prst="rect">
            <a:avLst/>
          </a:prstGeom>
          <a:noFill/>
          <a:ln/>
        </p:spPr>
        <p:txBody>
          <a:bodyPr wrap="square" lIns="0" tIns="0" rIns="0" bIns="0" rtlCol="0" anchor="t"/>
          <a:lstStyle/>
          <a:p>
            <a:pPr indent="0" marL="0">
              <a:buNone/>
            </a:pPr>
            <a:r>
              <a:rPr lang="en-US" sz="1333" b="1" dirty="0">
                <a:solidFill>
                  <a:srgbClr val="1A2332"/>
                </a:solidFill>
                <a:latin typeface="Calibri" pitchFamily="34" charset="0"/>
                <a:ea typeface="Calibri" pitchFamily="34" charset="-122"/>
                <a:cs typeface="Calibri" pitchFamily="34" charset="-120"/>
              </a:rPr>
              <a:t>Top-1 Accuracy</a:t>
            </a:r>
            <a:endParaRPr lang="en-US" sz="1333" dirty="0"/>
          </a:p>
        </p:txBody>
      </p:sp>
      <p:sp>
        <p:nvSpPr>
          <p:cNvPr id="11" name="Text 8"/>
          <p:cNvSpPr txBox="1"/>
          <p:nvPr/>
        </p:nvSpPr>
        <p:spPr>
          <a:xfrm>
            <a:off x="2804090" y="1926288"/>
            <a:ext cx="2926007" cy="1292320"/>
          </a:xfrm>
          <a:prstGeom prst="rect">
            <a:avLst/>
          </a:prstGeom>
          <a:noFill/>
          <a:ln/>
        </p:spPr>
        <p:txBody>
          <a:bodyPr wrap="square" lIns="0" tIns="0" rIns="0" bIns="0" rtlCol="0" anchor="ctr"/>
          <a:lstStyle/>
          <a:p>
            <a:pPr indent="0" marL="0">
              <a:buNone/>
            </a:pPr>
            <a:r>
              <a:rPr lang="en-US" sz="1400" dirty="0">
                <a:solidFill>
                  <a:srgbClr val="5A6678"/>
                </a:solidFill>
                <a:latin typeface="Calibri" pitchFamily="34" charset="0"/>
                <a:ea typeface="Calibri" pitchFamily="34" charset="-122"/>
                <a:cs typeface="Calibri" pitchFamily="34" charset="-120"/>
              </a:rPr>
              <a:t>The highest-scoring class matched the true sign for 800 of 816 test samples; only 16 Top-1 predictions were incorrect.</a:t>
            </a:r>
            <a:endParaRPr lang="en-US" sz="1400" dirty="0"/>
          </a:p>
        </p:txBody>
      </p:sp>
      <p:sp>
        <p:nvSpPr>
          <p:cNvPr id="12" name="Shape 9"/>
          <p:cNvSpPr/>
          <p:nvPr/>
        </p:nvSpPr>
        <p:spPr>
          <a:xfrm>
            <a:off x="6217765" y="1731221"/>
            <a:ext cx="5364346" cy="1658071"/>
          </a:xfrm>
          <a:prstGeom prst="roundRect">
            <a:avLst>
              <a:gd name="adj" fmla="val 5882"/>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13" name="Text 10"/>
          <p:cNvSpPr txBox="1"/>
          <p:nvPr/>
        </p:nvSpPr>
        <p:spPr>
          <a:xfrm>
            <a:off x="6485982" y="1926288"/>
            <a:ext cx="1767796" cy="609585"/>
          </a:xfrm>
          <a:prstGeom prst="rect">
            <a:avLst/>
          </a:prstGeom>
          <a:noFill/>
          <a:ln/>
        </p:spPr>
        <p:txBody>
          <a:bodyPr wrap="square" lIns="0" tIns="0" rIns="0" bIns="0" rtlCol="0" anchor="ctr"/>
          <a:lstStyle/>
          <a:p>
            <a:pPr indent="0" marL="0">
              <a:buNone/>
            </a:pPr>
            <a:r>
              <a:rPr lang="en-US" sz="3467" b="1" dirty="0">
                <a:solidFill>
                  <a:srgbClr val="0E9AA7"/>
                </a:solidFill>
                <a:latin typeface="Calibri" pitchFamily="34" charset="0"/>
                <a:ea typeface="Calibri" pitchFamily="34" charset="-122"/>
                <a:cs typeface="Calibri" pitchFamily="34" charset="-120"/>
              </a:rPr>
              <a:t>99.51%</a:t>
            </a:r>
            <a:endParaRPr lang="en-US" sz="3467" dirty="0"/>
          </a:p>
        </p:txBody>
      </p:sp>
      <p:sp>
        <p:nvSpPr>
          <p:cNvPr id="14" name="Text 11"/>
          <p:cNvSpPr txBox="1"/>
          <p:nvPr/>
        </p:nvSpPr>
        <p:spPr>
          <a:xfrm>
            <a:off x="6485982" y="2560256"/>
            <a:ext cx="1767796" cy="609585"/>
          </a:xfrm>
          <a:prstGeom prst="rect">
            <a:avLst/>
          </a:prstGeom>
          <a:noFill/>
          <a:ln/>
        </p:spPr>
        <p:txBody>
          <a:bodyPr wrap="square" lIns="0" tIns="0" rIns="0" bIns="0" rtlCol="0" anchor="t"/>
          <a:lstStyle/>
          <a:p>
            <a:pPr indent="0" marL="0">
              <a:buNone/>
            </a:pPr>
            <a:r>
              <a:rPr lang="en-US" sz="1333" b="1" dirty="0">
                <a:solidFill>
                  <a:srgbClr val="1A2332"/>
                </a:solidFill>
                <a:latin typeface="Calibri" pitchFamily="34" charset="0"/>
                <a:ea typeface="Calibri" pitchFamily="34" charset="-122"/>
                <a:cs typeface="Calibri" pitchFamily="34" charset="-120"/>
              </a:rPr>
              <a:t>Top-5 Accuracy</a:t>
            </a:r>
            <a:endParaRPr lang="en-US" sz="1333" dirty="0"/>
          </a:p>
        </p:txBody>
      </p:sp>
      <p:sp>
        <p:nvSpPr>
          <p:cNvPr id="15" name="Text 12"/>
          <p:cNvSpPr txBox="1"/>
          <p:nvPr/>
        </p:nvSpPr>
        <p:spPr>
          <a:xfrm>
            <a:off x="8412270" y="1926288"/>
            <a:ext cx="2926007" cy="1292320"/>
          </a:xfrm>
          <a:prstGeom prst="rect">
            <a:avLst/>
          </a:prstGeom>
          <a:noFill/>
          <a:ln/>
        </p:spPr>
        <p:txBody>
          <a:bodyPr wrap="square" lIns="0" tIns="0" rIns="0" bIns="0" rtlCol="0" anchor="ctr"/>
          <a:lstStyle/>
          <a:p>
            <a:pPr indent="0" marL="0">
              <a:buNone/>
            </a:pPr>
            <a:r>
              <a:rPr lang="en-US" sz="1400" dirty="0">
                <a:solidFill>
                  <a:srgbClr val="5A6678"/>
                </a:solidFill>
                <a:latin typeface="Calibri" pitchFamily="34" charset="0"/>
                <a:ea typeface="Calibri" pitchFamily="34" charset="-122"/>
                <a:cs typeface="Calibri" pitchFamily="34" charset="-120"/>
              </a:rPr>
              <a:t>The correct sign was within the model’s five highest-ranked classes for nearly all test samples, so some Top-1 errors still ranked the right sign closely.</a:t>
            </a:r>
            <a:endParaRPr lang="en-US" sz="1400" dirty="0"/>
          </a:p>
        </p:txBody>
      </p:sp>
      <p:sp>
        <p:nvSpPr>
          <p:cNvPr id="16" name="Shape 13"/>
          <p:cNvSpPr/>
          <p:nvPr/>
        </p:nvSpPr>
        <p:spPr>
          <a:xfrm>
            <a:off x="609585" y="3633125"/>
            <a:ext cx="5364346" cy="1658071"/>
          </a:xfrm>
          <a:prstGeom prst="roundRect">
            <a:avLst>
              <a:gd name="adj" fmla="val 5882"/>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17" name="Text 14"/>
          <p:cNvSpPr txBox="1"/>
          <p:nvPr/>
        </p:nvSpPr>
        <p:spPr>
          <a:xfrm>
            <a:off x="877802" y="3828192"/>
            <a:ext cx="1767796" cy="609585"/>
          </a:xfrm>
          <a:prstGeom prst="rect">
            <a:avLst/>
          </a:prstGeom>
          <a:noFill/>
          <a:ln/>
        </p:spPr>
        <p:txBody>
          <a:bodyPr wrap="square" lIns="0" tIns="0" rIns="0" bIns="0" rtlCol="0" anchor="ctr"/>
          <a:lstStyle/>
          <a:p>
            <a:pPr indent="0" marL="0">
              <a:buNone/>
            </a:pPr>
            <a:r>
              <a:rPr lang="en-US" sz="3467" b="1" dirty="0">
                <a:solidFill>
                  <a:srgbClr val="5B5BD6"/>
                </a:solidFill>
                <a:latin typeface="Calibri" pitchFamily="34" charset="0"/>
                <a:ea typeface="Calibri" pitchFamily="34" charset="-122"/>
                <a:cs typeface="Calibri" pitchFamily="34" charset="-120"/>
              </a:rPr>
              <a:t>98.09%</a:t>
            </a:r>
            <a:endParaRPr lang="en-US" sz="3467" dirty="0"/>
          </a:p>
        </p:txBody>
      </p:sp>
      <p:sp>
        <p:nvSpPr>
          <p:cNvPr id="18" name="Text 15"/>
          <p:cNvSpPr txBox="1"/>
          <p:nvPr/>
        </p:nvSpPr>
        <p:spPr>
          <a:xfrm>
            <a:off x="877802" y="4462160"/>
            <a:ext cx="1767796" cy="609585"/>
          </a:xfrm>
          <a:prstGeom prst="rect">
            <a:avLst/>
          </a:prstGeom>
          <a:noFill/>
          <a:ln/>
        </p:spPr>
        <p:txBody>
          <a:bodyPr wrap="square" lIns="0" tIns="0" rIns="0" bIns="0" rtlCol="0" anchor="t"/>
          <a:lstStyle/>
          <a:p>
            <a:pPr indent="0" marL="0">
              <a:buNone/>
            </a:pPr>
            <a:r>
              <a:rPr lang="en-US" sz="1333" b="1" dirty="0">
                <a:solidFill>
                  <a:srgbClr val="1A2332"/>
                </a:solidFill>
                <a:latin typeface="Calibri" pitchFamily="34" charset="0"/>
                <a:ea typeface="Calibri" pitchFamily="34" charset="-122"/>
                <a:cs typeface="Calibri" pitchFamily="34" charset="-120"/>
              </a:rPr>
              <a:t>Macro-F1 (supported classes)</a:t>
            </a:r>
            <a:endParaRPr lang="en-US" sz="1333" dirty="0"/>
          </a:p>
        </p:txBody>
      </p:sp>
      <p:sp>
        <p:nvSpPr>
          <p:cNvPr id="19" name="Text 16"/>
          <p:cNvSpPr txBox="1"/>
          <p:nvPr/>
        </p:nvSpPr>
        <p:spPr>
          <a:xfrm>
            <a:off x="2804090" y="3828192"/>
            <a:ext cx="2926007" cy="1292320"/>
          </a:xfrm>
          <a:prstGeom prst="rect">
            <a:avLst/>
          </a:prstGeom>
          <a:noFill/>
          <a:ln/>
        </p:spPr>
        <p:txBody>
          <a:bodyPr wrap="square" lIns="0" tIns="0" rIns="0" bIns="0" rtlCol="0" anchor="ctr"/>
          <a:lstStyle/>
          <a:p>
            <a:pPr indent="0" marL="0">
              <a:buNone/>
            </a:pPr>
            <a:r>
              <a:rPr lang="en-US" sz="1400" dirty="0">
                <a:solidFill>
                  <a:srgbClr val="5A6678"/>
                </a:solidFill>
                <a:latin typeface="Calibri" pitchFamily="34" charset="0"/>
                <a:ea typeface="Calibri" pitchFamily="34" charset="-122"/>
                <a:cs typeface="Calibri" pitchFamily="34" charset="-120"/>
              </a:rPr>
              <a:t>Averages per-class F1 (precision and recall together) with equal weight for every class, giving a class-level view of performance.</a:t>
            </a:r>
            <a:endParaRPr lang="en-US" sz="1400" dirty="0"/>
          </a:p>
        </p:txBody>
      </p:sp>
      <p:sp>
        <p:nvSpPr>
          <p:cNvPr id="20" name="Shape 17"/>
          <p:cNvSpPr/>
          <p:nvPr/>
        </p:nvSpPr>
        <p:spPr>
          <a:xfrm>
            <a:off x="6217765" y="3633125"/>
            <a:ext cx="5364346" cy="1658071"/>
          </a:xfrm>
          <a:prstGeom prst="roundRect">
            <a:avLst>
              <a:gd name="adj" fmla="val 5882"/>
            </a:avLst>
          </a:prstGeom>
          <a:solidFill>
            <a:srgbClr val="FFFFFF"/>
          </a:solidFill>
          <a:ln w="12700">
            <a:solidFill>
              <a:srgbClr val="D9E1EA"/>
            </a:solidFill>
            <a:prstDash val="solid"/>
          </a:ln>
          <a:effectLst>
            <a:outerShdw sx="100000" sy="100000" kx="0" ky="0" algn="bl" rotWithShape="0" blurRad="101597" dist="25399" dir="5400000">
              <a:srgbClr val="000000">
                <a:alpha val="10000"/>
              </a:srgbClr>
            </a:outerShdw>
          </a:effectLst>
        </p:spPr>
        <p:txBody>
          <a:bodyPr/>
          <a:p/>
        </p:txBody>
      </p:sp>
      <p:sp>
        <p:nvSpPr>
          <p:cNvPr id="21" name="Text 18"/>
          <p:cNvSpPr txBox="1"/>
          <p:nvPr/>
        </p:nvSpPr>
        <p:spPr>
          <a:xfrm>
            <a:off x="6485982" y="3828192"/>
            <a:ext cx="1767796" cy="609585"/>
          </a:xfrm>
          <a:prstGeom prst="rect">
            <a:avLst/>
          </a:prstGeom>
          <a:noFill/>
          <a:ln/>
        </p:spPr>
        <p:txBody>
          <a:bodyPr wrap="square" lIns="0" tIns="0" rIns="0" bIns="0" rtlCol="0" anchor="ctr"/>
          <a:lstStyle/>
          <a:p>
            <a:pPr indent="0" marL="0">
              <a:buNone/>
            </a:pPr>
            <a:r>
              <a:rPr lang="en-US" sz="3467" b="1" dirty="0">
                <a:solidFill>
                  <a:srgbClr val="2E9E5B"/>
                </a:solidFill>
                <a:latin typeface="Calibri" pitchFamily="34" charset="0"/>
                <a:ea typeface="Calibri" pitchFamily="34" charset="-122"/>
                <a:cs typeface="Calibri" pitchFamily="34" charset="-120"/>
              </a:rPr>
              <a:t>98.19%</a:t>
            </a:r>
            <a:endParaRPr lang="en-US" sz="3467" dirty="0"/>
          </a:p>
        </p:txBody>
      </p:sp>
      <p:sp>
        <p:nvSpPr>
          <p:cNvPr id="22" name="Text 19"/>
          <p:cNvSpPr txBox="1"/>
          <p:nvPr/>
        </p:nvSpPr>
        <p:spPr>
          <a:xfrm>
            <a:off x="6485982" y="4462160"/>
            <a:ext cx="1767796" cy="609585"/>
          </a:xfrm>
          <a:prstGeom prst="rect">
            <a:avLst/>
          </a:prstGeom>
          <a:noFill/>
          <a:ln/>
        </p:spPr>
        <p:txBody>
          <a:bodyPr wrap="square" lIns="0" tIns="0" rIns="0" bIns="0" rtlCol="0" anchor="t"/>
          <a:lstStyle/>
          <a:p>
            <a:pPr indent="0" marL="0">
              <a:buNone/>
            </a:pPr>
            <a:r>
              <a:rPr lang="en-US" sz="1333" b="1" dirty="0">
                <a:solidFill>
                  <a:srgbClr val="1A2332"/>
                </a:solidFill>
                <a:latin typeface="Calibri" pitchFamily="34" charset="0"/>
                <a:ea typeface="Calibri" pitchFamily="34" charset="-122"/>
                <a:cs typeface="Calibri" pitchFamily="34" charset="-120"/>
              </a:rPr>
              <a:t>Balanced Accuracy (supported classes)</a:t>
            </a:r>
            <a:endParaRPr lang="en-US" sz="1333" dirty="0"/>
          </a:p>
        </p:txBody>
      </p:sp>
      <p:sp>
        <p:nvSpPr>
          <p:cNvPr id="23" name="Text 20"/>
          <p:cNvSpPr txBox="1"/>
          <p:nvPr/>
        </p:nvSpPr>
        <p:spPr>
          <a:xfrm>
            <a:off x="8412270" y="3828192"/>
            <a:ext cx="2926007" cy="1292320"/>
          </a:xfrm>
          <a:prstGeom prst="rect">
            <a:avLst/>
          </a:prstGeom>
          <a:noFill/>
          <a:ln/>
        </p:spPr>
        <p:txBody>
          <a:bodyPr wrap="square" lIns="0" tIns="0" rIns="0" bIns="0" rtlCol="0" anchor="ctr"/>
          <a:lstStyle/>
          <a:p>
            <a:pPr indent="0" marL="0">
              <a:buNone/>
            </a:pPr>
            <a:r>
              <a:rPr lang="en-US" sz="1400" dirty="0">
                <a:solidFill>
                  <a:srgbClr val="5A6678"/>
                </a:solidFill>
                <a:latin typeface="Calibri" pitchFamily="34" charset="0"/>
                <a:ea typeface="Calibri" pitchFamily="34" charset="-122"/>
                <a:cs typeface="Calibri" pitchFamily="34" charset="-120"/>
              </a:rPr>
              <a:t>Mean of per-class recall, an additional measure that accounts for class-level performance across all 262 represented classes.</a:t>
            </a:r>
            <a:endParaRPr lang="en-US" sz="1400" dirty="0"/>
          </a:p>
        </p:txBody>
      </p:sp>
      <p:sp>
        <p:nvSpPr>
          <p:cNvPr id="24" name="Shape 21"/>
          <p:cNvSpPr/>
          <p:nvPr/>
        </p:nvSpPr>
        <p:spPr>
          <a:xfrm>
            <a:off x="609585" y="5486263"/>
            <a:ext cx="10972526" cy="731502"/>
          </a:xfrm>
          <a:prstGeom prst="roundRect">
            <a:avLst>
              <a:gd name="adj" fmla="val 13333"/>
            </a:avLst>
          </a:prstGeom>
          <a:solidFill>
            <a:srgbClr val="F2F5F9"/>
          </a:solidFill>
          <a:ln w="12700">
            <a:solidFill>
              <a:srgbClr val="D9E1EA"/>
            </a:solidFill>
            <a:prstDash val="solid"/>
          </a:ln>
        </p:spPr>
        <p:txBody>
          <a:bodyPr/>
          <a:p/>
        </p:txBody>
      </p:sp>
      <p:sp>
        <p:nvSpPr>
          <p:cNvPr id="25" name="Text 22"/>
          <p:cNvSpPr txBox="1"/>
          <p:nvPr/>
        </p:nvSpPr>
        <p:spPr>
          <a:xfrm>
            <a:off x="877802" y="5486263"/>
            <a:ext cx="10484858" cy="731502"/>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Scope:  </a:t>
            </a:r>
            <a:pPr indent="0" marL="0">
              <a:buNone/>
            </a:pPr>
            <a:r>
              <a:rPr lang="en-US" sz="1400" dirty="0">
                <a:solidFill>
                  <a:srgbClr val="5A6678"/>
                </a:solidFill>
                <a:latin typeface="Calibri" pitchFamily="34" charset="0"/>
                <a:ea typeface="Calibri" pitchFamily="34" charset="-122"/>
                <a:cs typeface="Calibri" pitchFamily="34" charset="-120"/>
              </a:rPr>
              <a:t>measured on the locked INCLUDE test split (816 samples, 262 / 262 classes) with the epoch-38 EMA checkpoint. Live webcam use is not evaluated here.</a:t>
            </a:r>
            <a:endParaRPr lang="en-US" sz="14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1B2D"/>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3255264" cy="316984"/>
          </a:xfrm>
          <a:prstGeom prst="roundRect">
            <a:avLst>
              <a:gd name="adj" fmla="val 50000"/>
            </a:avLst>
          </a:prstGeom>
          <a:solidFill>
            <a:srgbClr val="1A2A42"/>
          </a:solidFill>
          <a:ln w="9525">
            <a:solidFill>
              <a:srgbClr val="1A2A4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3255264" cy="316984"/>
          </a:xfrm>
          <a:prstGeom prst="rect">
            <a:avLst/>
          </a:prstGeom>
          <a:noFill/>
        </p:spPr>
        <p:txBody>
          <a:bodyPr wrap="square" lIns="0" rIns="0" tIns="0" bIns="0" anchor="ctr">
            <a:spAutoFit/>
          </a:bodyPr>
          <a:lstStyle/>
          <a:p>
            <a:pPr algn="ctr"/>
            <a:r>
              <a:rPr sz="1133" b="1" i="0">
                <a:solidFill>
                  <a:srgbClr val="0E9AA7"/>
                </a:solidFill>
                <a:latin typeface="Calibri"/>
              </a:rPr>
              <a:t>15  ·  COMPARISON WITH EXISTING WORK</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FFFFFF"/>
                </a:solidFill>
                <a:latin typeface="Cambria"/>
              </a:rPr>
              <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9AA8BC"/>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9AA8BC"/>
                </a:solidFill>
                <a:latin typeface="Calibri"/>
              </a:rPr>
              <a:t>22</a:t>
            </a:r>
          </a:p>
        </p:txBody>
      </p:sp>
      <p:sp>
        <p:nvSpPr>
          <p:cNvPr id="8" name="TextBox 7"/>
          <p:cNvSpPr txBox="1"/>
          <p:nvPr/>
        </p:nvSpPr>
        <p:spPr>
          <a:xfrm>
            <a:off x="1378000" y="1600200"/>
            <a:ext cx="9418320" cy="1371600"/>
          </a:xfrm>
          <a:prstGeom prst="rect">
            <a:avLst/>
          </a:prstGeom>
          <a:noFill/>
        </p:spPr>
        <p:txBody>
          <a:bodyPr wrap="square" lIns="0" rIns="0" tIns="0" bIns="0" anchor="t">
            <a:spAutoFit/>
          </a:bodyPr>
          <a:lstStyle/>
          <a:p>
            <a:pPr algn="l"/>
            <a:r>
              <a:rPr sz="3600" b="1" i="0">
                <a:solidFill>
                  <a:srgbClr val="FFFFFF"/>
                </a:solidFill>
                <a:latin typeface="Cambria"/>
              </a:rPr>
              <a:t>Comparison with Existing Work,</a:t>
            </a:r>
          </a:p>
          <a:p>
            <a:pPr algn="l"/>
            <a:r>
              <a:rPr sz="3600" b="1" i="0">
                <a:solidFill>
                  <a:srgbClr val="FFFFFF"/>
                </a:solidFill>
                <a:latin typeface="Cambria"/>
              </a:rPr>
              <a:t>Research Gap and Novelty</a:t>
            </a:r>
          </a:p>
        </p:txBody>
      </p:sp>
      <p:sp>
        <p:nvSpPr>
          <p:cNvPr id="9" name="TextBox 8"/>
          <p:cNvSpPr txBox="1"/>
          <p:nvPr/>
        </p:nvSpPr>
        <p:spPr>
          <a:xfrm>
            <a:off x="1378000" y="3017520"/>
            <a:ext cx="9144000" cy="731520"/>
          </a:xfrm>
          <a:prstGeom prst="rect">
            <a:avLst/>
          </a:prstGeom>
          <a:noFill/>
        </p:spPr>
        <p:txBody>
          <a:bodyPr wrap="square" lIns="0" rIns="0" tIns="0" bIns="0" anchor="t">
            <a:spAutoFit/>
          </a:bodyPr>
          <a:lstStyle/>
          <a:p>
            <a:pPr algn="l">
              <a:spcAft>
                <a:spcPts val="400"/>
              </a:spcAft>
            </a:pPr>
            <a:r>
              <a:rPr sz="1600" b="0" i="0">
                <a:solidFill>
                  <a:srgbClr val="C3CEDD"/>
                </a:solidFill>
                <a:latin typeface="Calibri"/>
              </a:rPr>
              <a:t>Five verified reference works  ·  claims limited to what each paper reports</a:t>
            </a:r>
          </a:p>
          <a:p>
            <a:pPr algn="l">
              <a:spcAft>
                <a:spcPts val="400"/>
              </a:spcAft>
            </a:pPr>
            <a:r>
              <a:rPr sz="1300" b="0" i="0">
                <a:solidFill>
                  <a:srgbClr val="9AA8BC"/>
                </a:solidFill>
                <a:latin typeface="Calibri"/>
              </a:rPr>
              <a:t>Our experiments use INCLUDE only. WLASL, LSA64, MSASL and PHOENIX14T appear here only because the reviewed papers use them.</a:t>
            </a:r>
          </a:p>
        </p:txBody>
      </p:sp>
      <p:sp>
        <p:nvSpPr>
          <p:cNvPr id="10" name="Rounded Rectangle 9"/>
          <p:cNvSpPr/>
          <p:nvPr/>
        </p:nvSpPr>
        <p:spPr>
          <a:xfrm>
            <a:off x="609585" y="4343400"/>
            <a:ext cx="2048201" cy="1051560"/>
          </a:xfrm>
          <a:prstGeom prst="roundRect">
            <a:avLst>
              <a:gd name="adj" fmla="val 10000"/>
            </a:avLst>
          </a:prstGeom>
          <a:solidFill>
            <a:srgbClr val="1A2A42"/>
          </a:solidFill>
          <a:ln w="9525">
            <a:solidFill>
              <a:srgbClr val="2A3C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4177" y="4453128"/>
            <a:ext cx="1719017" cy="868680"/>
          </a:xfrm>
          <a:prstGeom prst="rect">
            <a:avLst/>
          </a:prstGeom>
          <a:noFill/>
        </p:spPr>
        <p:txBody>
          <a:bodyPr wrap="square" lIns="0" rIns="0" tIns="0" bIns="0" anchor="t">
            <a:spAutoFit/>
          </a:bodyPr>
          <a:lstStyle/>
          <a:p>
            <a:pPr algn="l">
              <a:spcAft>
                <a:spcPts val="100"/>
              </a:spcAft>
            </a:pPr>
            <a:r>
              <a:rPr sz="1200" b="1" i="0">
                <a:solidFill>
                  <a:srgbClr val="0E9AA7"/>
                </a:solidFill>
                <a:latin typeface="Calibri"/>
              </a:rPr>
              <a:t>[1]</a:t>
            </a:r>
          </a:p>
          <a:p>
            <a:pPr algn="l">
              <a:spcAft>
                <a:spcPts val="100"/>
              </a:spcAft>
            </a:pPr>
            <a:r>
              <a:rPr sz="1350" b="1" i="0">
                <a:solidFill>
                  <a:srgbClr val="FFFFFF"/>
                </a:solidFill>
                <a:latin typeface="Calibri"/>
              </a:rPr>
              <a:t>INCLUDE</a:t>
            </a:r>
          </a:p>
          <a:p>
            <a:pPr algn="l">
              <a:spcAft>
                <a:spcPts val="100"/>
              </a:spcAft>
            </a:pPr>
            <a:r>
              <a:rPr sz="1100" b="0" i="0">
                <a:solidFill>
                  <a:srgbClr val="9AA8BC"/>
                </a:solidFill>
                <a:latin typeface="Calibri"/>
              </a:rPr>
              <a:t>ACM MM 2020</a:t>
            </a:r>
          </a:p>
        </p:txBody>
      </p:sp>
      <p:sp>
        <p:nvSpPr>
          <p:cNvPr id="12" name="Rounded Rectangle 11"/>
          <p:cNvSpPr/>
          <p:nvPr/>
        </p:nvSpPr>
        <p:spPr>
          <a:xfrm>
            <a:off x="2840666" y="4343400"/>
            <a:ext cx="2048201" cy="1051560"/>
          </a:xfrm>
          <a:prstGeom prst="roundRect">
            <a:avLst>
              <a:gd name="adj" fmla="val 10000"/>
            </a:avLst>
          </a:prstGeom>
          <a:solidFill>
            <a:srgbClr val="1A2A42"/>
          </a:solidFill>
          <a:ln w="9525">
            <a:solidFill>
              <a:srgbClr val="2A3C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5258" y="4453128"/>
            <a:ext cx="1719017" cy="868680"/>
          </a:xfrm>
          <a:prstGeom prst="rect">
            <a:avLst/>
          </a:prstGeom>
          <a:noFill/>
        </p:spPr>
        <p:txBody>
          <a:bodyPr wrap="square" lIns="0" rIns="0" tIns="0" bIns="0" anchor="t">
            <a:spAutoFit/>
          </a:bodyPr>
          <a:lstStyle/>
          <a:p>
            <a:pPr algn="l">
              <a:spcAft>
                <a:spcPts val="100"/>
              </a:spcAft>
            </a:pPr>
            <a:r>
              <a:rPr sz="1200" b="1" i="0">
                <a:solidFill>
                  <a:srgbClr val="0E9AA7"/>
                </a:solidFill>
                <a:latin typeface="Calibri"/>
              </a:rPr>
              <a:t>[2]</a:t>
            </a:r>
          </a:p>
          <a:p>
            <a:pPr algn="l">
              <a:spcAft>
                <a:spcPts val="100"/>
              </a:spcAft>
            </a:pPr>
            <a:r>
              <a:rPr sz="1350" b="1" i="0">
                <a:solidFill>
                  <a:srgbClr val="FFFFFF"/>
                </a:solidFill>
                <a:latin typeface="Calibri"/>
              </a:rPr>
              <a:t>SPOTER</a:t>
            </a:r>
          </a:p>
          <a:p>
            <a:pPr algn="l">
              <a:spcAft>
                <a:spcPts val="100"/>
              </a:spcAft>
            </a:pPr>
            <a:r>
              <a:rPr sz="1100" b="0" i="0">
                <a:solidFill>
                  <a:srgbClr val="9AA8BC"/>
                </a:solidFill>
                <a:latin typeface="Calibri"/>
              </a:rPr>
              <a:t>WACV-W 2022</a:t>
            </a:r>
          </a:p>
        </p:txBody>
      </p:sp>
      <p:sp>
        <p:nvSpPr>
          <p:cNvPr id="14" name="Rounded Rectangle 13"/>
          <p:cNvSpPr/>
          <p:nvPr/>
        </p:nvSpPr>
        <p:spPr>
          <a:xfrm>
            <a:off x="5071747" y="4343400"/>
            <a:ext cx="2048201" cy="1051560"/>
          </a:xfrm>
          <a:prstGeom prst="roundRect">
            <a:avLst>
              <a:gd name="adj" fmla="val 10000"/>
            </a:avLst>
          </a:prstGeom>
          <a:solidFill>
            <a:srgbClr val="1A2A42"/>
          </a:solidFill>
          <a:ln w="9525">
            <a:solidFill>
              <a:srgbClr val="2A3C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36339" y="4453128"/>
            <a:ext cx="1719017" cy="868680"/>
          </a:xfrm>
          <a:prstGeom prst="rect">
            <a:avLst/>
          </a:prstGeom>
          <a:noFill/>
        </p:spPr>
        <p:txBody>
          <a:bodyPr wrap="square" lIns="0" rIns="0" tIns="0" bIns="0" anchor="t">
            <a:spAutoFit/>
          </a:bodyPr>
          <a:lstStyle/>
          <a:p>
            <a:pPr algn="l">
              <a:spcAft>
                <a:spcPts val="100"/>
              </a:spcAft>
            </a:pPr>
            <a:r>
              <a:rPr sz="1200" b="1" i="0">
                <a:solidFill>
                  <a:srgbClr val="0E9AA7"/>
                </a:solidFill>
                <a:latin typeface="Calibri"/>
              </a:rPr>
              <a:t>[3]</a:t>
            </a:r>
          </a:p>
          <a:p>
            <a:pPr algn="l">
              <a:spcAft>
                <a:spcPts val="100"/>
              </a:spcAft>
            </a:pPr>
            <a:r>
              <a:rPr sz="1350" b="1" i="0">
                <a:solidFill>
                  <a:srgbClr val="FFFFFF"/>
                </a:solidFill>
                <a:latin typeface="Calibri"/>
              </a:rPr>
              <a:t>SignBERT</a:t>
            </a:r>
          </a:p>
          <a:p>
            <a:pPr algn="l">
              <a:spcAft>
                <a:spcPts val="100"/>
              </a:spcAft>
            </a:pPr>
            <a:r>
              <a:rPr sz="1100" b="0" i="0">
                <a:solidFill>
                  <a:srgbClr val="9AA8BC"/>
                </a:solidFill>
                <a:latin typeface="Calibri"/>
              </a:rPr>
              <a:t>ICCV 2021</a:t>
            </a:r>
          </a:p>
        </p:txBody>
      </p:sp>
      <p:sp>
        <p:nvSpPr>
          <p:cNvPr id="16" name="Rounded Rectangle 15"/>
          <p:cNvSpPr/>
          <p:nvPr/>
        </p:nvSpPr>
        <p:spPr>
          <a:xfrm>
            <a:off x="7302828" y="4343400"/>
            <a:ext cx="2048201" cy="1051560"/>
          </a:xfrm>
          <a:prstGeom prst="roundRect">
            <a:avLst>
              <a:gd name="adj" fmla="val 10000"/>
            </a:avLst>
          </a:prstGeom>
          <a:solidFill>
            <a:srgbClr val="1A2A42"/>
          </a:solidFill>
          <a:ln w="9525">
            <a:solidFill>
              <a:srgbClr val="2A3C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7420" y="4453128"/>
            <a:ext cx="1719017" cy="868680"/>
          </a:xfrm>
          <a:prstGeom prst="rect">
            <a:avLst/>
          </a:prstGeom>
          <a:noFill/>
        </p:spPr>
        <p:txBody>
          <a:bodyPr wrap="square" lIns="0" rIns="0" tIns="0" bIns="0" anchor="t">
            <a:spAutoFit/>
          </a:bodyPr>
          <a:lstStyle/>
          <a:p>
            <a:pPr algn="l">
              <a:spcAft>
                <a:spcPts val="100"/>
              </a:spcAft>
            </a:pPr>
            <a:r>
              <a:rPr sz="1200" b="1" i="0">
                <a:solidFill>
                  <a:srgbClr val="0E9AA7"/>
                </a:solidFill>
                <a:latin typeface="Calibri"/>
              </a:rPr>
              <a:t>[4]</a:t>
            </a:r>
          </a:p>
          <a:p>
            <a:pPr algn="l">
              <a:spcAft>
                <a:spcPts val="100"/>
              </a:spcAft>
            </a:pPr>
            <a:r>
              <a:rPr sz="1350" b="1" i="0">
                <a:solidFill>
                  <a:srgbClr val="FFFFFF"/>
                </a:solidFill>
                <a:latin typeface="Calibri"/>
              </a:rPr>
              <a:t>WLASL: I3D and Pose-TGCN</a:t>
            </a:r>
          </a:p>
          <a:p>
            <a:pPr algn="l">
              <a:spcAft>
                <a:spcPts val="100"/>
              </a:spcAft>
            </a:pPr>
            <a:r>
              <a:rPr sz="1100" b="0" i="0">
                <a:solidFill>
                  <a:srgbClr val="9AA8BC"/>
                </a:solidFill>
                <a:latin typeface="Calibri"/>
              </a:rPr>
              <a:t>WACV 2020</a:t>
            </a:r>
          </a:p>
        </p:txBody>
      </p:sp>
      <p:sp>
        <p:nvSpPr>
          <p:cNvPr id="18" name="Rounded Rectangle 17"/>
          <p:cNvSpPr/>
          <p:nvPr/>
        </p:nvSpPr>
        <p:spPr>
          <a:xfrm>
            <a:off x="9533909" y="4343400"/>
            <a:ext cx="2048201" cy="1051560"/>
          </a:xfrm>
          <a:prstGeom prst="roundRect">
            <a:avLst>
              <a:gd name="adj" fmla="val 10000"/>
            </a:avLst>
          </a:prstGeom>
          <a:solidFill>
            <a:srgbClr val="1A2A42"/>
          </a:solidFill>
          <a:ln w="9525">
            <a:solidFill>
              <a:srgbClr val="2A3C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8501" y="4453128"/>
            <a:ext cx="1719017" cy="868680"/>
          </a:xfrm>
          <a:prstGeom prst="rect">
            <a:avLst/>
          </a:prstGeom>
          <a:noFill/>
        </p:spPr>
        <p:txBody>
          <a:bodyPr wrap="square" lIns="0" rIns="0" tIns="0" bIns="0" anchor="t">
            <a:spAutoFit/>
          </a:bodyPr>
          <a:lstStyle/>
          <a:p>
            <a:pPr algn="l">
              <a:spcAft>
                <a:spcPts val="100"/>
              </a:spcAft>
            </a:pPr>
            <a:r>
              <a:rPr sz="1200" b="1" i="0">
                <a:solidFill>
                  <a:srgbClr val="0E9AA7"/>
                </a:solidFill>
                <a:latin typeface="Calibri"/>
              </a:rPr>
              <a:t>[5]</a:t>
            </a:r>
          </a:p>
          <a:p>
            <a:pPr algn="l">
              <a:spcAft>
                <a:spcPts val="100"/>
              </a:spcAft>
            </a:pPr>
            <a:r>
              <a:rPr sz="1350" b="1" i="0">
                <a:solidFill>
                  <a:srgbClr val="FFFFFF"/>
                </a:solidFill>
                <a:latin typeface="Calibri"/>
              </a:rPr>
              <a:t>Sign Language Transformers</a:t>
            </a:r>
          </a:p>
          <a:p>
            <a:pPr algn="l">
              <a:spcAft>
                <a:spcPts val="100"/>
              </a:spcAft>
            </a:pPr>
            <a:r>
              <a:rPr sz="1100" b="0" i="0">
                <a:solidFill>
                  <a:srgbClr val="9AA8BC"/>
                </a:solidFill>
                <a:latin typeface="Calibri"/>
              </a:rPr>
              <a:t>CVPR 2020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2478024"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2478024" cy="316984"/>
          </a:xfrm>
          <a:prstGeom prst="rect">
            <a:avLst/>
          </a:prstGeom>
          <a:noFill/>
        </p:spPr>
        <p:txBody>
          <a:bodyPr wrap="square" lIns="0" rIns="0" tIns="0" bIns="0" anchor="ctr">
            <a:spAutoFit/>
          </a:bodyPr>
          <a:lstStyle/>
          <a:p>
            <a:pPr algn="ctr"/>
            <a:r>
              <a:rPr sz="1133" b="1" i="0">
                <a:solidFill>
                  <a:srgbClr val="0E9AA7"/>
                </a:solidFill>
                <a:latin typeface="Calibri"/>
              </a:rPr>
              <a:t>15  ·  VERIFIED LITERATURE</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Verified Research Papers: Bibliographic Record</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23</a:t>
            </a:r>
          </a:p>
        </p:txBody>
      </p:sp>
      <p:graphicFrame>
        <p:nvGraphicFramePr>
          <p:cNvPr id="8" name="Table 7"/>
          <p:cNvGraphicFramePr>
            <a:graphicFrameLocks noGrp="1"/>
          </p:cNvGraphicFramePr>
          <p:nvPr/>
        </p:nvGraphicFramePr>
        <p:xfrm>
          <a:off x="609585" y="1572768"/>
          <a:ext cx="10972526" cy="3767328"/>
        </p:xfrm>
        <a:graphic>
          <a:graphicData uri="http://schemas.openxmlformats.org/drawingml/2006/table">
            <a:tbl>
              <a:tblPr/>
              <a:tblGrid>
                <a:gridCol w="457200"/>
                <a:gridCol w="3246120"/>
                <a:gridCol w="2011680"/>
                <a:gridCol w="1828800"/>
                <a:gridCol w="2240280"/>
                <a:gridCol w="1188446"/>
              </a:tblGrid>
              <a:tr h="384048">
                <a:tc>
                  <a:txBody>
                    <a:bodyPr wrap="square"/>
                    <a:lstStyle/>
                    <a:p>
                      <a:r>
                        <a:rPr sz="1100" b="1" i="0">
                          <a:solidFill>
                            <a:srgbClr val="FFFFFF"/>
                          </a:solidFill>
                          <a:latin typeface="Calibri"/>
                        </a:rPr>
                        <a: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Title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Authors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Venue · Year · Pages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DOI</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arXiv</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676656">
                <a:tc>
                  <a:txBody>
                    <a:bodyPr wrap="square"/>
                    <a:lstStyle/>
                    <a:p>
                      <a:r>
                        <a:rPr sz="1050" b="1" i="0">
                          <a:solidFill>
                            <a:srgbClr val="1A2332"/>
                          </a:solidFill>
                          <a:latin typeface="Calibri"/>
                        </a:rPr>
                        <a:t>[1]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INCLUDE: A Large Scale Dataset for Indian Sign Language Recognition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A. Sridhar, R. G. Ganesan, P. Kumar, M. Khapra</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ACM Multimedia (MM '20) · 2020 · 1366–1375</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0E9AA7"/>
                          </a:solidFill>
                          <a:latin typeface="Calibri"/>
                        </a:rPr>
                        <a:t>10.1145/3394171.3413528</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Not located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76656">
                <a:tc>
                  <a:txBody>
                    <a:bodyPr wrap="square"/>
                    <a:lstStyle/>
                    <a:p>
                      <a:r>
                        <a:rPr sz="1050" b="1" i="0">
                          <a:solidFill>
                            <a:srgbClr val="1A2332"/>
                          </a:solidFill>
                          <a:latin typeface="Calibri"/>
                        </a:rPr>
                        <a:t>[2]</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Sign Pose-based Transformer for Word-level Sign Language Recognition (SPOTER)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M. Boháček, M. Hrúz</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IEEE/CVF WACV Workshops · 2022 · 182–191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0E9AA7"/>
                          </a:solidFill>
                          <a:latin typeface="Calibri"/>
                        </a:rPr>
                        <a:t>10.1109/WACVW54805.2022.00024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Not located (CVF open-access copy)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676656">
                <a:tc>
                  <a:txBody>
                    <a:bodyPr wrap="square"/>
                    <a:lstStyle/>
                    <a:p>
                      <a:r>
                        <a:rPr sz="1050" b="1" i="0">
                          <a:solidFill>
                            <a:srgbClr val="1A2332"/>
                          </a:solidFill>
                          <a:latin typeface="Calibri"/>
                        </a:rPr>
                        <a:t>[3]</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SignBERT: Pre-Training of Hand-Model-Aware Representation for Sign Language Recognition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H. Hu, W. Zhao, W. Zhou, Y. Wang, H. Li</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IEEE/CVF ICCV · 2021 · 11087–11096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0E9AA7"/>
                          </a:solidFill>
                          <a:latin typeface="Calibri"/>
                        </a:rPr>
                        <a:t>10.1109/ICCV48922.2021.01090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2110.05382</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76656">
                <a:tc>
                  <a:txBody>
                    <a:bodyPr wrap="square"/>
                    <a:lstStyle/>
                    <a:p>
                      <a:r>
                        <a:rPr sz="1050" b="1" i="0">
                          <a:solidFill>
                            <a:srgbClr val="1A2332"/>
                          </a:solidFill>
                          <a:latin typeface="Calibri"/>
                        </a:rPr>
                        <a:t>[4]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Word-level Deep Sign Language Recognition from Video: A New Large-scale Dataset and Methods Comparison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D. Li, C. Rodriguez Opazo, X. Yu, H. Li</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IEEE WACV · 2020 · 1459–1469</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0E9AA7"/>
                          </a:solidFill>
                          <a:latin typeface="Calibri"/>
                        </a:rPr>
                        <a:t>10.1109/WACV45572.2020.9093512</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1910.11006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676656">
                <a:tc>
                  <a:txBody>
                    <a:bodyPr wrap="square"/>
                    <a:lstStyle/>
                    <a:p>
                      <a:r>
                        <a:rPr sz="1050" b="1" i="0">
                          <a:solidFill>
                            <a:srgbClr val="1A2332"/>
                          </a:solidFill>
                          <a:latin typeface="Calibri"/>
                        </a:rPr>
                        <a:t>[5]</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Sign Language Transformers: Joint End-to-end Sign Language Recognition and Translation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N. C. Camgöz, O. Koller, S. Hadfield, R. Bowden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IEEE/CVF CVPR · 2020 · 10023–10033</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0E9AA7"/>
                          </a:solidFill>
                          <a:latin typeface="Calibri"/>
                        </a:rPr>
                        <a:t>10.1109/CVPR42600.2020.01004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2003.13830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bl>
          </a:graphicData>
        </a:graphic>
      </p:graphicFrame>
      <p:sp>
        <p:nvSpPr>
          <p:cNvPr id="9" name="TextBox 8"/>
          <p:cNvSpPr txBox="1"/>
          <p:nvPr/>
        </p:nvSpPr>
        <p:spPr>
          <a:xfrm>
            <a:off x="609585" y="5477256"/>
            <a:ext cx="10972526" cy="310896"/>
          </a:xfrm>
          <a:prstGeom prst="rect">
            <a:avLst/>
          </a:prstGeom>
          <a:noFill/>
        </p:spPr>
        <p:txBody>
          <a:bodyPr wrap="square" lIns="0" rIns="0" tIns="0" bIns="0" anchor="t">
            <a:spAutoFit/>
          </a:bodyPr>
          <a:lstStyle/>
          <a:p>
            <a:pPr algn="l"/>
            <a:r>
              <a:rPr sz="1100" b="0" i="1">
                <a:solidFill>
                  <a:srgbClr val="5A6678"/>
                </a:solidFill>
                <a:latin typeface="Calibri"/>
              </a:rPr>
              <a:t>Official publisher URL for each paper: https://doi.org/&lt;DOI&gt;.  Page ranges follow the ACM/CVF versions; IEEE Xplore pagination differs slightly for [3]–[5].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2478024"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2478024" cy="316984"/>
          </a:xfrm>
          <a:prstGeom prst="rect">
            <a:avLst/>
          </a:prstGeom>
          <a:noFill/>
        </p:spPr>
        <p:txBody>
          <a:bodyPr wrap="square" lIns="0" rIns="0" tIns="0" bIns="0" anchor="ctr">
            <a:spAutoFit/>
          </a:bodyPr>
          <a:lstStyle/>
          <a:p>
            <a:pPr algn="ctr"/>
            <a:r>
              <a:rPr sz="1133" b="1" i="0">
                <a:solidFill>
                  <a:srgbClr val="0E9AA7"/>
                </a:solidFill>
                <a:latin typeface="Calibri"/>
              </a:rPr>
              <a:t>15  ·  VERIFIED LITERATURE</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Verified Research Papers: Experimental Setting</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24</a:t>
            </a:r>
          </a:p>
        </p:txBody>
      </p:sp>
      <p:graphicFrame>
        <p:nvGraphicFramePr>
          <p:cNvPr id="8" name="Table 7"/>
          <p:cNvGraphicFramePr>
            <a:graphicFrameLocks noGrp="1"/>
          </p:cNvGraphicFramePr>
          <p:nvPr/>
        </p:nvGraphicFramePr>
        <p:xfrm>
          <a:off x="609585" y="1572768"/>
          <a:ext cx="10972526" cy="3767328"/>
        </p:xfrm>
        <a:graphic>
          <a:graphicData uri="http://schemas.openxmlformats.org/drawingml/2006/table">
            <a:tbl>
              <a:tblPr/>
              <a:tblGrid>
                <a:gridCol w="1417320"/>
                <a:gridCol w="1554480"/>
                <a:gridCol w="1097280"/>
                <a:gridCol w="1188720"/>
                <a:gridCol w="868680"/>
                <a:gridCol w="1600200"/>
                <a:gridCol w="1188720"/>
                <a:gridCol w="2057126"/>
              </a:tblGrid>
              <a:tr h="384048">
                <a:tc>
                  <a:txBody>
                    <a:bodyPr wrap="square"/>
                    <a:lstStyle/>
                    <a:p>
                      <a:r>
                        <a:rPr sz="1100" b="1" i="0">
                          <a:solidFill>
                            <a:srgbClr val="FFFFFF"/>
                          </a:solidFill>
                          <a:latin typeface="Calibri"/>
                        </a:rPr>
                        <a:t>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Dataset(s)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Sign language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Classes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Task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Input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Metric</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Reported performance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676656">
                <a:tc>
                  <a:txBody>
                    <a:bodyPr wrap="square"/>
                    <a:lstStyle/>
                    <a:p>
                      <a:r>
                        <a:rPr sz="1050" b="1" i="0">
                          <a:solidFill>
                            <a:srgbClr val="1A2332"/>
                          </a:solidFill>
                          <a:latin typeface="Calibri"/>
                        </a:rPr>
                        <a:t>[1] INCLUDE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INCLUDE; INCLUDE-50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Indian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263; 50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RGB video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Accuracy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85.6% (INCLUDE); 94.5% (INCLUDE-50)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76656">
                <a:tc>
                  <a:txBody>
                    <a:bodyPr wrap="square"/>
                    <a:lstStyle/>
                    <a:p>
                      <a:r>
                        <a:rPr sz="1050" b="1" i="0">
                          <a:solidFill>
                            <a:srgbClr val="1A2332"/>
                          </a:solidFill>
                          <a:latin typeface="Calibri"/>
                        </a:rPr>
                        <a:t>[2] SPOTER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WLASL100, WLASL300; LSA64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American; Argentinian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100, 300; 64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2D body, head and hand pose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Top-1 macro accuracy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63.18%; 43.78%; 100%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676656">
                <a:tc>
                  <a:txBody>
                    <a:bodyPr wrap="square"/>
                    <a:lstStyle/>
                    <a:p>
                      <a:r>
                        <a:rPr sz="1050" b="1" i="0">
                          <a:solidFill>
                            <a:srgbClr val="1A2332"/>
                          </a:solidFill>
                          <a:latin typeface="Calibri"/>
                        </a:rPr>
                        <a:t>[3] SignBERT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NMFs-CSL; SLR500; MSASL;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Chinese; American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1,067; 500; 1,000; 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Hand pose (+ RGB or full pose, late fusion)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Top-1/5, per-instance &amp; per-class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WLASL2000 Top-1 (P-I): 39.40% hands; 54.69% hands + RGB</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76656">
                <a:tc>
                  <a:txBody>
                    <a:bodyPr wrap="square"/>
                    <a:lstStyle/>
                    <a:p>
                      <a:r>
                        <a:rPr sz="1050" b="1" i="0">
                          <a:solidFill>
                            <a:srgbClr val="1A2332"/>
                          </a:solidFill>
                          <a:latin typeface="Calibri"/>
                        </a:rPr>
                        <a:t>[4] Li et al.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WLASL100 – WLASL2000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American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100 – 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RGB (I3D, VGG) or pose (OpenPose), separately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Top-1/5/10 accuracy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I3D 65.89% / 32.48%; Pose-TGCN 55.43% / 23.65% (100 / 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676656">
                <a:tc>
                  <a:txBody>
                    <a:bodyPr wrap="square"/>
                    <a:lstStyle/>
                    <a:p>
                      <a:r>
                        <a:rPr sz="1050" b="1" i="0">
                          <a:solidFill>
                            <a:srgbClr val="1A2332"/>
                          </a:solidFill>
                          <a:latin typeface="Calibri"/>
                        </a:rPr>
                        <a:t>[5] Camgöz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PHOENIX14T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German (DGS)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1,066 signs; 2,887 German words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Continuous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RGB frames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WER; BLEU-1…4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Test WER 24.49; BLEU-4 21.80 (best recognition model)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bl>
          </a:graphicData>
        </a:graphic>
      </p:graphicFrame>
      <p:sp>
        <p:nvSpPr>
          <p:cNvPr id="9" name="TextBox 8"/>
          <p:cNvSpPr txBox="1"/>
          <p:nvPr/>
        </p:nvSpPr>
        <p:spPr>
          <a:xfrm>
            <a:off x="609585" y="5477256"/>
            <a:ext cx="10972526" cy="274320"/>
          </a:xfrm>
          <a:prstGeom prst="rect">
            <a:avLst/>
          </a:prstGeom>
          <a:noFill/>
        </p:spPr>
        <p:txBody>
          <a:bodyPr wrap="square" lIns="0" rIns="0" tIns="0" bIns="0" anchor="t">
            <a:spAutoFit/>
          </a:bodyPr>
          <a:lstStyle/>
          <a:p>
            <a:pPr algn="l"/>
            <a:r>
              <a:rPr sz="1100" b="0" i="1">
                <a:solidFill>
                  <a:srgbClr val="5A6678"/>
                </a:solidFill>
                <a:latin typeface="Calibri"/>
              </a:rPr>
              <a:t>P-I = per-instance. Classes are the vocabulary sizes reported for each dataset or subset. Every value above is taken from the cited paper.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778508"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778508" cy="316984"/>
          </a:xfrm>
          <a:prstGeom prst="rect">
            <a:avLst/>
          </a:prstGeom>
          <a:noFill/>
        </p:spPr>
        <p:txBody>
          <a:bodyPr wrap="square" lIns="0" rIns="0" tIns="0" bIns="0" anchor="ctr">
            <a:spAutoFit/>
          </a:bodyPr>
          <a:lstStyle/>
          <a:p>
            <a:pPr algn="ctr"/>
            <a:r>
              <a:rPr sz="1133" b="1" i="0">
                <a:solidFill>
                  <a:srgbClr val="0E9AA7"/>
                </a:solidFill>
                <a:latin typeface="Calibri"/>
              </a:rPr>
              <a:t>15  ·  COMPARISON</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Main Comparison Table (1/2): Data, Task and Result</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25</a:t>
            </a:r>
          </a:p>
        </p:txBody>
      </p:sp>
      <p:graphicFrame>
        <p:nvGraphicFramePr>
          <p:cNvPr id="8" name="Table 7"/>
          <p:cNvGraphicFramePr>
            <a:graphicFrameLocks noGrp="1"/>
          </p:cNvGraphicFramePr>
          <p:nvPr/>
        </p:nvGraphicFramePr>
        <p:xfrm>
          <a:off x="609585" y="1572768"/>
          <a:ext cx="10972526" cy="3675888"/>
        </p:xfrm>
        <a:graphic>
          <a:graphicData uri="http://schemas.openxmlformats.org/drawingml/2006/table">
            <a:tbl>
              <a:tblPr/>
              <a:tblGrid>
                <a:gridCol w="1600200"/>
                <a:gridCol w="1645920"/>
                <a:gridCol w="1234440"/>
                <a:gridCol w="1005840"/>
                <a:gridCol w="1874519"/>
                <a:gridCol w="1325880"/>
                <a:gridCol w="2285727"/>
              </a:tblGrid>
              <a:tr h="384048">
                <a:tc>
                  <a:txBody>
                    <a:bodyPr wrap="square"/>
                    <a:lstStyle/>
                    <a:p>
                      <a:r>
                        <a:rPr sz="1150" b="1" i="0">
                          <a:solidFill>
                            <a:srgbClr val="FFFFFF"/>
                          </a:solidFill>
                          <a:latin typeface="Calibri"/>
                        </a:rPr>
                        <a:t>Research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Dataset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Sign Language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Recognition Type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Input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Reported Result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548640">
                <a:tc>
                  <a:txBody>
                    <a:bodyPr wrap="square"/>
                    <a:lstStyle/>
                    <a:p>
                      <a:r>
                        <a:rPr sz="1100" b="1" i="0">
                          <a:solidFill>
                            <a:srgbClr val="1A2332"/>
                          </a:solidFill>
                          <a:latin typeface="Calibri"/>
                        </a:rPr>
                        <a:t>[1] INCLUDE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INCLUDE, INCLUDE-50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Indian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RGB video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Sign class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85.6% (263 signs); 94.5% (50 signs)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48640">
                <a:tc>
                  <a:txBody>
                    <a:bodyPr wrap="square"/>
                    <a:lstStyle/>
                    <a:p>
                      <a:r>
                        <a:rPr sz="1100" b="1" i="0">
                          <a:solidFill>
                            <a:srgbClr val="1A2332"/>
                          </a:solidFill>
                          <a:latin typeface="Calibri"/>
                        </a:rPr>
                        <a:t>[2] SPOTER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WLASL100/300, LSA64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American, Argentinian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Pose landmarks only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Sign class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63.18% / 43.78% / 100% (Top-1 macro)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48640">
                <a:tc>
                  <a:txBody>
                    <a:bodyPr wrap="square"/>
                    <a:lstStyle/>
                    <a:p>
                      <a:r>
                        <a:rPr sz="1100" b="1" i="0">
                          <a:solidFill>
                            <a:srgbClr val="1A2332"/>
                          </a:solidFill>
                          <a:latin typeface="Calibri"/>
                        </a:rPr>
                        <a:t>[3] SignBERT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NMFs-CSL, SLR500, MSASL,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Chinese, American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Hand pose; RGB or full pose (late fusion)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Sign class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WLASL2000: 54.69% (hands + RGB)</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48640">
                <a:tc>
                  <a:txBody>
                    <a:bodyPr wrap="square"/>
                    <a:lstStyle/>
                    <a:p>
                      <a:r>
                        <a:rPr sz="1100" b="1" i="0">
                          <a:solidFill>
                            <a:srgbClr val="1A2332"/>
                          </a:solidFill>
                          <a:latin typeface="Calibri"/>
                        </a:rPr>
                        <a:t>[4] Li et al.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WLASL100–2000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American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RGB or pose (separate models)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Sign class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I3D 65.89% (100) / 32.48% (2000)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48640">
                <a:tc>
                  <a:txBody>
                    <a:bodyPr wrap="square"/>
                    <a:lstStyle/>
                    <a:p>
                      <a:r>
                        <a:rPr sz="1100" b="1" i="0">
                          <a:solidFill>
                            <a:srgbClr val="1A2332"/>
                          </a:solidFill>
                          <a:latin typeface="Calibri"/>
                        </a:rPr>
                        <a:t>[5] Camgöz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PHOENIX14T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German (DGS)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Continuous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RGB frames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German sentence (text)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WER 24.49; BLEU-4 21.80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48640">
                <a:tc>
                  <a:txBody>
                    <a:bodyPr wrap="square"/>
                    <a:lstStyle/>
                    <a:p>
                      <a:r>
                        <a:rPr sz="1100" b="1" i="0">
                          <a:solidFill>
                            <a:srgbClr val="1A2332"/>
                          </a:solidFill>
                          <a:latin typeface="Calibri"/>
                        </a:rPr>
                        <a:t>Our Proposed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00" b="0" i="0">
                          <a:solidFill>
                            <a:srgbClr val="1A2332"/>
                          </a:solidFill>
                          <a:latin typeface="Calibri"/>
                        </a:rPr>
                        <a:t>INCLUDE262 (official partition)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00" b="0" i="0">
                          <a:solidFill>
                            <a:srgbClr val="1A2332"/>
                          </a:solidFill>
                          <a:latin typeface="Calibri"/>
                        </a:rPr>
                        <a:t>Indian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00" b="0" i="0">
                          <a:solidFill>
                            <a:srgbClr val="1A2332"/>
                          </a:solidFill>
                          <a:latin typeface="Calibri"/>
                        </a:rPr>
                        <a:t>Isolated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00" b="0" i="0">
                          <a:solidFill>
                            <a:srgbClr val="1A2332"/>
                          </a:solidFill>
                          <a:latin typeface="Calibri"/>
                        </a:rPr>
                        <a:t>MediaPipe landmarks (hands, pose, face) + geometry + availability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00" b="0" i="0">
                          <a:solidFill>
                            <a:srgbClr val="1A2332"/>
                          </a:solidFill>
                          <a:latin typeface="Calibri"/>
                        </a:rPr>
                        <a:t>Sign → Text → Speech</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00" b="0" i="0">
                          <a:solidFill>
                            <a:srgbClr val="1A2332"/>
                          </a:solidFill>
                          <a:latin typeface="Calibri"/>
                        </a:rPr>
                        <a:t>98.04% Top-1 (800 / 816)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r>
            </a:tbl>
          </a:graphicData>
        </a:graphic>
      </p:graphicFrame>
      <p:sp>
        <p:nvSpPr>
          <p:cNvPr id="9" name="Rounded Rectangle 8"/>
          <p:cNvSpPr/>
          <p:nvPr/>
        </p:nvSpPr>
        <p:spPr>
          <a:xfrm>
            <a:off x="609585" y="5440680"/>
            <a:ext cx="10972526" cy="365760"/>
          </a:xfrm>
          <a:prstGeom prst="roundRect">
            <a:avLst>
              <a:gd name="adj" fmla="val 20000"/>
            </a:avLst>
          </a:prstGeom>
          <a:solidFill>
            <a:srgbClr val="FFF6E5"/>
          </a:solidFill>
          <a:ln w="9525">
            <a:solidFill>
              <a:srgbClr val="F1D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465" y="5440680"/>
            <a:ext cx="10606766" cy="365760"/>
          </a:xfrm>
          <a:prstGeom prst="rect">
            <a:avLst/>
          </a:prstGeom>
          <a:noFill/>
        </p:spPr>
        <p:txBody>
          <a:bodyPr wrap="square" lIns="0" rIns="0" tIns="0" bIns="0" anchor="ctr">
            <a:spAutoFit/>
          </a:bodyPr>
          <a:lstStyle/>
          <a:p>
            <a:pPr algn="l"/>
            <a:r>
              <a:rPr sz="1150" b="1" i="0">
                <a:solidFill>
                  <a:srgbClr val="C98509"/>
                </a:solidFill>
                <a:latin typeface="Calibri"/>
              </a:rPr>
              <a:t>Not a ranking:  </a:t>
            </a:r>
            <a:r>
              <a:rPr sz="1150" b="0" i="0">
                <a:solidFill>
                  <a:srgbClr val="1A2332"/>
                </a:solidFill>
                <a:latin typeface="Calibri"/>
              </a:rPr>
              <a:t>datasets, class counts, splits and metrics differ. Only [1] uses our dataset, and only [5] is continuous.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778508"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778508" cy="316984"/>
          </a:xfrm>
          <a:prstGeom prst="rect">
            <a:avLst/>
          </a:prstGeom>
          <a:noFill/>
        </p:spPr>
        <p:txBody>
          <a:bodyPr wrap="square" lIns="0" rIns="0" tIns="0" bIns="0" anchor="ctr">
            <a:spAutoFit/>
          </a:bodyPr>
          <a:lstStyle/>
          <a:p>
            <a:pPr algn="ctr"/>
            <a:r>
              <a:rPr sz="1133" b="1" i="0">
                <a:solidFill>
                  <a:srgbClr val="0E9AA7"/>
                </a:solidFill>
                <a:latin typeface="Calibri"/>
              </a:rPr>
              <a:t>15  ·  COMPARISON</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Main Comparison Table (2/2): Features and Time</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26</a:t>
            </a:r>
          </a:p>
        </p:txBody>
      </p:sp>
      <p:graphicFrame>
        <p:nvGraphicFramePr>
          <p:cNvPr id="8" name="Table 7"/>
          <p:cNvGraphicFramePr>
            <a:graphicFrameLocks noGrp="1"/>
          </p:cNvGraphicFramePr>
          <p:nvPr/>
        </p:nvGraphicFramePr>
        <p:xfrm>
          <a:off x="609585" y="1572768"/>
          <a:ext cx="10972526" cy="4005072"/>
        </p:xfrm>
        <a:graphic>
          <a:graphicData uri="http://schemas.openxmlformats.org/drawingml/2006/table">
            <a:tbl>
              <a:tblPr/>
              <a:tblGrid>
                <a:gridCol w="1600200"/>
                <a:gridCol w="2377440"/>
                <a:gridCol w="2057400"/>
                <a:gridCol w="1965960"/>
                <a:gridCol w="2971526"/>
              </a:tblGrid>
              <a:tr h="384048">
                <a:tc>
                  <a:txBody>
                    <a:bodyPr wrap="square"/>
                    <a:lstStyle/>
                    <a:p>
                      <a:r>
                        <a:rPr sz="1150" b="1" i="0">
                          <a:solidFill>
                            <a:srgbClr val="FFFFFF"/>
                          </a:solidFill>
                          <a:latin typeface="Calibri"/>
                        </a:rPr>
                        <a:t>Research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Feature Extraction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Landmark / Pose Information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Feature Fusion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Temporal Model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603504">
                <a:tc>
                  <a:txBody>
                    <a:bodyPr wrap="square"/>
                    <a:lstStyle/>
                    <a:p>
                      <a:r>
                        <a:rPr sz="1050" b="1" i="0">
                          <a:solidFill>
                            <a:srgbClr val="1A2332"/>
                          </a:solidFill>
                          <a:latin typeface="Calibri"/>
                        </a:rPr>
                        <a:t>[1] INCLUDE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Pre-trained feature extractor and encoder; only the decoder is trained (best model)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Official code extracts MediaPipe Hands + BlazePose keypoints [7]</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Not reported *</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Trained decoder (type not reported *); code offers a Transformer option [7]</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03504">
                <a:tc>
                  <a:txBody>
                    <a:bodyPr wrap="square"/>
                    <a:lstStyle/>
                    <a:p>
                      <a:r>
                        <a:rPr sz="1050" b="1" i="0">
                          <a:solidFill>
                            <a:srgbClr val="1A2332"/>
                          </a:solidFill>
                          <a:latin typeface="Calibri"/>
                        </a:rPr>
                        <a:t>[2] SPOTER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Apple Vision API pose estimation + signing-space normalisation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54 2D landmarks: body, head, 21 per hand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None (pose only)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Transformer encoder–decoder (6 + 6 layers) with one class query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603504">
                <a:tc>
                  <a:txBody>
                    <a:bodyPr wrap="square"/>
                    <a:lstStyle/>
                    <a:p>
                      <a:r>
                        <a:rPr sz="1050" b="1" i="0">
                          <a:solidFill>
                            <a:srgbClr val="1A2332"/>
                          </a:solidFill>
                          <a:latin typeface="Calibri"/>
                        </a:rPr>
                        <a:t>[3] SignBERT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MMPose keypoints → hand-pose tokens via GCN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Both hands, 2D; MANO hand prior during pre-training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Late: prediction scores summed with an RGB or full-pose model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Transformer encoder (N = 3), self-supervised masked pre-training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03504">
                <a:tc>
                  <a:txBody>
                    <a:bodyPr wrap="square"/>
                    <a:lstStyle/>
                    <a:p>
                      <a:r>
                        <a:rPr sz="1050" b="1" i="0">
                          <a:solidFill>
                            <a:srgbClr val="1A2332"/>
                          </a:solidFill>
                          <a:latin typeface="Calibri"/>
                        </a:rPr>
                        <a:t>[4] Li et al.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I3D (ImageNet + Kinetics pre-trained); VGG16; OpenPose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55 keypoints (13 body + 21 per hand) for pose models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None: RGB and pose models evaluated separately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3D convolution (I3D); GRU; temporal graph convolution (Pose-TGCN)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603504">
                <a:tc>
                  <a:txBody>
                    <a:bodyPr wrap="square"/>
                    <a:lstStyle/>
                    <a:p>
                      <a:r>
                        <a:rPr sz="1050" b="1" i="0">
                          <a:solidFill>
                            <a:srgbClr val="1A2332"/>
                          </a:solidFill>
                          <a:latin typeface="Calibri"/>
                        </a:rPr>
                        <a:t>[5] Camgöz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Pre-trained CNN frame embedding (EfficientNet-B0/B4/B7 also tested)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None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None (RGB only)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Transformer encoder + CTC loss; autoregressive Transformer decoder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603504">
                <a:tc>
                  <a:txBody>
                    <a:bodyPr wrap="square"/>
                    <a:lstStyle/>
                    <a:p>
                      <a:r>
                        <a:rPr sz="1050" b="1" i="0">
                          <a:solidFill>
                            <a:srgbClr val="1A2332"/>
                          </a:solidFill>
                          <a:latin typeface="Calibri"/>
                        </a:rPr>
                        <a:t>Our Proposed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0" i="0">
                          <a:solidFill>
                            <a:srgbClr val="1A2332"/>
                          </a:solidFill>
                          <a:latin typeface="Calibri"/>
                        </a:rPr>
                        <a:t>MediaPipe landmarks + 469-D engineered geometry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0" i="0">
                          <a:solidFill>
                            <a:srgbClr val="1A2332"/>
                          </a:solidFill>
                          <a:latin typeface="Calibri"/>
                        </a:rPr>
                        <a:t>Hands 2 × 63, pose 33 × 4, selected face 276; 4-D availability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0" i="0">
                          <a:solidFill>
                            <a:srgbClr val="1A2332"/>
                          </a:solidFill>
                          <a:latin typeface="Calibri"/>
                        </a:rPr>
                        <a:t>Feature-level gated fusion of 5 streams (400 → 320)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0" i="0">
                          <a:solidFill>
                            <a:srgbClr val="1A2332"/>
                          </a:solidFill>
                          <a:latin typeface="Calibri"/>
                        </a:rPr>
                        <a:t>Part-aware dilated Conv1D + 4 × HTMA; CLS + attention pooling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r>
            </a:tbl>
          </a:graphicData>
        </a:graphic>
      </p:graphicFrame>
      <p:sp>
        <p:nvSpPr>
          <p:cNvPr id="9" name="TextBox 8"/>
          <p:cNvSpPr txBox="1"/>
          <p:nvPr/>
        </p:nvSpPr>
        <p:spPr>
          <a:xfrm>
            <a:off x="609585" y="5715000"/>
            <a:ext cx="10972526" cy="274320"/>
          </a:xfrm>
          <a:prstGeom prst="rect">
            <a:avLst/>
          </a:prstGeom>
          <a:noFill/>
        </p:spPr>
        <p:txBody>
          <a:bodyPr wrap="square" lIns="0" rIns="0" tIns="0" bIns="0" anchor="t">
            <a:spAutoFit/>
          </a:bodyPr>
          <a:lstStyle/>
          <a:p>
            <a:pPr algn="l"/>
            <a:r>
              <a:rPr sz="1100" b="0" i="1">
                <a:solidFill>
                  <a:srgbClr val="5A6678"/>
                </a:solidFill>
                <a:latin typeface="Calibri"/>
              </a:rPr>
              <a:t>* Not stated in the verified INCLUDE abstract; confirm in the paper's results tables.   [7] = official INCLUDE code repository (AI4Bharat).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778508"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778508" cy="316984"/>
          </a:xfrm>
          <a:prstGeom prst="rect">
            <a:avLst/>
          </a:prstGeom>
          <a:noFill/>
        </p:spPr>
        <p:txBody>
          <a:bodyPr wrap="square" lIns="0" rIns="0" tIns="0" bIns="0" anchor="ctr">
            <a:spAutoFit/>
          </a:bodyPr>
          <a:lstStyle/>
          <a:p>
            <a:pPr algn="ctr"/>
            <a:r>
              <a:rPr sz="1133" b="1" i="0">
                <a:solidFill>
                  <a:srgbClr val="0E9AA7"/>
                </a:solidFill>
                <a:latin typeface="Calibri"/>
              </a:rPr>
              <a:t>15  ·  COMPARISON</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Reading the Results Fairly</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27</a:t>
            </a:r>
          </a:p>
        </p:txBody>
      </p:sp>
      <p:graphicFrame>
        <p:nvGraphicFramePr>
          <p:cNvPr id="8" name="Table 7"/>
          <p:cNvGraphicFramePr>
            <a:graphicFrameLocks noGrp="1"/>
          </p:cNvGraphicFramePr>
          <p:nvPr/>
        </p:nvGraphicFramePr>
        <p:xfrm>
          <a:off x="609585" y="1572768"/>
          <a:ext cx="10972526" cy="2432304"/>
        </p:xfrm>
        <a:graphic>
          <a:graphicData uri="http://schemas.openxmlformats.org/drawingml/2006/table">
            <a:tbl>
              <a:tblPr/>
              <a:tblGrid>
                <a:gridCol w="1737360"/>
                <a:gridCol w="2240280"/>
                <a:gridCol w="914400"/>
                <a:gridCol w="1691640"/>
                <a:gridCol w="1508760"/>
                <a:gridCol w="2880086"/>
              </a:tblGrid>
              <a:tr h="384048">
                <a:tc>
                  <a:txBody>
                    <a:bodyPr wrap="square"/>
                    <a:lstStyle/>
                    <a:p>
                      <a:r>
                        <a:rPr sz="1150" b="1" i="0">
                          <a:solidFill>
                            <a:srgbClr val="FFFFFF"/>
                          </a:solidFill>
                          <a:latin typeface="Calibri"/>
                        </a:rPr>
                        <a:t>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Data used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Classes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Metric</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Result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Directly comparable to 98.04%?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512064">
                <a:tc>
                  <a:txBody>
                    <a:bodyPr wrap="square"/>
                    <a:lstStyle/>
                    <a:p>
                      <a:r>
                        <a:rPr sz="1150" b="1" i="0">
                          <a:solidFill>
                            <a:srgbClr val="1A2332"/>
                          </a:solidFill>
                          <a:latin typeface="Calibri"/>
                        </a:rPr>
                        <a:t>[1] Sridhar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INCLUDE (full)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263</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Accuracy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85.6%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1" i="0">
                          <a:solidFill>
                            <a:srgbClr val="C98509"/>
                          </a:solidFill>
                          <a:latin typeface="Calibri"/>
                        </a:rPr>
                        <a:t>Closest match. Confirm identical official split and metric</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12064">
                <a:tc>
                  <a:txBody>
                    <a:bodyPr wrap="square"/>
                    <a:lstStyle/>
                    <a:p>
                      <a:r>
                        <a:rPr sz="1150" b="1" i="0">
                          <a:solidFill>
                            <a:srgbClr val="1A2332"/>
                          </a:solidFill>
                          <a:latin typeface="Calibri"/>
                        </a:rPr>
                        <a:t>[6] Khartheesvar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50" b="0" i="0">
                          <a:solidFill>
                            <a:srgbClr val="3B4A60"/>
                          </a:solidFill>
                          <a:latin typeface="Calibri"/>
                        </a:rPr>
                        <a:t>INCLUDE (full)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50" b="0" i="0">
                          <a:solidFill>
                            <a:srgbClr val="3B4A60"/>
                          </a:solidFill>
                          <a:latin typeface="Calibri"/>
                        </a:rPr>
                        <a:t>Full set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50" b="0" i="0">
                          <a:solidFill>
                            <a:srgbClr val="3B4A60"/>
                          </a:solidFill>
                          <a:latin typeface="Calibri"/>
                        </a:rPr>
                        <a:t>Accuracy; macro-F1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50" b="0" i="0">
                          <a:solidFill>
                            <a:srgbClr val="3B4A60"/>
                          </a:solidFill>
                          <a:latin typeface="Calibri"/>
                        </a:rPr>
                        <a:t>87.4%; 86.6%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50" b="1" i="0">
                          <a:solidFill>
                            <a:srgbClr val="C98509"/>
                          </a:solidFill>
                          <a:latin typeface="Calibri"/>
                        </a:rPr>
                        <a:t>Same dataset. Split and pipeline must be checked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12064">
                <a:tc>
                  <a:txBody>
                    <a:bodyPr wrap="square"/>
                    <a:lstStyle/>
                    <a:p>
                      <a:r>
                        <a:rPr sz="1150" b="1" i="0">
                          <a:solidFill>
                            <a:srgbClr val="1A2332"/>
                          </a:solidFill>
                          <a:latin typeface="Calibri"/>
                        </a:rPr>
                        <a:t>[2]–[5]</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WLASL, LSA64, MSASL, CSL, PHOENIX14T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64 – 2,000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Top-K, macro, WER, BLEU</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0" i="0">
                          <a:solidFill>
                            <a:srgbClr val="3B4A60"/>
                          </a:solidFill>
                          <a:latin typeface="Calibri"/>
                        </a:rPr>
                        <a:t>Various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50" b="1" i="0">
                          <a:solidFill>
                            <a:srgbClr val="C2413B"/>
                          </a:solidFill>
                          <a:latin typeface="Calibri"/>
                        </a:rPr>
                        <a:t>No: different languages, tasks and metrics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12064">
                <a:tc>
                  <a:txBody>
                    <a:bodyPr wrap="square"/>
                    <a:lstStyle/>
                    <a:p>
                      <a:r>
                        <a:rPr sz="1150" b="1" i="0">
                          <a:solidFill>
                            <a:srgbClr val="1A2332"/>
                          </a:solidFill>
                          <a:latin typeface="Calibri"/>
                        </a:rPr>
                        <a:t>Our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50" b="0" i="0">
                          <a:solidFill>
                            <a:srgbClr val="1A2332"/>
                          </a:solidFill>
                          <a:latin typeface="Calibri"/>
                        </a:rPr>
                        <a:t>INCLUDE262 locked test (816 videos)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50" b="0" i="0">
                          <a:solidFill>
                            <a:srgbClr val="1A2332"/>
                          </a:solidFill>
                          <a:latin typeface="Calibri"/>
                        </a:rPr>
                        <a:t>262</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50" b="0" i="0">
                          <a:solidFill>
                            <a:srgbClr val="1A2332"/>
                          </a:solidFill>
                          <a:latin typeface="Calibri"/>
                        </a:rPr>
                        <a:t>Top-1; Top-5; Macro-F1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50" b="0" i="0">
                          <a:solidFill>
                            <a:srgbClr val="1A2332"/>
                          </a:solidFill>
                          <a:latin typeface="Calibri"/>
                        </a:rPr>
                        <a:t>98.04%; 99.51%; 98.09%</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150" b="1" i="0">
                          <a:solidFill>
                            <a:srgbClr val="2E9E5B"/>
                          </a:solidFill>
                          <a:latin typeface="Calibri"/>
                        </a:rPr>
                        <a:t>Reference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r>
            </a:tbl>
          </a:graphicData>
        </a:graphic>
      </p:graphicFrame>
      <p:sp>
        <p:nvSpPr>
          <p:cNvPr id="9" name="Rounded Rectangle 8"/>
          <p:cNvSpPr/>
          <p:nvPr/>
        </p:nvSpPr>
        <p:spPr>
          <a:xfrm>
            <a:off x="609585" y="4370832"/>
            <a:ext cx="3474628" cy="1005840"/>
          </a:xfrm>
          <a:prstGeom prst="roundRect">
            <a:avLst>
              <a:gd name="adj" fmla="val 8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465" y="4370832"/>
            <a:ext cx="3108868" cy="1005840"/>
          </a:xfrm>
          <a:prstGeom prst="rect">
            <a:avLst/>
          </a:prstGeom>
          <a:noFill/>
        </p:spPr>
        <p:txBody>
          <a:bodyPr wrap="square" lIns="0" rIns="0" tIns="0" bIns="0" anchor="ctr">
            <a:spAutoFit/>
          </a:bodyPr>
          <a:lstStyle/>
          <a:p>
            <a:pPr algn="l">
              <a:spcAft>
                <a:spcPts val="300"/>
              </a:spcAft>
            </a:pPr>
            <a:r>
              <a:rPr sz="1300" b="1" i="0">
                <a:solidFill>
                  <a:srgbClr val="1A2332"/>
                </a:solidFill>
                <a:latin typeface="Calibri"/>
              </a:rPr>
              <a:t>Why cross-paper numbers mislead</a:t>
            </a:r>
          </a:p>
          <a:p>
            <a:pPr algn="l">
              <a:spcAft>
                <a:spcPts val="300"/>
              </a:spcAft>
            </a:pPr>
            <a:r>
              <a:rPr sz="1150" b="0" i="0">
                <a:solidFill>
                  <a:srgbClr val="3B4A60"/>
                </a:solidFill>
                <a:latin typeface="Calibri"/>
              </a:rPr>
              <a:t>Accuracy falls as vocabulary grows: Li et al. show the same models scoring far lower on 2,000 glosses than on 100 [4].</a:t>
            </a:r>
          </a:p>
        </p:txBody>
      </p:sp>
      <p:sp>
        <p:nvSpPr>
          <p:cNvPr id="11" name="Rounded Rectangle 10"/>
          <p:cNvSpPr/>
          <p:nvPr/>
        </p:nvSpPr>
        <p:spPr>
          <a:xfrm>
            <a:off x="4358533" y="4370832"/>
            <a:ext cx="3474628" cy="1005840"/>
          </a:xfrm>
          <a:prstGeom prst="roundRect">
            <a:avLst>
              <a:gd name="adj" fmla="val 8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41413" y="4370832"/>
            <a:ext cx="3108868" cy="1005840"/>
          </a:xfrm>
          <a:prstGeom prst="rect">
            <a:avLst/>
          </a:prstGeom>
          <a:noFill/>
        </p:spPr>
        <p:txBody>
          <a:bodyPr wrap="square" lIns="0" rIns="0" tIns="0" bIns="0" anchor="ctr">
            <a:spAutoFit/>
          </a:bodyPr>
          <a:lstStyle/>
          <a:p>
            <a:pPr algn="l">
              <a:spcAft>
                <a:spcPts val="300"/>
              </a:spcAft>
            </a:pPr>
            <a:r>
              <a:rPr sz="1300" b="1" i="0">
                <a:solidFill>
                  <a:srgbClr val="1A2332"/>
                </a:solidFill>
                <a:latin typeface="Calibri"/>
              </a:rPr>
              <a:t>What a fair claim needs</a:t>
            </a:r>
          </a:p>
          <a:p>
            <a:pPr algn="l">
              <a:spcAft>
                <a:spcPts val="300"/>
              </a:spcAft>
            </a:pPr>
            <a:r>
              <a:rPr sz="1150" b="0" i="0">
                <a:solidFill>
                  <a:srgbClr val="3B4A60"/>
                </a:solidFill>
                <a:latin typeface="Calibri"/>
              </a:rPr>
              <a:t>Same dataset, same official split, same class count and the same metric, ideally re-run under one protocol.</a:t>
            </a:r>
          </a:p>
        </p:txBody>
      </p:sp>
      <p:sp>
        <p:nvSpPr>
          <p:cNvPr id="13" name="Rounded Rectangle 12"/>
          <p:cNvSpPr/>
          <p:nvPr/>
        </p:nvSpPr>
        <p:spPr>
          <a:xfrm>
            <a:off x="8107481" y="4370832"/>
            <a:ext cx="3474628" cy="1005840"/>
          </a:xfrm>
          <a:prstGeom prst="roundRect">
            <a:avLst>
              <a:gd name="adj" fmla="val 8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0361" y="4370832"/>
            <a:ext cx="3108868" cy="1005840"/>
          </a:xfrm>
          <a:prstGeom prst="rect">
            <a:avLst/>
          </a:prstGeom>
          <a:noFill/>
        </p:spPr>
        <p:txBody>
          <a:bodyPr wrap="square" lIns="0" rIns="0" tIns="0" bIns="0" anchor="ctr">
            <a:spAutoFit/>
          </a:bodyPr>
          <a:lstStyle/>
          <a:p>
            <a:pPr algn="l">
              <a:spcAft>
                <a:spcPts val="300"/>
              </a:spcAft>
            </a:pPr>
            <a:r>
              <a:rPr sz="1300" b="1" i="0">
                <a:solidFill>
                  <a:srgbClr val="1A2332"/>
                </a:solidFill>
                <a:latin typeface="Calibri"/>
              </a:rPr>
              <a:t>Strongest evidence for our design</a:t>
            </a:r>
          </a:p>
          <a:p>
            <a:pPr algn="l">
              <a:spcAft>
                <a:spcPts val="300"/>
              </a:spcAft>
            </a:pPr>
            <a:r>
              <a:rPr sz="1150" b="0" i="0">
                <a:solidFill>
                  <a:srgbClr val="3B4A60"/>
                </a:solidFill>
                <a:latin typeface="Calibri"/>
              </a:rPr>
              <a:t>An ablation on INCLUDE: remove part encoders, geometry, gating or HTMA one at a time under the same protocol.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778508"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778508" cy="316984"/>
          </a:xfrm>
          <a:prstGeom prst="rect">
            <a:avLst/>
          </a:prstGeom>
          <a:noFill/>
        </p:spPr>
        <p:txBody>
          <a:bodyPr wrap="square" lIns="0" rIns="0" tIns="0" bIns="0" anchor="ctr">
            <a:spAutoFit/>
          </a:bodyPr>
          <a:lstStyle/>
          <a:p>
            <a:pPr algn="ctr"/>
            <a:r>
              <a:rPr sz="1133" b="1" i="0">
                <a:solidFill>
                  <a:srgbClr val="0E9AA7"/>
                </a:solidFill>
                <a:latin typeface="Calibri"/>
              </a:rPr>
              <a:t>15  ·  COMPARISON</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Architectural Component Comparison</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28</a:t>
            </a:r>
          </a:p>
        </p:txBody>
      </p:sp>
      <p:graphicFrame>
        <p:nvGraphicFramePr>
          <p:cNvPr id="8" name="Table 7"/>
          <p:cNvGraphicFramePr>
            <a:graphicFrameLocks noGrp="1"/>
          </p:cNvGraphicFramePr>
          <p:nvPr/>
        </p:nvGraphicFramePr>
        <p:xfrm>
          <a:off x="609585" y="1572768"/>
          <a:ext cx="10972526" cy="3904488"/>
        </p:xfrm>
        <a:graphic>
          <a:graphicData uri="http://schemas.openxmlformats.org/drawingml/2006/table">
            <a:tbl>
              <a:tblPr/>
              <a:tblGrid>
                <a:gridCol w="1463040"/>
                <a:gridCol w="960120"/>
                <a:gridCol w="1234440"/>
                <a:gridCol w="1188720"/>
                <a:gridCol w="1188720"/>
                <a:gridCol w="1097280"/>
                <a:gridCol w="1005840"/>
                <a:gridCol w="1097280"/>
                <a:gridCol w="1737086"/>
              </a:tblGrid>
              <a:tr h="502920">
                <a:tc>
                  <a:txBody>
                    <a:bodyPr wrap="square"/>
                    <a:lstStyle/>
                    <a:p>
                      <a:r>
                        <a:rPr sz="1050" b="1" i="0">
                          <a:solidFill>
                            <a:srgbClr val="FFFFFF"/>
                          </a:solidFill>
                          <a:latin typeface="Calibri"/>
                        </a:rPr>
                        <a:t>Research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RGB Features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CNN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Hand Landmarks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Pose / Keypoints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Feature Fusion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Transformer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Temporal Modeling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050" b="1" i="0">
                          <a:solidFill>
                            <a:srgbClr val="FFFFFF"/>
                          </a:solidFill>
                          <a:latin typeface="Calibri"/>
                        </a:rPr>
                        <a:t>Text / Speech 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566928">
                <a:tc>
                  <a:txBody>
                    <a:bodyPr wrap="square"/>
                    <a:lstStyle/>
                    <a:p>
                      <a:r>
                        <a:rPr sz="1050" b="1" i="0">
                          <a:solidFill>
                            <a:srgbClr val="1A2332"/>
                          </a:solidFill>
                          <a:latin typeface="Calibri"/>
                        </a:rPr>
                        <a:t>[1] INCLUDE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Yes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Pre-trained extractor *</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Code: MediaPipe Hands †</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Code: BlazePose †</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Not reported *</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Code option †</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Trained decoder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Class label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66928">
                <a:tc>
                  <a:txBody>
                    <a:bodyPr wrap="square"/>
                    <a:lstStyle/>
                    <a:p>
                      <a:r>
                        <a:rPr sz="1050" b="1" i="0">
                          <a:solidFill>
                            <a:srgbClr val="1A2332"/>
                          </a:solidFill>
                          <a:latin typeface="Calibri"/>
                        </a:rPr>
                        <a:t>[2] SPOTER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8B99AE"/>
                          </a:solidFill>
                          <a:latin typeface="Calibri"/>
                        </a:rPr>
                        <a:t>No (pose only)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8B99AE"/>
                          </a:solidFill>
                          <a:latin typeface="Calibri"/>
                        </a:rPr>
                        <a:t>No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Yes (21 / hand)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Yes (body, head)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8B99AE"/>
                          </a:solidFill>
                          <a:latin typeface="Calibri"/>
                        </a:rPr>
                        <a:t>No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Enc–dec</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Self-attention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Class label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66928">
                <a:tc>
                  <a:txBody>
                    <a:bodyPr wrap="square"/>
                    <a:lstStyle/>
                    <a:p>
                      <a:r>
                        <a:rPr sz="1050" b="1" i="0">
                          <a:solidFill>
                            <a:srgbClr val="1A2332"/>
                          </a:solidFill>
                          <a:latin typeface="Calibri"/>
                        </a:rPr>
                        <a:t>[3] SignBERT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Separate stream</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3D-CNN baseline (RGB stream)</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Yes (MMPose)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Yes (full-pose stream)</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C98509"/>
                          </a:solidFill>
                          <a:latin typeface="Calibri"/>
                        </a:rPr>
                        <a:t>Late (score sum)</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Encoder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Self-attention; GCN tokens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Class label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66928">
                <a:tc>
                  <a:txBody>
                    <a:bodyPr wrap="square"/>
                    <a:lstStyle/>
                    <a:p>
                      <a:r>
                        <a:rPr sz="1050" b="1" i="0">
                          <a:solidFill>
                            <a:srgbClr val="1A2332"/>
                          </a:solidFill>
                          <a:latin typeface="Calibri"/>
                        </a:rPr>
                        <a:t>[4] Li et al.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Yes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I3D, VGG16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Yes (OpenPose)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1" i="0">
                          <a:solidFill>
                            <a:srgbClr val="2E9E5B"/>
                          </a:solidFill>
                          <a:latin typeface="Calibri"/>
                        </a:rPr>
                        <a:t>Yes (13 upper-body)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8B99AE"/>
                          </a:solidFill>
                          <a:latin typeface="Calibri"/>
                        </a:rPr>
                        <a:t>No (separate models)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8B99AE"/>
                          </a:solidFill>
                          <a:latin typeface="Calibri"/>
                        </a:rPr>
                        <a:t>No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3D conv; GRU; TGCN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Class label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66928">
                <a:tc>
                  <a:txBody>
                    <a:bodyPr wrap="square"/>
                    <a:lstStyle/>
                    <a:p>
                      <a:r>
                        <a:rPr sz="1050" b="1" i="0">
                          <a:solidFill>
                            <a:srgbClr val="1A2332"/>
                          </a:solidFill>
                          <a:latin typeface="Calibri"/>
                        </a:rPr>
                        <a:t>[5] Camgöz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Yes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Yes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8B99AE"/>
                          </a:solidFill>
                          <a:latin typeface="Calibri"/>
                        </a:rPr>
                        <a:t>No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8B99AE"/>
                          </a:solidFill>
                          <a:latin typeface="Calibri"/>
                        </a:rPr>
                        <a:t>No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8B99AE"/>
                          </a:solidFill>
                          <a:latin typeface="Calibri"/>
                        </a:rPr>
                        <a:t>No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1" i="0">
                          <a:solidFill>
                            <a:srgbClr val="2E9E5B"/>
                          </a:solidFill>
                          <a:latin typeface="Calibri"/>
                        </a:rPr>
                        <a:t>Enc + dec, CTC</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Self-attention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1A2332"/>
                          </a:solidFill>
                          <a:latin typeface="Calibri"/>
                        </a:rPr>
                        <a:t>German text; no speech</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66928">
                <a:tc>
                  <a:txBody>
                    <a:bodyPr wrap="square"/>
                    <a:lstStyle/>
                    <a:p>
                      <a:r>
                        <a:rPr sz="1050" b="1" i="0">
                          <a:solidFill>
                            <a:srgbClr val="1A2332"/>
                          </a:solidFill>
                          <a:latin typeface="Calibri"/>
                        </a:rPr>
                        <a:t>Our Proposed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8B99AE"/>
                          </a:solidFill>
                          <a:latin typeface="Calibri"/>
                        </a:rPr>
                        <a:t>No — landmark/ geometry based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8B99AE"/>
                          </a:solidFill>
                          <a:latin typeface="Calibri"/>
                        </a:rPr>
                        <a:t>Yes — custom temporal Conv1D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2E9E5B"/>
                          </a:solidFill>
                          <a:latin typeface="Calibri"/>
                        </a:rPr>
                        <a:t>MediaPipe (2 × 21)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2E9E5B"/>
                          </a:solidFill>
                          <a:latin typeface="Calibri"/>
                        </a:rPr>
                        <a:t>Pose 33 × 4 + selected face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2E9E5B"/>
                          </a:solidFill>
                          <a:latin typeface="Calibri"/>
                        </a:rPr>
                        <a:t>Availability-aware gated feature-level fusion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2E9E5B"/>
                          </a:solidFill>
                          <a:latin typeface="Calibri"/>
                        </a:rPr>
                        <a:t>HTMA × 4</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0" i="0">
                          <a:solidFill>
                            <a:srgbClr val="1A2332"/>
                          </a:solidFill>
                          <a:latin typeface="Calibri"/>
                        </a:rPr>
                        <a:t>Dilated Conv1D + HTMA</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c>
                  <a:txBody>
                    <a:bodyPr wrap="square"/>
                    <a:lstStyle/>
                    <a:p>
                      <a:r>
                        <a:rPr sz="1050" b="1" i="0">
                          <a:solidFill>
                            <a:srgbClr val="1A2332"/>
                          </a:solidFill>
                          <a:latin typeface="Calibri"/>
                        </a:rPr>
                        <a:t>Text → Speech (Web Speech API)</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E3F4F5"/>
                    </a:solidFill>
                  </a:tcPr>
                </a:tc>
              </a:tr>
            </a:tbl>
          </a:graphicData>
        </a:graphic>
      </p:graphicFrame>
      <p:sp>
        <p:nvSpPr>
          <p:cNvPr id="9" name="TextBox 8"/>
          <p:cNvSpPr txBox="1"/>
          <p:nvPr/>
        </p:nvSpPr>
        <p:spPr>
          <a:xfrm>
            <a:off x="609585" y="5781848"/>
            <a:ext cx="10972526" cy="292608"/>
          </a:xfrm>
          <a:prstGeom prst="rect">
            <a:avLst/>
          </a:prstGeom>
          <a:noFill/>
        </p:spPr>
        <p:txBody>
          <a:bodyPr wrap="square" lIns="0" rIns="0" tIns="0" bIns="0" anchor="t">
            <a:spAutoFit/>
          </a:bodyPr>
          <a:lstStyle/>
          <a:p>
            <a:pPr algn="l"/>
            <a:r>
              <a:rPr sz="1100" b="1" i="0">
                <a:solidFill>
                  <a:srgbClr val="2E9E5B"/>
                </a:solidFill>
                <a:latin typeface="Calibri"/>
              </a:rPr>
              <a:t>Yes</a:t>
            </a:r>
            <a:r>
              <a:rPr sz="1100" b="0" i="0">
                <a:solidFill>
                  <a:srgbClr val="5A6678"/>
                </a:solidFill>
                <a:latin typeface="Calibri"/>
              </a:rPr>
              <a:t> = used    </a:t>
            </a:r>
            <a:r>
              <a:rPr sz="1100" b="1" i="0">
                <a:solidFill>
                  <a:srgbClr val="8B99AE"/>
                </a:solidFill>
                <a:latin typeface="Calibri"/>
              </a:rPr>
              <a:t>No</a:t>
            </a:r>
            <a:r>
              <a:rPr sz="1100" b="0" i="0">
                <a:solidFill>
                  <a:srgbClr val="5A6678"/>
                </a:solidFill>
                <a:latin typeface="Calibri"/>
              </a:rPr>
              <a:t> = not used    </a:t>
            </a:r>
            <a:r>
              <a:rPr sz="1100" b="1" i="0">
                <a:solidFill>
                  <a:srgbClr val="C98509"/>
                </a:solidFill>
                <a:latin typeface="Calibri"/>
              </a:rPr>
              <a:t>Amber</a:t>
            </a:r>
            <a:r>
              <a:rPr sz="1100" b="0" i="0">
                <a:solidFill>
                  <a:srgbClr val="5A6678"/>
                </a:solidFill>
                <a:latin typeface="Calibri"/>
              </a:rPr>
              <a:t> = partial / conditional    </a:t>
            </a:r>
            <a:r>
              <a:rPr sz="1100" b="1" i="0">
                <a:solidFill>
                  <a:srgbClr val="1A2332"/>
                </a:solidFill>
                <a:latin typeface="Calibri"/>
              </a:rPr>
              <a:t>*</a:t>
            </a:r>
            <a:r>
              <a:rPr sz="1100" b="0" i="0">
                <a:solidFill>
                  <a:srgbClr val="5A6678"/>
                </a:solidFill>
                <a:latin typeface="Calibri"/>
              </a:rPr>
              <a:t> not in verified abstract    </a:t>
            </a:r>
            <a:r>
              <a:rPr sz="1100" b="1" i="0">
                <a:solidFill>
                  <a:srgbClr val="1A2332"/>
                </a:solidFill>
                <a:latin typeface="Calibri"/>
              </a:rPr>
              <a:t>†</a:t>
            </a:r>
            <a:r>
              <a:rPr sz="1100" b="0" i="0">
                <a:solidFill>
                  <a:srgbClr val="5A6678"/>
                </a:solidFill>
                <a:latin typeface="Calibri"/>
              </a:rPr>
              <a:t> official INCLUDE code [7], not the paper 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93395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933956" cy="316984"/>
          </a:xfrm>
          <a:prstGeom prst="rect">
            <a:avLst/>
          </a:prstGeom>
          <a:noFill/>
        </p:spPr>
        <p:txBody>
          <a:bodyPr wrap="square" lIns="0" rIns="0" tIns="0" bIns="0" anchor="ctr">
            <a:spAutoFit/>
          </a:bodyPr>
          <a:lstStyle/>
          <a:p>
            <a:pPr algn="ctr"/>
            <a:r>
              <a:rPr sz="1133" b="1" i="0">
                <a:solidFill>
                  <a:srgbClr val="0E9AA7"/>
                </a:solidFill>
                <a:latin typeface="Calibri"/>
              </a:rPr>
              <a:t>16  ·  RESEARCH GAP</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Paper-by-Paper Research Gaps (1/3)</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29</a:t>
            </a:r>
          </a:p>
        </p:txBody>
      </p:sp>
      <p:sp>
        <p:nvSpPr>
          <p:cNvPr id="8" name="Rounded Rectangle 7"/>
          <p:cNvSpPr/>
          <p:nvPr/>
        </p:nvSpPr>
        <p:spPr>
          <a:xfrm>
            <a:off x="609585" y="1554480"/>
            <a:ext cx="5349103"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585" y="1554480"/>
            <a:ext cx="5349103" cy="566928"/>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465" y="1554480"/>
            <a:ext cx="2971663" cy="566928"/>
          </a:xfrm>
          <a:prstGeom prst="rect">
            <a:avLst/>
          </a:prstGeom>
          <a:noFill/>
        </p:spPr>
        <p:txBody>
          <a:bodyPr wrap="square" lIns="0" rIns="0" tIns="0" bIns="0" anchor="ctr">
            <a:spAutoFit/>
          </a:bodyPr>
          <a:lstStyle/>
          <a:p>
            <a:pPr algn="l"/>
            <a:r>
              <a:rPr sz="1500" b="1" i="0">
                <a:solidFill>
                  <a:srgbClr val="1A2332"/>
                </a:solidFill>
                <a:latin typeface="Cambria"/>
              </a:rPr>
              <a:t>[1] INCLUDE</a:t>
            </a:r>
            <a:r>
              <a:rPr sz="1100" b="0" i="0">
                <a:solidFill>
                  <a:srgbClr val="5A6678"/>
                </a:solidFill>
                <a:latin typeface="Calibri"/>
              </a:rPr>
              <a:t>   ACM MM 2020</a:t>
            </a:r>
          </a:p>
        </p:txBody>
      </p:sp>
      <p:sp>
        <p:nvSpPr>
          <p:cNvPr id="11" name="Rounded Rectangle 10"/>
          <p:cNvSpPr/>
          <p:nvPr/>
        </p:nvSpPr>
        <p:spPr>
          <a:xfrm>
            <a:off x="4230472" y="1700784"/>
            <a:ext cx="1563624" cy="274320"/>
          </a:xfrm>
          <a:prstGeom prst="roundRect">
            <a:avLst>
              <a:gd name="adj" fmla="val 50000"/>
            </a:avLst>
          </a:prstGeom>
          <a:solidFill>
            <a:srgbClr val="FFFFFF"/>
          </a:solidFill>
          <a:ln w="9525">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0472" y="1700784"/>
            <a:ext cx="1563624" cy="274320"/>
          </a:xfrm>
          <a:prstGeom prst="rect">
            <a:avLst/>
          </a:prstGeom>
          <a:noFill/>
        </p:spPr>
        <p:txBody>
          <a:bodyPr wrap="square" lIns="0" rIns="0" tIns="0" bIns="0" anchor="ctr">
            <a:spAutoFit/>
          </a:bodyPr>
          <a:lstStyle/>
          <a:p>
            <a:pPr algn="ctr"/>
            <a:r>
              <a:rPr sz="1000" b="1" i="0">
                <a:solidFill>
                  <a:srgbClr val="5B5BD6"/>
                </a:solidFill>
                <a:latin typeface="Calibri"/>
              </a:rPr>
              <a:t>SCOPE DIFFERENCE</a:t>
            </a:r>
          </a:p>
        </p:txBody>
      </p:sp>
      <p:sp>
        <p:nvSpPr>
          <p:cNvPr id="13" name="TextBox 12"/>
          <p:cNvSpPr txBox="1"/>
          <p:nvPr/>
        </p:nvSpPr>
        <p:spPr>
          <a:xfrm>
            <a:off x="792465" y="2267712"/>
            <a:ext cx="4983343" cy="1112520"/>
          </a:xfrm>
          <a:prstGeom prst="rect">
            <a:avLst/>
          </a:prstGeom>
          <a:noFill/>
        </p:spPr>
        <p:txBody>
          <a:bodyPr wrap="square" lIns="0" rIns="0" tIns="0" bIns="0" anchor="t">
            <a:spAutoFit/>
          </a:bodyPr>
          <a:lstStyle/>
          <a:p>
            <a:pPr algn="l">
              <a:spcAft>
                <a:spcPts val="300"/>
              </a:spcAft>
            </a:pPr>
            <a:r>
              <a:rPr sz="1000" b="1" i="0">
                <a:solidFill>
                  <a:srgbClr val="5A6678"/>
                </a:solidFill>
                <a:latin typeface="Calibri"/>
              </a:rPr>
              <a:t>EXISTING APPROACH</a:t>
            </a:r>
          </a:p>
          <a:p>
            <a:pPr algn="l">
              <a:spcAft>
                <a:spcPts val="300"/>
              </a:spcAft>
            </a:pPr>
            <a:r>
              <a:rPr sz="1200" b="0" i="0">
                <a:solidFill>
                  <a:srgbClr val="1A2332"/>
                </a:solidFill>
                <a:latin typeface="Calibri"/>
              </a:rPr>
              <a:t>First large public ISL benchmark: 4,287 videos, 263 word signs, 15 categories. The best baseline uses a pre-trained feature extractor and encoder and trains only a decoder: 94.5% on INCLUDE-50, 85.6% on INCLUDE.</a:t>
            </a:r>
          </a:p>
        </p:txBody>
      </p:sp>
      <p:sp>
        <p:nvSpPr>
          <p:cNvPr id="14" name="TextBox 13"/>
          <p:cNvSpPr txBox="1"/>
          <p:nvPr/>
        </p:nvSpPr>
        <p:spPr>
          <a:xfrm>
            <a:off x="792465" y="3380232"/>
            <a:ext cx="4983343" cy="1112520"/>
          </a:xfrm>
          <a:prstGeom prst="rect">
            <a:avLst/>
          </a:prstGeom>
          <a:noFill/>
        </p:spPr>
        <p:txBody>
          <a:bodyPr wrap="square" lIns="0" rIns="0" tIns="0" bIns="0" anchor="t">
            <a:spAutoFit/>
          </a:bodyPr>
          <a:lstStyle/>
          <a:p>
            <a:pPr algn="l">
              <a:spcAft>
                <a:spcPts val="300"/>
              </a:spcAft>
            </a:pPr>
            <a:r>
              <a:rPr sz="1000" b="1" i="0">
                <a:solidFill>
                  <a:srgbClr val="C98509"/>
                </a:solidFill>
                <a:latin typeface="Calibri"/>
              </a:rPr>
              <a:t>RESEARCH GAP RELEVANT TO OUR WORK</a:t>
            </a:r>
          </a:p>
          <a:p>
            <a:pPr algn="l">
              <a:spcAft>
                <a:spcPts val="300"/>
              </a:spcAft>
            </a:pPr>
            <a:r>
              <a:rPr sz="1200" b="0" i="0">
                <a:solidFill>
                  <a:srgbClr val="1A2332"/>
                </a:solidFill>
                <a:latin typeface="Calibri"/>
              </a:rPr>
              <a:t>Face keypoints are discarded and keypoints are flattened into one vector; no explicit geometry, availability signal or speech output is reported. A difference in scope, not a flaw in the benchmark paper.</a:t>
            </a:r>
          </a:p>
        </p:txBody>
      </p:sp>
      <p:sp>
        <p:nvSpPr>
          <p:cNvPr id="15" name="TextBox 14"/>
          <p:cNvSpPr txBox="1"/>
          <p:nvPr/>
        </p:nvSpPr>
        <p:spPr>
          <a:xfrm>
            <a:off x="792465" y="4492752"/>
            <a:ext cx="4983343" cy="1112520"/>
          </a:xfrm>
          <a:prstGeom prst="rect">
            <a:avLst/>
          </a:prstGeom>
          <a:noFill/>
        </p:spPr>
        <p:txBody>
          <a:bodyPr wrap="square" lIns="0" rIns="0" tIns="0" bIns="0" anchor="t">
            <a:spAutoFit/>
          </a:bodyPr>
          <a:lstStyle/>
          <a:p>
            <a:pPr algn="l">
              <a:spcAft>
                <a:spcPts val="300"/>
              </a:spcAft>
            </a:pPr>
            <a:r>
              <a:rPr sz="1000" b="1" i="0">
                <a:solidFill>
                  <a:srgbClr val="0E9AA7"/>
                </a:solidFill>
                <a:latin typeface="Calibri"/>
              </a:rPr>
              <a:t>HOW OUR MODEL ADDRESSES IT</a:t>
            </a:r>
          </a:p>
          <a:p>
            <a:pPr algn="l">
              <a:spcAft>
                <a:spcPts val="300"/>
              </a:spcAft>
            </a:pPr>
            <a:r>
              <a:rPr sz="1200" b="0" i="0">
                <a:solidFill>
                  <a:srgbClr val="1A2332"/>
                </a:solidFill>
                <a:latin typeface="Calibri"/>
              </a:rPr>
              <a:t>Hands, pose and selected face get separate Conv1D encoders, plus a 469-D geometry stream and availability-aware gates, then HTMA; evaluated on the 262-class INCLUDE split (816 test videos); output as text and browser speech.</a:t>
            </a:r>
          </a:p>
        </p:txBody>
      </p:sp>
      <p:sp>
        <p:nvSpPr>
          <p:cNvPr id="16" name="Rounded Rectangle 15"/>
          <p:cNvSpPr/>
          <p:nvPr/>
        </p:nvSpPr>
        <p:spPr>
          <a:xfrm>
            <a:off x="6233008" y="1554480"/>
            <a:ext cx="5349103"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3008" y="1554480"/>
            <a:ext cx="5349103" cy="566928"/>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5888" y="1554480"/>
            <a:ext cx="2971663" cy="566928"/>
          </a:xfrm>
          <a:prstGeom prst="rect">
            <a:avLst/>
          </a:prstGeom>
          <a:noFill/>
        </p:spPr>
        <p:txBody>
          <a:bodyPr wrap="square" lIns="0" rIns="0" tIns="0" bIns="0" anchor="ctr">
            <a:spAutoFit/>
          </a:bodyPr>
          <a:lstStyle/>
          <a:p>
            <a:pPr algn="l"/>
            <a:r>
              <a:rPr sz="1500" b="1" i="0">
                <a:solidFill>
                  <a:srgbClr val="1A2332"/>
                </a:solidFill>
                <a:latin typeface="Cambria"/>
              </a:rPr>
              <a:t>[2] SPOTER</a:t>
            </a:r>
            <a:r>
              <a:rPr sz="1100" b="0" i="0">
                <a:solidFill>
                  <a:srgbClr val="5A6678"/>
                </a:solidFill>
                <a:latin typeface="Calibri"/>
              </a:rPr>
              <a:t>   WACV-W 2022</a:t>
            </a:r>
          </a:p>
        </p:txBody>
      </p:sp>
      <p:sp>
        <p:nvSpPr>
          <p:cNvPr id="19" name="Rounded Rectangle 18"/>
          <p:cNvSpPr/>
          <p:nvPr/>
        </p:nvSpPr>
        <p:spPr>
          <a:xfrm>
            <a:off x="9232103" y="1700784"/>
            <a:ext cx="2185416" cy="274320"/>
          </a:xfrm>
          <a:prstGeom prst="roundRect">
            <a:avLst>
              <a:gd name="adj" fmla="val 50000"/>
            </a:avLst>
          </a:prstGeom>
          <a:solidFill>
            <a:srgbClr val="FFFFFF"/>
          </a:solidFill>
          <a:ln w="9525">
            <a:solidFill>
              <a:srgbClr val="0E9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2103" y="1700784"/>
            <a:ext cx="2185416" cy="274320"/>
          </a:xfrm>
          <a:prstGeom prst="rect">
            <a:avLst/>
          </a:prstGeom>
          <a:noFill/>
        </p:spPr>
        <p:txBody>
          <a:bodyPr wrap="square" lIns="0" rIns="0" tIns="0" bIns="0" anchor="ctr">
            <a:spAutoFit/>
          </a:bodyPr>
          <a:lstStyle/>
          <a:p>
            <a:pPr algn="ctr"/>
            <a:r>
              <a:rPr sz="1000" b="1" i="0">
                <a:solidFill>
                  <a:srgbClr val="0E9AA7"/>
                </a:solidFill>
                <a:latin typeface="Calibri"/>
              </a:rPr>
              <a:t>ARCHITECTURAL DIFFERENCE</a:t>
            </a:r>
          </a:p>
        </p:txBody>
      </p:sp>
      <p:sp>
        <p:nvSpPr>
          <p:cNvPr id="21" name="TextBox 20"/>
          <p:cNvSpPr txBox="1"/>
          <p:nvPr/>
        </p:nvSpPr>
        <p:spPr>
          <a:xfrm>
            <a:off x="6415888" y="2267712"/>
            <a:ext cx="4983343" cy="1112520"/>
          </a:xfrm>
          <a:prstGeom prst="rect">
            <a:avLst/>
          </a:prstGeom>
          <a:noFill/>
        </p:spPr>
        <p:txBody>
          <a:bodyPr wrap="square" lIns="0" rIns="0" tIns="0" bIns="0" anchor="t">
            <a:spAutoFit/>
          </a:bodyPr>
          <a:lstStyle/>
          <a:p>
            <a:pPr algn="l">
              <a:spcAft>
                <a:spcPts val="300"/>
              </a:spcAft>
            </a:pPr>
            <a:r>
              <a:rPr sz="1000" b="1" i="0">
                <a:solidFill>
                  <a:srgbClr val="5A6678"/>
                </a:solidFill>
                <a:latin typeface="Calibri"/>
              </a:rPr>
              <a:t>EXISTING APPROACH</a:t>
            </a:r>
          </a:p>
          <a:p>
            <a:pPr algn="l">
              <a:spcAft>
                <a:spcPts val="300"/>
              </a:spcAft>
            </a:pPr>
            <a:r>
              <a:rPr sz="1200" b="0" i="0">
                <a:solidFill>
                  <a:srgbClr val="1A2332"/>
                </a:solidFill>
                <a:latin typeface="Calibri"/>
              </a:rPr>
              <a:t>Normalised 2D body, head and hand landmarks (Apple Vision API, 108 values per frame) classified by a Transformer encoder–decoder with a single class query. 63.18% on WLASL100; 100% on LSA64.</a:t>
            </a:r>
          </a:p>
        </p:txBody>
      </p:sp>
      <p:sp>
        <p:nvSpPr>
          <p:cNvPr id="22" name="TextBox 21"/>
          <p:cNvSpPr txBox="1"/>
          <p:nvPr/>
        </p:nvSpPr>
        <p:spPr>
          <a:xfrm>
            <a:off x="6415888" y="3380232"/>
            <a:ext cx="4983343" cy="1112520"/>
          </a:xfrm>
          <a:prstGeom prst="rect">
            <a:avLst/>
          </a:prstGeom>
          <a:noFill/>
        </p:spPr>
        <p:txBody>
          <a:bodyPr wrap="square" lIns="0" rIns="0" tIns="0" bIns="0" anchor="t">
            <a:spAutoFit/>
          </a:bodyPr>
          <a:lstStyle/>
          <a:p>
            <a:pPr algn="l">
              <a:spcAft>
                <a:spcPts val="300"/>
              </a:spcAft>
            </a:pPr>
            <a:r>
              <a:rPr sz="1000" b="1" i="0">
                <a:solidFill>
                  <a:srgbClr val="C98509"/>
                </a:solidFill>
                <a:latin typeface="Calibri"/>
              </a:rPr>
              <a:t>RESEARCH GAP RELEVANT TO OUR WORK</a:t>
            </a:r>
          </a:p>
          <a:p>
            <a:pPr algn="l">
              <a:spcAft>
                <a:spcPts val="300"/>
              </a:spcAft>
            </a:pPr>
            <a:r>
              <a:rPr sz="1200" b="0" i="0">
                <a:solidFill>
                  <a:srgbClr val="1A2332"/>
                </a:solidFill>
                <a:latin typeface="Calibri"/>
              </a:rPr>
              <a:t>All landmarks share one 108-D frame vector (no face mesh), and missing landmarks are zero-filled without an availability signal. Evaluated on American and Argentinian SL, not ISL.</a:t>
            </a:r>
          </a:p>
        </p:txBody>
      </p:sp>
      <p:sp>
        <p:nvSpPr>
          <p:cNvPr id="23" name="TextBox 22"/>
          <p:cNvSpPr txBox="1"/>
          <p:nvPr/>
        </p:nvSpPr>
        <p:spPr>
          <a:xfrm>
            <a:off x="6415888" y="4492752"/>
            <a:ext cx="4983343" cy="1112520"/>
          </a:xfrm>
          <a:prstGeom prst="rect">
            <a:avLst/>
          </a:prstGeom>
          <a:noFill/>
        </p:spPr>
        <p:txBody>
          <a:bodyPr wrap="square" lIns="0" rIns="0" tIns="0" bIns="0" anchor="t">
            <a:spAutoFit/>
          </a:bodyPr>
          <a:lstStyle/>
          <a:p>
            <a:pPr algn="l">
              <a:spcAft>
                <a:spcPts val="300"/>
              </a:spcAft>
            </a:pPr>
            <a:r>
              <a:rPr sz="1000" b="1" i="0">
                <a:solidFill>
                  <a:srgbClr val="0E9AA7"/>
                </a:solidFill>
                <a:latin typeface="Calibri"/>
              </a:rPr>
              <a:t>HOW OUR MODEL ADDRESSES IT</a:t>
            </a:r>
          </a:p>
          <a:p>
            <a:pPr algn="l">
              <a:spcAft>
                <a:spcPts val="300"/>
              </a:spcAft>
            </a:pPr>
            <a:r>
              <a:rPr sz="1200" b="0" i="0">
                <a:solidFill>
                  <a:srgbClr val="1A2332"/>
                </a:solidFill>
                <a:latin typeface="Calibri"/>
              </a:rPr>
              <a:t>Separate part encoders for hands, pose and face; an explicit geometry stream; availability mask + learned gates; HTMA with CLS + attention pooling. A different design, not a superiority claim.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93395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933956" cy="316984"/>
          </a:xfrm>
          <a:prstGeom prst="rect">
            <a:avLst/>
          </a:prstGeom>
          <a:noFill/>
        </p:spPr>
        <p:txBody>
          <a:bodyPr wrap="square" lIns="0" rIns="0" tIns="0" bIns="0" anchor="ctr">
            <a:spAutoFit/>
          </a:bodyPr>
          <a:lstStyle/>
          <a:p>
            <a:pPr algn="ctr"/>
            <a:r>
              <a:rPr sz="1133" b="1" i="0">
                <a:solidFill>
                  <a:srgbClr val="0E9AA7"/>
                </a:solidFill>
                <a:latin typeface="Calibri"/>
              </a:rPr>
              <a:t>16  ·  RESEARCH GAP</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Paper-by-Paper Research Gaps (2/3)</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30</a:t>
            </a:r>
          </a:p>
        </p:txBody>
      </p:sp>
      <p:sp>
        <p:nvSpPr>
          <p:cNvPr id="8" name="Rounded Rectangle 7"/>
          <p:cNvSpPr/>
          <p:nvPr/>
        </p:nvSpPr>
        <p:spPr>
          <a:xfrm>
            <a:off x="609585" y="1554480"/>
            <a:ext cx="5349103"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585" y="1554480"/>
            <a:ext cx="5349103" cy="566928"/>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465" y="1554480"/>
            <a:ext cx="2971663" cy="566928"/>
          </a:xfrm>
          <a:prstGeom prst="rect">
            <a:avLst/>
          </a:prstGeom>
          <a:noFill/>
        </p:spPr>
        <p:txBody>
          <a:bodyPr wrap="square" lIns="0" rIns="0" tIns="0" bIns="0" anchor="ctr">
            <a:spAutoFit/>
          </a:bodyPr>
          <a:lstStyle/>
          <a:p>
            <a:pPr algn="l"/>
            <a:r>
              <a:rPr sz="1500" b="1" i="0">
                <a:solidFill>
                  <a:srgbClr val="1A2332"/>
                </a:solidFill>
                <a:latin typeface="Cambria"/>
              </a:rPr>
              <a:t>[3] SignBERT</a:t>
            </a:r>
            <a:r>
              <a:rPr sz="1100" b="0" i="0">
                <a:solidFill>
                  <a:srgbClr val="5A6678"/>
                </a:solidFill>
                <a:latin typeface="Calibri"/>
              </a:rPr>
              <a:t>   ICCV 2021</a:t>
            </a:r>
          </a:p>
        </p:txBody>
      </p:sp>
      <p:sp>
        <p:nvSpPr>
          <p:cNvPr id="11" name="Rounded Rectangle 10"/>
          <p:cNvSpPr/>
          <p:nvPr/>
        </p:nvSpPr>
        <p:spPr>
          <a:xfrm>
            <a:off x="3686404" y="1700784"/>
            <a:ext cx="2107692" cy="274320"/>
          </a:xfrm>
          <a:prstGeom prst="roundRect">
            <a:avLst>
              <a:gd name="adj" fmla="val 50000"/>
            </a:avLst>
          </a:prstGeom>
          <a:solidFill>
            <a:srgbClr val="FFFFFF"/>
          </a:solidFill>
          <a:ln w="9525">
            <a:solidFill>
              <a:srgbClr val="0E9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6404" y="1700784"/>
            <a:ext cx="2107692" cy="274320"/>
          </a:xfrm>
          <a:prstGeom prst="rect">
            <a:avLst/>
          </a:prstGeom>
          <a:noFill/>
        </p:spPr>
        <p:txBody>
          <a:bodyPr wrap="square" lIns="0" rIns="0" tIns="0" bIns="0" anchor="ctr">
            <a:spAutoFit/>
          </a:bodyPr>
          <a:lstStyle/>
          <a:p>
            <a:pPr algn="ctr"/>
            <a:r>
              <a:rPr sz="1000" b="1" i="0">
                <a:solidFill>
                  <a:srgbClr val="0E9AA7"/>
                </a:solidFill>
                <a:latin typeface="Calibri"/>
              </a:rPr>
              <a:t>ARCHITECTURE / LEARNING</a:t>
            </a:r>
          </a:p>
        </p:txBody>
      </p:sp>
      <p:sp>
        <p:nvSpPr>
          <p:cNvPr id="13" name="TextBox 12"/>
          <p:cNvSpPr txBox="1"/>
          <p:nvPr/>
        </p:nvSpPr>
        <p:spPr>
          <a:xfrm>
            <a:off x="792465" y="2267712"/>
            <a:ext cx="4983343" cy="1112520"/>
          </a:xfrm>
          <a:prstGeom prst="rect">
            <a:avLst/>
          </a:prstGeom>
          <a:noFill/>
        </p:spPr>
        <p:txBody>
          <a:bodyPr wrap="square" lIns="0" rIns="0" tIns="0" bIns="0" anchor="t">
            <a:spAutoFit/>
          </a:bodyPr>
          <a:lstStyle/>
          <a:p>
            <a:pPr algn="l">
              <a:spcAft>
                <a:spcPts val="300"/>
              </a:spcAft>
            </a:pPr>
            <a:r>
              <a:rPr sz="1000" b="1" i="0">
                <a:solidFill>
                  <a:srgbClr val="5A6678"/>
                </a:solidFill>
                <a:latin typeface="Calibri"/>
              </a:rPr>
              <a:t>EXISTING APPROACH</a:t>
            </a:r>
          </a:p>
          <a:p>
            <a:pPr algn="l">
              <a:spcAft>
                <a:spcPts val="300"/>
              </a:spcAft>
            </a:pPr>
            <a:r>
              <a:rPr sz="1200" b="0" i="0">
                <a:solidFill>
                  <a:srgbClr val="1A2332"/>
                </a:solidFill>
                <a:latin typeface="Calibri"/>
              </a:rPr>
              <a:t>Hand poses (MMPose) become tokens via GCN, temporal and hand-side embeddings. A Transformer encoder is pre-trained without labels by masked joint/frame modelling with a MANO hand prior, then fine-tuned. RGB or full pose is added by summing prediction scores.</a:t>
            </a:r>
          </a:p>
        </p:txBody>
      </p:sp>
      <p:sp>
        <p:nvSpPr>
          <p:cNvPr id="14" name="TextBox 13"/>
          <p:cNvSpPr txBox="1"/>
          <p:nvPr/>
        </p:nvSpPr>
        <p:spPr>
          <a:xfrm>
            <a:off x="792465" y="3380232"/>
            <a:ext cx="4983343" cy="1112520"/>
          </a:xfrm>
          <a:prstGeom prst="rect">
            <a:avLst/>
          </a:prstGeom>
          <a:noFill/>
        </p:spPr>
        <p:txBody>
          <a:bodyPr wrap="square" lIns="0" rIns="0" tIns="0" bIns="0" anchor="t">
            <a:spAutoFit/>
          </a:bodyPr>
          <a:lstStyle/>
          <a:p>
            <a:pPr algn="l">
              <a:spcAft>
                <a:spcPts val="300"/>
              </a:spcAft>
            </a:pPr>
            <a:r>
              <a:rPr sz="1000" b="1" i="0">
                <a:solidFill>
                  <a:srgbClr val="C98509"/>
                </a:solidFill>
                <a:latin typeface="Calibri"/>
              </a:rPr>
              <a:t>RESEARCH GAP RELEVANT TO OUR WORK</a:t>
            </a:r>
          </a:p>
          <a:p>
            <a:pPr algn="l">
              <a:spcAft>
                <a:spcPts val="300"/>
              </a:spcAft>
            </a:pPr>
            <a:r>
              <a:rPr sz="1200" b="0" i="0">
                <a:solidFill>
                  <a:srgbClr val="1A2332"/>
                </a:solidFill>
                <a:latin typeface="Calibri"/>
              </a:rPr>
              <a:t>Hand-pose tokens only; other modalities join at the score level (late fusion). Relies on self-supervised pre-training over Chinese and American data. Not evaluated on ISL.</a:t>
            </a:r>
          </a:p>
        </p:txBody>
      </p:sp>
      <p:sp>
        <p:nvSpPr>
          <p:cNvPr id="15" name="TextBox 14"/>
          <p:cNvSpPr txBox="1"/>
          <p:nvPr/>
        </p:nvSpPr>
        <p:spPr>
          <a:xfrm>
            <a:off x="792465" y="4492752"/>
            <a:ext cx="4983343" cy="1112520"/>
          </a:xfrm>
          <a:prstGeom prst="rect">
            <a:avLst/>
          </a:prstGeom>
          <a:noFill/>
        </p:spPr>
        <p:txBody>
          <a:bodyPr wrap="square" lIns="0" rIns="0" tIns="0" bIns="0" anchor="t">
            <a:spAutoFit/>
          </a:bodyPr>
          <a:lstStyle/>
          <a:p>
            <a:pPr algn="l">
              <a:spcAft>
                <a:spcPts val="300"/>
              </a:spcAft>
            </a:pPr>
            <a:r>
              <a:rPr sz="1000" b="1" i="0">
                <a:solidFill>
                  <a:srgbClr val="0E9AA7"/>
                </a:solidFill>
                <a:latin typeface="Calibri"/>
              </a:rPr>
              <a:t>HOW OUR MODEL ADDRESSES IT</a:t>
            </a:r>
          </a:p>
          <a:p>
            <a:pPr algn="l">
              <a:spcAft>
                <a:spcPts val="300"/>
              </a:spcAft>
            </a:pPr>
            <a:r>
              <a:rPr sz="1200" b="0" i="0">
                <a:solidFill>
                  <a:srgbClr val="1A2332"/>
                </a:solidFill>
                <a:latin typeface="Calibri"/>
              </a:rPr>
              <a:t>Hands, pose, face and geometry are fused at feature level through learned gates before HTMA, trained with INCLUDE labels. We do not claim to solve the pose-noise or data-scarcity problems SignBERT's pre-training targets.</a:t>
            </a:r>
          </a:p>
        </p:txBody>
      </p:sp>
      <p:sp>
        <p:nvSpPr>
          <p:cNvPr id="16" name="Rounded Rectangle 15"/>
          <p:cNvSpPr/>
          <p:nvPr/>
        </p:nvSpPr>
        <p:spPr>
          <a:xfrm>
            <a:off x="6233008" y="1554480"/>
            <a:ext cx="5349103"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33008" y="1554480"/>
            <a:ext cx="5349103" cy="566928"/>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5888" y="1554480"/>
            <a:ext cx="2971663" cy="566928"/>
          </a:xfrm>
          <a:prstGeom prst="rect">
            <a:avLst/>
          </a:prstGeom>
          <a:noFill/>
        </p:spPr>
        <p:txBody>
          <a:bodyPr wrap="square" lIns="0" rIns="0" tIns="0" bIns="0" anchor="ctr">
            <a:spAutoFit/>
          </a:bodyPr>
          <a:lstStyle/>
          <a:p>
            <a:pPr algn="l"/>
            <a:r>
              <a:rPr sz="1500" b="1" i="0">
                <a:solidFill>
                  <a:srgbClr val="1A2332"/>
                </a:solidFill>
                <a:latin typeface="Cambria"/>
              </a:rPr>
              <a:t>[4] Li et al. (WLASL)</a:t>
            </a:r>
            <a:r>
              <a:rPr sz="1100" b="0" i="0">
                <a:solidFill>
                  <a:srgbClr val="5A6678"/>
                </a:solidFill>
                <a:latin typeface="Calibri"/>
              </a:rPr>
              <a:t>   WACV 2020</a:t>
            </a:r>
          </a:p>
        </p:txBody>
      </p:sp>
      <p:sp>
        <p:nvSpPr>
          <p:cNvPr id="19" name="Rounded Rectangle 18"/>
          <p:cNvSpPr/>
          <p:nvPr/>
        </p:nvSpPr>
        <p:spPr>
          <a:xfrm>
            <a:off x="9232103" y="1700784"/>
            <a:ext cx="2185416" cy="274320"/>
          </a:xfrm>
          <a:prstGeom prst="roundRect">
            <a:avLst>
              <a:gd name="adj" fmla="val 50000"/>
            </a:avLst>
          </a:prstGeom>
          <a:solidFill>
            <a:srgbClr val="FFFFFF"/>
          </a:solidFill>
          <a:ln w="9525">
            <a:solidFill>
              <a:srgbClr val="0E9AA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32103" y="1700784"/>
            <a:ext cx="2185416" cy="274320"/>
          </a:xfrm>
          <a:prstGeom prst="rect">
            <a:avLst/>
          </a:prstGeom>
          <a:noFill/>
        </p:spPr>
        <p:txBody>
          <a:bodyPr wrap="square" lIns="0" rIns="0" tIns="0" bIns="0" anchor="ctr">
            <a:spAutoFit/>
          </a:bodyPr>
          <a:lstStyle/>
          <a:p>
            <a:pPr algn="ctr"/>
            <a:r>
              <a:rPr sz="1000" b="1" i="0">
                <a:solidFill>
                  <a:srgbClr val="0E9AA7"/>
                </a:solidFill>
                <a:latin typeface="Calibri"/>
              </a:rPr>
              <a:t>ARCHITECTURAL DIFFERENCE</a:t>
            </a:r>
          </a:p>
        </p:txBody>
      </p:sp>
      <p:sp>
        <p:nvSpPr>
          <p:cNvPr id="21" name="TextBox 20"/>
          <p:cNvSpPr txBox="1"/>
          <p:nvPr/>
        </p:nvSpPr>
        <p:spPr>
          <a:xfrm>
            <a:off x="6415888" y="2267712"/>
            <a:ext cx="4983343" cy="1112520"/>
          </a:xfrm>
          <a:prstGeom prst="rect">
            <a:avLst/>
          </a:prstGeom>
          <a:noFill/>
        </p:spPr>
        <p:txBody>
          <a:bodyPr wrap="square" lIns="0" rIns="0" tIns="0" bIns="0" anchor="t">
            <a:spAutoFit/>
          </a:bodyPr>
          <a:lstStyle/>
          <a:p>
            <a:pPr algn="l">
              <a:spcAft>
                <a:spcPts val="300"/>
              </a:spcAft>
            </a:pPr>
            <a:r>
              <a:rPr sz="1000" b="1" i="0">
                <a:solidFill>
                  <a:srgbClr val="5A6678"/>
                </a:solidFill>
                <a:latin typeface="Calibri"/>
              </a:rPr>
              <a:t>EXISTING APPROACH</a:t>
            </a:r>
          </a:p>
          <a:p>
            <a:pPr algn="l">
              <a:spcAft>
                <a:spcPts val="300"/>
              </a:spcAft>
            </a:pPr>
            <a:r>
              <a:rPr sz="1200" b="0" i="0">
                <a:solidFill>
                  <a:srgbClr val="1A2332"/>
                </a:solidFill>
                <a:latin typeface="Calibri"/>
              </a:rPr>
              <a:t>Introduces WLASL (21,083 videos, 2,000 ASL glosses). Benchmarks I3D (ImageNet + Kinetics pre-trained 3D CNN) on RGB, VGG16-GRU, Pose-GRU, and Pose-TGCN on OpenPose keypoints.</a:t>
            </a:r>
          </a:p>
        </p:txBody>
      </p:sp>
      <p:sp>
        <p:nvSpPr>
          <p:cNvPr id="22" name="TextBox 21"/>
          <p:cNvSpPr txBox="1"/>
          <p:nvPr/>
        </p:nvSpPr>
        <p:spPr>
          <a:xfrm>
            <a:off x="6415888" y="3380232"/>
            <a:ext cx="4983343" cy="1112520"/>
          </a:xfrm>
          <a:prstGeom prst="rect">
            <a:avLst/>
          </a:prstGeom>
          <a:noFill/>
        </p:spPr>
        <p:txBody>
          <a:bodyPr wrap="square" lIns="0" rIns="0" tIns="0" bIns="0" anchor="t">
            <a:spAutoFit/>
          </a:bodyPr>
          <a:lstStyle/>
          <a:p>
            <a:pPr algn="l">
              <a:spcAft>
                <a:spcPts val="300"/>
              </a:spcAft>
            </a:pPr>
            <a:r>
              <a:rPr sz="1000" b="1" i="0">
                <a:solidFill>
                  <a:srgbClr val="C98509"/>
                </a:solidFill>
                <a:latin typeface="Calibri"/>
              </a:rPr>
              <a:t>RESEARCH GAP RELEVANT TO OUR WORK</a:t>
            </a:r>
          </a:p>
          <a:p>
            <a:pPr algn="l">
              <a:spcAft>
                <a:spcPts val="300"/>
              </a:spcAft>
            </a:pPr>
            <a:r>
              <a:rPr sz="1200" b="0" i="0">
                <a:solidFill>
                  <a:srgbClr val="1A2332"/>
                </a:solidFill>
                <a:latin typeface="Calibri"/>
              </a:rPr>
              <a:t>RGB and pose models are compared side by side, never combined; Pose-GRU concatenates coordinates and Pose-TGCN averages over time. I3D Top-1 falls to 32.48% on 2,000 glosses.</a:t>
            </a:r>
          </a:p>
        </p:txBody>
      </p:sp>
      <p:sp>
        <p:nvSpPr>
          <p:cNvPr id="23" name="TextBox 22"/>
          <p:cNvSpPr txBox="1"/>
          <p:nvPr/>
        </p:nvSpPr>
        <p:spPr>
          <a:xfrm>
            <a:off x="6415888" y="4492752"/>
            <a:ext cx="4983343" cy="1112520"/>
          </a:xfrm>
          <a:prstGeom prst="rect">
            <a:avLst/>
          </a:prstGeom>
          <a:noFill/>
        </p:spPr>
        <p:txBody>
          <a:bodyPr wrap="square" lIns="0" rIns="0" tIns="0" bIns="0" anchor="t">
            <a:spAutoFit/>
          </a:bodyPr>
          <a:lstStyle/>
          <a:p>
            <a:pPr algn="l">
              <a:spcAft>
                <a:spcPts val="300"/>
              </a:spcAft>
            </a:pPr>
            <a:r>
              <a:rPr sz="1000" b="1" i="0">
                <a:solidFill>
                  <a:srgbClr val="0E9AA7"/>
                </a:solidFill>
                <a:latin typeface="Calibri"/>
              </a:rPr>
              <a:t>HOW OUR MODEL ADDRESSES IT</a:t>
            </a:r>
          </a:p>
          <a:p>
            <a:pPr algn="l">
              <a:spcAft>
                <a:spcPts val="300"/>
              </a:spcAft>
            </a:pPr>
            <a:r>
              <a:rPr sz="1200" b="0" i="0">
                <a:solidFill>
                  <a:srgbClr val="1A2332"/>
                </a:solidFill>
                <a:latin typeface="Calibri"/>
              </a:rPr>
              <a:t>Part-aware Conv1D encoders → gated fusion → HTMA → CLS + attention pooling, instead of one concatenated vector and average pooling; applied to ISL (INCLUDE) only.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93395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933956" cy="316984"/>
          </a:xfrm>
          <a:prstGeom prst="rect">
            <a:avLst/>
          </a:prstGeom>
          <a:noFill/>
        </p:spPr>
        <p:txBody>
          <a:bodyPr wrap="square" lIns="0" rIns="0" tIns="0" bIns="0" anchor="ctr">
            <a:spAutoFit/>
          </a:bodyPr>
          <a:lstStyle/>
          <a:p>
            <a:pPr algn="ctr"/>
            <a:r>
              <a:rPr sz="1133" b="1" i="0">
                <a:solidFill>
                  <a:srgbClr val="0E9AA7"/>
                </a:solidFill>
                <a:latin typeface="Calibri"/>
              </a:rPr>
              <a:t>16  ·  RESEARCH GAP</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Paper-by-Paper Research Gaps (3/3)</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31</a:t>
            </a:r>
          </a:p>
        </p:txBody>
      </p:sp>
      <p:sp>
        <p:nvSpPr>
          <p:cNvPr id="8" name="Rounded Rectangle 7"/>
          <p:cNvSpPr/>
          <p:nvPr/>
        </p:nvSpPr>
        <p:spPr>
          <a:xfrm>
            <a:off x="609585" y="1554480"/>
            <a:ext cx="5806440"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585" y="1554480"/>
            <a:ext cx="5806440" cy="566928"/>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2465" y="1554480"/>
            <a:ext cx="3429000" cy="566928"/>
          </a:xfrm>
          <a:prstGeom prst="rect">
            <a:avLst/>
          </a:prstGeom>
          <a:noFill/>
        </p:spPr>
        <p:txBody>
          <a:bodyPr wrap="square" lIns="0" rIns="0" tIns="0" bIns="0" anchor="ctr">
            <a:spAutoFit/>
          </a:bodyPr>
          <a:lstStyle/>
          <a:p>
            <a:pPr algn="l"/>
            <a:r>
              <a:rPr sz="1500" b="1" i="0">
                <a:solidFill>
                  <a:srgbClr val="1A2332"/>
                </a:solidFill>
                <a:latin typeface="Cambria"/>
              </a:rPr>
              <a:t>[5] Camgöz et al.</a:t>
            </a:r>
            <a:r>
              <a:rPr sz="1100" b="0" i="0">
                <a:solidFill>
                  <a:srgbClr val="5A6678"/>
                </a:solidFill>
                <a:latin typeface="Calibri"/>
              </a:rPr>
              <a:t>   CVPR 2020</a:t>
            </a:r>
          </a:p>
        </p:txBody>
      </p:sp>
      <p:sp>
        <p:nvSpPr>
          <p:cNvPr id="11" name="Rounded Rectangle 10"/>
          <p:cNvSpPr/>
          <p:nvPr/>
        </p:nvSpPr>
        <p:spPr>
          <a:xfrm>
            <a:off x="4687809" y="1700784"/>
            <a:ext cx="1563624" cy="274320"/>
          </a:xfrm>
          <a:prstGeom prst="roundRect">
            <a:avLst>
              <a:gd name="adj" fmla="val 50000"/>
            </a:avLst>
          </a:prstGeom>
          <a:solidFill>
            <a:srgbClr val="FFFFFF"/>
          </a:solidFill>
          <a:ln w="9525">
            <a:solidFill>
              <a:srgbClr val="5B5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7809" y="1700784"/>
            <a:ext cx="1563624" cy="274320"/>
          </a:xfrm>
          <a:prstGeom prst="rect">
            <a:avLst/>
          </a:prstGeom>
          <a:noFill/>
        </p:spPr>
        <p:txBody>
          <a:bodyPr wrap="square" lIns="0" rIns="0" tIns="0" bIns="0" anchor="ctr">
            <a:spAutoFit/>
          </a:bodyPr>
          <a:lstStyle/>
          <a:p>
            <a:pPr algn="ctr"/>
            <a:r>
              <a:rPr sz="1000" b="1" i="0">
                <a:solidFill>
                  <a:srgbClr val="5B5BD6"/>
                </a:solidFill>
                <a:latin typeface="Calibri"/>
              </a:rPr>
              <a:t>SCOPE DIFFERENCE</a:t>
            </a:r>
          </a:p>
        </p:txBody>
      </p:sp>
      <p:sp>
        <p:nvSpPr>
          <p:cNvPr id="13" name="TextBox 12"/>
          <p:cNvSpPr txBox="1"/>
          <p:nvPr/>
        </p:nvSpPr>
        <p:spPr>
          <a:xfrm>
            <a:off x="792465" y="2267712"/>
            <a:ext cx="5440680" cy="1112520"/>
          </a:xfrm>
          <a:prstGeom prst="rect">
            <a:avLst/>
          </a:prstGeom>
          <a:noFill/>
        </p:spPr>
        <p:txBody>
          <a:bodyPr wrap="square" lIns="0" rIns="0" tIns="0" bIns="0" anchor="t">
            <a:spAutoFit/>
          </a:bodyPr>
          <a:lstStyle/>
          <a:p>
            <a:pPr algn="l">
              <a:spcAft>
                <a:spcPts val="300"/>
              </a:spcAft>
            </a:pPr>
            <a:r>
              <a:rPr sz="1000" b="1" i="0">
                <a:solidFill>
                  <a:srgbClr val="5A6678"/>
                </a:solidFill>
                <a:latin typeface="Calibri"/>
              </a:rPr>
              <a:t>EXISTING APPROACH</a:t>
            </a:r>
          </a:p>
          <a:p>
            <a:pPr algn="l">
              <a:spcAft>
                <a:spcPts val="300"/>
              </a:spcAft>
            </a:pPr>
            <a:r>
              <a:rPr sz="1200" b="0" i="0">
                <a:solidFill>
                  <a:srgbClr val="1A2332"/>
                </a:solidFill>
                <a:latin typeface="Calibri"/>
              </a:rPr>
              <a:t>CNN frame embeddings → Transformer encoder trained with CTC for continuous gloss recognition, plus an autoregressive Transformer decoder that writes German sentences. Trained on PHOENIX14T weather broadcasts (9 signers).</a:t>
            </a:r>
          </a:p>
        </p:txBody>
      </p:sp>
      <p:sp>
        <p:nvSpPr>
          <p:cNvPr id="14" name="TextBox 13"/>
          <p:cNvSpPr txBox="1"/>
          <p:nvPr/>
        </p:nvSpPr>
        <p:spPr>
          <a:xfrm>
            <a:off x="792465" y="3380232"/>
            <a:ext cx="5440680" cy="1112520"/>
          </a:xfrm>
          <a:prstGeom prst="rect">
            <a:avLst/>
          </a:prstGeom>
          <a:noFill/>
        </p:spPr>
        <p:txBody>
          <a:bodyPr wrap="square" lIns="0" rIns="0" tIns="0" bIns="0" anchor="t">
            <a:spAutoFit/>
          </a:bodyPr>
          <a:lstStyle/>
          <a:p>
            <a:pPr algn="l">
              <a:spcAft>
                <a:spcPts val="300"/>
              </a:spcAft>
            </a:pPr>
            <a:r>
              <a:rPr sz="1000" b="1" i="0">
                <a:solidFill>
                  <a:srgbClr val="C98509"/>
                </a:solidFill>
                <a:latin typeface="Calibri"/>
              </a:rPr>
              <a:t>RESEARCH GAP RELEVANT TO OUR WORK</a:t>
            </a:r>
          </a:p>
          <a:p>
            <a:pPr algn="l">
              <a:spcAft>
                <a:spcPts val="300"/>
              </a:spcAft>
            </a:pPr>
            <a:r>
              <a:rPr sz="1200" b="0" i="0">
                <a:solidFill>
                  <a:srgbClr val="1A2332"/>
                </a:solidFill>
                <a:latin typeface="Calibri"/>
              </a:rPr>
              <a:t>Different task: continuous DGS recognition and translation (WER, BLEU) vs our isolated ISL classification. RGB-only input; the authors list separate modelling of face, hands and body as future work.</a:t>
            </a:r>
          </a:p>
        </p:txBody>
      </p:sp>
      <p:sp>
        <p:nvSpPr>
          <p:cNvPr id="15" name="TextBox 14"/>
          <p:cNvSpPr txBox="1"/>
          <p:nvPr/>
        </p:nvSpPr>
        <p:spPr>
          <a:xfrm>
            <a:off x="792465" y="4492752"/>
            <a:ext cx="5440680" cy="1112520"/>
          </a:xfrm>
          <a:prstGeom prst="rect">
            <a:avLst/>
          </a:prstGeom>
          <a:noFill/>
        </p:spPr>
        <p:txBody>
          <a:bodyPr wrap="square" lIns="0" rIns="0" tIns="0" bIns="0" anchor="t">
            <a:spAutoFit/>
          </a:bodyPr>
          <a:lstStyle/>
          <a:p>
            <a:pPr algn="l">
              <a:spcAft>
                <a:spcPts val="300"/>
              </a:spcAft>
            </a:pPr>
            <a:r>
              <a:rPr sz="1000" b="1" i="0">
                <a:solidFill>
                  <a:srgbClr val="0E9AA7"/>
                </a:solidFill>
                <a:latin typeface="Calibri"/>
              </a:rPr>
              <a:t>HOW OUR MODEL ADDRESSES IT</a:t>
            </a:r>
          </a:p>
          <a:p>
            <a:pPr algn="l">
              <a:spcAft>
                <a:spcPts val="300"/>
              </a:spcAft>
            </a:pPr>
            <a:r>
              <a:rPr sz="1200" b="0" i="0">
                <a:solidFill>
                  <a:srgbClr val="1A2332"/>
                </a:solidFill>
                <a:latin typeface="Calibri"/>
              </a:rPr>
              <a:t>For isolated ISL, we model hands, body pose and face as separate streams (the articulator modelling they list as future work) and extend output to speech. We do not replace or outperform their translation system.</a:t>
            </a:r>
          </a:p>
        </p:txBody>
      </p:sp>
      <p:sp>
        <p:nvSpPr>
          <p:cNvPr id="16" name="TextBox 15"/>
          <p:cNvSpPr txBox="1"/>
          <p:nvPr/>
        </p:nvSpPr>
        <p:spPr>
          <a:xfrm>
            <a:off x="6690345" y="1554480"/>
            <a:ext cx="4891766" cy="365760"/>
          </a:xfrm>
          <a:prstGeom prst="rect">
            <a:avLst/>
          </a:prstGeom>
          <a:noFill/>
        </p:spPr>
        <p:txBody>
          <a:bodyPr wrap="square" lIns="0" rIns="0" tIns="0" bIns="0" anchor="ctr">
            <a:spAutoFit/>
          </a:bodyPr>
          <a:lstStyle/>
          <a:p>
            <a:pPr algn="l"/>
            <a:r>
              <a:rPr sz="1400" b="1" i="0">
                <a:solidFill>
                  <a:srgbClr val="1A2332"/>
                </a:solidFill>
                <a:latin typeface="Cambria"/>
              </a:rPr>
              <a:t>Isolated vs continuous: not the same problem</a:t>
            </a:r>
          </a:p>
        </p:txBody>
      </p:sp>
      <p:graphicFrame>
        <p:nvGraphicFramePr>
          <p:cNvPr id="17" name="Table 16"/>
          <p:cNvGraphicFramePr>
            <a:graphicFrameLocks noGrp="1"/>
          </p:cNvGraphicFramePr>
          <p:nvPr/>
        </p:nvGraphicFramePr>
        <p:xfrm>
          <a:off x="6690345" y="2011680"/>
          <a:ext cx="4891766" cy="3703320"/>
        </p:xfrm>
        <a:graphic>
          <a:graphicData uri="http://schemas.openxmlformats.org/drawingml/2006/table">
            <a:tbl>
              <a:tblPr/>
              <a:tblGrid>
                <a:gridCol w="1143000"/>
                <a:gridCol w="1463040"/>
                <a:gridCol w="2285726"/>
              </a:tblGrid>
              <a:tr h="411480">
                <a:tc>
                  <a:txBody>
                    <a:bodyPr wrap="square"/>
                    <a:lstStyle/>
                    <a:p>
                      <a:r>
                        <a:rPr sz="1100" b="1" i="0">
                          <a:solidFill>
                            <a:srgbClr val="FFFFFF"/>
                          </a:solidFill>
                          <a:latin typeface="Calibri"/>
                        </a:rPr>
                        <a:t>Aspect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Camgöz et al. [5]</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Our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548640">
                <a:tc>
                  <a:txBody>
                    <a:bodyPr wrap="square"/>
                    <a:lstStyle/>
                    <a:p>
                      <a:r>
                        <a:rPr sz="1100" b="1" i="0">
                          <a:solidFill>
                            <a:srgbClr val="1A2332"/>
                          </a:solidFill>
                          <a:latin typeface="Calibri"/>
                        </a:rPr>
                        <a:t>Unit recognised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Whole sentence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Single sign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48640">
                <a:tc>
                  <a:txBody>
                    <a:bodyPr wrap="square"/>
                    <a:lstStyle/>
                    <a:p>
                      <a:r>
                        <a:rPr sz="1100" b="1" i="0">
                          <a:solidFill>
                            <a:srgbClr val="1A2332"/>
                          </a:solidFill>
                          <a:latin typeface="Calibri"/>
                        </a:rPr>
                        <a:t>Dataset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PHOENIX14T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INCLUDE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48640">
                <a:tc>
                  <a:txBody>
                    <a:bodyPr wrap="square"/>
                    <a:lstStyle/>
                    <a:p>
                      <a:r>
                        <a:rPr sz="1100" b="1" i="0">
                          <a:solidFill>
                            <a:srgbClr val="1A2332"/>
                          </a:solidFill>
                          <a:latin typeface="Calibri"/>
                        </a:rPr>
                        <a:t>Language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German SL (DGS)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Indian 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48640">
                <a:tc>
                  <a:txBody>
                    <a:bodyPr wrap="square"/>
                    <a:lstStyle/>
                    <a:p>
                      <a:r>
                        <a:rPr sz="1100" b="1" i="0">
                          <a:solidFill>
                            <a:srgbClr val="1A2332"/>
                          </a:solidFill>
                          <a:latin typeface="Calibri"/>
                        </a:rPr>
                        <a:t>Supervision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Gloss sequence (CTC) + sentence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One class label per video</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48640">
                <a:tc>
                  <a:txBody>
                    <a:bodyPr wrap="square"/>
                    <a:lstStyle/>
                    <a:p>
                      <a:r>
                        <a:rPr sz="1100" b="1" i="0">
                          <a:solidFill>
                            <a:srgbClr val="1A2332"/>
                          </a:solidFill>
                          <a:latin typeface="Calibri"/>
                        </a:rPr>
                        <a:t>Metric</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WER, BLEU</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Top-1, Top-5, Macro-F1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48640">
                <a:tc>
                  <a:txBody>
                    <a:bodyPr wrap="square"/>
                    <a:lstStyle/>
                    <a:p>
                      <a:r>
                        <a:rPr sz="1100" b="1" i="0">
                          <a:solidFill>
                            <a:srgbClr val="1A2332"/>
                          </a:solidFill>
                          <a:latin typeface="Calibri"/>
                        </a:rPr>
                        <a:t>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German text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Sign label → text → speech</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93395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933956" cy="316984"/>
          </a:xfrm>
          <a:prstGeom prst="rect">
            <a:avLst/>
          </a:prstGeom>
          <a:noFill/>
        </p:spPr>
        <p:txBody>
          <a:bodyPr wrap="square" lIns="0" rIns="0" tIns="0" bIns="0" anchor="ctr">
            <a:spAutoFit/>
          </a:bodyPr>
          <a:lstStyle/>
          <a:p>
            <a:pPr algn="ctr"/>
            <a:r>
              <a:rPr sz="1133" b="1" i="0">
                <a:solidFill>
                  <a:srgbClr val="0E9AA7"/>
                </a:solidFill>
                <a:latin typeface="Calibri"/>
              </a:rPr>
              <a:t>16  ·  RESEARCH GAP</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How Our Model Addresses Each Gap</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32</a:t>
            </a:r>
          </a:p>
        </p:txBody>
      </p:sp>
      <p:sp>
        <p:nvSpPr>
          <p:cNvPr id="8" name="TextBox 7"/>
          <p:cNvSpPr txBox="1"/>
          <p:nvPr/>
        </p:nvSpPr>
        <p:spPr>
          <a:xfrm>
            <a:off x="609585" y="1536192"/>
            <a:ext cx="10972526" cy="310896"/>
          </a:xfrm>
          <a:prstGeom prst="rect">
            <a:avLst/>
          </a:prstGeom>
          <a:noFill/>
        </p:spPr>
        <p:txBody>
          <a:bodyPr wrap="square" lIns="0" rIns="0" tIns="0" bIns="0" anchor="ctr">
            <a:spAutoFit/>
          </a:bodyPr>
          <a:lstStyle/>
          <a:p>
            <a:pPr algn="l"/>
            <a:r>
              <a:rPr sz="1200" b="1" i="0">
                <a:solidFill>
                  <a:srgbClr val="1A2332"/>
                </a:solidFill>
                <a:latin typeface="Calibri"/>
              </a:rPr>
              <a:t>Pipeline:  </a:t>
            </a:r>
            <a:r>
              <a:rPr sz="1200" b="0" i="0">
                <a:solidFill>
                  <a:srgbClr val="5A6678"/>
                </a:solidFill>
                <a:latin typeface="Calibri"/>
              </a:rPr>
              <a:t>64 frames → MediaPipe (landmarks, geometry, availability) → Part-aware Conv1D → Gated fusion → 4 × HTMA → 262 classes → Text → Speech</a:t>
            </a:r>
          </a:p>
        </p:txBody>
      </p:sp>
      <p:sp>
        <p:nvSpPr>
          <p:cNvPr id="9" name="Rounded Rectangle 8"/>
          <p:cNvSpPr/>
          <p:nvPr/>
        </p:nvSpPr>
        <p:spPr>
          <a:xfrm>
            <a:off x="609585" y="2011680"/>
            <a:ext cx="1706834" cy="914400"/>
          </a:xfrm>
          <a:prstGeom prst="roundRect">
            <a:avLst>
              <a:gd name="adj" fmla="val 12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1025" y="2011680"/>
            <a:ext cx="1523954" cy="914400"/>
          </a:xfrm>
          <a:prstGeom prst="rect">
            <a:avLst/>
          </a:prstGeom>
          <a:noFill/>
        </p:spPr>
        <p:txBody>
          <a:bodyPr wrap="square" lIns="0" rIns="0" tIns="0" bIns="0" anchor="ctr">
            <a:spAutoFit/>
          </a:bodyPr>
          <a:lstStyle/>
          <a:p>
            <a:pPr algn="ctr">
              <a:spcAft>
                <a:spcPts val="200"/>
              </a:spcAft>
            </a:pPr>
            <a:r>
              <a:rPr sz="1400" b="1" i="0">
                <a:solidFill>
                  <a:srgbClr val="FFFFFF"/>
                </a:solidFill>
                <a:latin typeface="Calibri"/>
              </a:rPr>
              <a:t>Part Encoders</a:t>
            </a:r>
          </a:p>
          <a:p>
            <a:pPr algn="ctr">
              <a:spcAft>
                <a:spcPts val="200"/>
              </a:spcAft>
            </a:pPr>
            <a:r>
              <a:rPr sz="1050" b="0" i="0">
                <a:solidFill>
                  <a:srgbClr val="E6ECF4"/>
                </a:solidFill>
                <a:latin typeface="Calibri"/>
              </a:rPr>
              <a:t>Conv1D: hands · pose · face</a:t>
            </a:r>
          </a:p>
        </p:txBody>
      </p:sp>
      <p:sp>
        <p:nvSpPr>
          <p:cNvPr id="11" name="Rounded Rectangle 10"/>
          <p:cNvSpPr/>
          <p:nvPr/>
        </p:nvSpPr>
        <p:spPr>
          <a:xfrm>
            <a:off x="609585" y="3063240"/>
            <a:ext cx="1706834" cy="192024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6745" y="3172968"/>
            <a:ext cx="1432514" cy="1783080"/>
          </a:xfrm>
          <a:prstGeom prst="rect">
            <a:avLst/>
          </a:prstGeom>
          <a:noFill/>
        </p:spPr>
        <p:txBody>
          <a:bodyPr wrap="square" lIns="0" rIns="0" tIns="0" bIns="0" anchor="t">
            <a:spAutoFit/>
          </a:bodyPr>
          <a:lstStyle/>
          <a:p>
            <a:pPr algn="l">
              <a:spcAft>
                <a:spcPts val="200"/>
              </a:spcAft>
            </a:pPr>
            <a:r>
              <a:rPr sz="950" b="1" i="0">
                <a:solidFill>
                  <a:srgbClr val="5A6678"/>
                </a:solidFill>
                <a:latin typeface="Calibri"/>
              </a:rPr>
              <a:t>DIFFERS FROM</a:t>
            </a:r>
          </a:p>
          <a:p>
            <a:pPr algn="l">
              <a:spcAft>
                <a:spcPts val="200"/>
              </a:spcAft>
            </a:pPr>
            <a:r>
              <a:rPr sz="1300" b="1" i="0">
                <a:solidFill>
                  <a:srgbClr val="0E9AA7"/>
                </a:solidFill>
                <a:latin typeface="Calibri"/>
              </a:rPr>
              <a:t>[2] SPOTER  ·  [4]</a:t>
            </a:r>
          </a:p>
          <a:p>
            <a:pPr algn="l">
              <a:spcAft>
                <a:spcPts val="200"/>
              </a:spcAft>
            </a:pPr>
            <a:r>
              <a:rPr sz="400" b="0" i="0">
                <a:solidFill>
                  <a:srgbClr val="1A2332"/>
                </a:solidFill>
                <a:latin typeface="Calibri"/>
              </a:rPr>
              <a:t/>
            </a:r>
          </a:p>
          <a:p>
            <a:pPr algn="l">
              <a:spcAft>
                <a:spcPts val="200"/>
              </a:spcAft>
            </a:pPr>
            <a:r>
              <a:rPr sz="1350" b="0" i="0">
                <a:solidFill>
                  <a:srgbClr val="1A2332"/>
                </a:solidFill>
                <a:latin typeface="Calibri"/>
              </a:rPr>
              <a:t>Encodes each body region separately instead of one concatenated vector.</a:t>
            </a:r>
          </a:p>
        </p:txBody>
      </p:sp>
      <p:sp>
        <p:nvSpPr>
          <p:cNvPr id="13" name="Rounded Rectangle 12"/>
          <p:cNvSpPr/>
          <p:nvPr/>
        </p:nvSpPr>
        <p:spPr>
          <a:xfrm>
            <a:off x="2462723" y="2011680"/>
            <a:ext cx="1706834" cy="914400"/>
          </a:xfrm>
          <a:prstGeom prst="roundRect">
            <a:avLst>
              <a:gd name="adj" fmla="val 12000"/>
            </a:avLst>
          </a:prstGeom>
          <a:solidFill>
            <a:srgbClr val="C985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54163" y="2011680"/>
            <a:ext cx="1523954" cy="914400"/>
          </a:xfrm>
          <a:prstGeom prst="rect">
            <a:avLst/>
          </a:prstGeom>
          <a:noFill/>
        </p:spPr>
        <p:txBody>
          <a:bodyPr wrap="square" lIns="0" rIns="0" tIns="0" bIns="0" anchor="ctr">
            <a:spAutoFit/>
          </a:bodyPr>
          <a:lstStyle/>
          <a:p>
            <a:pPr algn="ctr">
              <a:spcAft>
                <a:spcPts val="200"/>
              </a:spcAft>
            </a:pPr>
            <a:r>
              <a:rPr sz="1400" b="1" i="0">
                <a:solidFill>
                  <a:srgbClr val="FFFFFF"/>
                </a:solidFill>
                <a:latin typeface="Calibri"/>
              </a:rPr>
              <a:t>Geometry Stream</a:t>
            </a:r>
          </a:p>
          <a:p>
            <a:pPr algn="ctr">
              <a:spcAft>
                <a:spcPts val="200"/>
              </a:spcAft>
            </a:pPr>
            <a:r>
              <a:rPr sz="1050" b="0" i="0">
                <a:solidFill>
                  <a:srgbClr val="E6ECF4"/>
                </a:solidFill>
                <a:latin typeface="Calibri"/>
              </a:rPr>
              <a:t>469-D engineered features</a:t>
            </a:r>
          </a:p>
        </p:txBody>
      </p:sp>
      <p:sp>
        <p:nvSpPr>
          <p:cNvPr id="15" name="Rounded Rectangle 14"/>
          <p:cNvSpPr/>
          <p:nvPr/>
        </p:nvSpPr>
        <p:spPr>
          <a:xfrm>
            <a:off x="2462723" y="3063240"/>
            <a:ext cx="1706834" cy="192024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9883" y="3172968"/>
            <a:ext cx="1432514" cy="1783080"/>
          </a:xfrm>
          <a:prstGeom prst="rect">
            <a:avLst/>
          </a:prstGeom>
          <a:noFill/>
        </p:spPr>
        <p:txBody>
          <a:bodyPr wrap="square" lIns="0" rIns="0" tIns="0" bIns="0" anchor="t">
            <a:spAutoFit/>
          </a:bodyPr>
          <a:lstStyle/>
          <a:p>
            <a:pPr algn="l">
              <a:spcAft>
                <a:spcPts val="200"/>
              </a:spcAft>
            </a:pPr>
            <a:r>
              <a:rPr sz="950" b="1" i="0">
                <a:solidFill>
                  <a:srgbClr val="5A6678"/>
                </a:solidFill>
                <a:latin typeface="Calibri"/>
              </a:rPr>
              <a:t>DIFFERS FROM</a:t>
            </a:r>
          </a:p>
          <a:p>
            <a:pPr algn="l">
              <a:spcAft>
                <a:spcPts val="200"/>
              </a:spcAft>
            </a:pPr>
            <a:r>
              <a:rPr sz="1300" b="1" i="0">
                <a:solidFill>
                  <a:srgbClr val="C98509"/>
                </a:solidFill>
                <a:latin typeface="Calibri"/>
              </a:rPr>
              <a:t>[1]–[4]</a:t>
            </a:r>
          </a:p>
          <a:p>
            <a:pPr algn="l">
              <a:spcAft>
                <a:spcPts val="200"/>
              </a:spcAft>
            </a:pPr>
            <a:r>
              <a:rPr sz="400" b="0" i="0">
                <a:solidFill>
                  <a:srgbClr val="1A2332"/>
                </a:solidFill>
                <a:latin typeface="Calibri"/>
              </a:rPr>
              <a:t/>
            </a:r>
          </a:p>
          <a:p>
            <a:pPr algn="l">
              <a:spcAft>
                <a:spcPts val="200"/>
              </a:spcAft>
            </a:pPr>
            <a:r>
              <a:rPr sz="1350" b="0" i="0">
                <a:solidFill>
                  <a:srgbClr val="1A2332"/>
                </a:solidFill>
                <a:latin typeface="Calibri"/>
              </a:rPr>
              <a:t>Adds bone lengths, joint angles, velocity and acceleration beside raw coordinates.</a:t>
            </a:r>
          </a:p>
        </p:txBody>
      </p:sp>
      <p:sp>
        <p:nvSpPr>
          <p:cNvPr id="17" name="Rounded Rectangle 16"/>
          <p:cNvSpPr/>
          <p:nvPr/>
        </p:nvSpPr>
        <p:spPr>
          <a:xfrm>
            <a:off x="4315861" y="2011680"/>
            <a:ext cx="1706834" cy="914400"/>
          </a:xfrm>
          <a:prstGeom prst="roundRect">
            <a:avLst>
              <a:gd name="adj" fmla="val 12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301" y="2011680"/>
            <a:ext cx="1523954" cy="914400"/>
          </a:xfrm>
          <a:prstGeom prst="rect">
            <a:avLst/>
          </a:prstGeom>
          <a:noFill/>
        </p:spPr>
        <p:txBody>
          <a:bodyPr wrap="square" lIns="0" rIns="0" tIns="0" bIns="0" anchor="ctr">
            <a:spAutoFit/>
          </a:bodyPr>
          <a:lstStyle/>
          <a:p>
            <a:pPr algn="ctr">
              <a:spcAft>
                <a:spcPts val="200"/>
              </a:spcAft>
            </a:pPr>
            <a:r>
              <a:rPr sz="1400" b="1" i="0">
                <a:solidFill>
                  <a:srgbClr val="FFFFFF"/>
                </a:solidFill>
                <a:latin typeface="Calibri"/>
              </a:rPr>
              <a:t>Gated Fusion</a:t>
            </a:r>
          </a:p>
          <a:p>
            <a:pPr algn="ctr">
              <a:spcAft>
                <a:spcPts val="200"/>
              </a:spcAft>
            </a:pPr>
            <a:r>
              <a:rPr sz="1050" b="0" i="0">
                <a:solidFill>
                  <a:srgbClr val="E6ECF4"/>
                </a:solidFill>
                <a:latin typeface="Calibri"/>
              </a:rPr>
              <a:t>Availability-aware, per frame</a:t>
            </a:r>
          </a:p>
        </p:txBody>
      </p:sp>
      <p:sp>
        <p:nvSpPr>
          <p:cNvPr id="19" name="Rounded Rectangle 18"/>
          <p:cNvSpPr/>
          <p:nvPr/>
        </p:nvSpPr>
        <p:spPr>
          <a:xfrm>
            <a:off x="4315861" y="3063240"/>
            <a:ext cx="1706834" cy="192024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3021" y="3172968"/>
            <a:ext cx="1432514" cy="1783080"/>
          </a:xfrm>
          <a:prstGeom prst="rect">
            <a:avLst/>
          </a:prstGeom>
          <a:noFill/>
        </p:spPr>
        <p:txBody>
          <a:bodyPr wrap="square" lIns="0" rIns="0" tIns="0" bIns="0" anchor="t">
            <a:spAutoFit/>
          </a:bodyPr>
          <a:lstStyle/>
          <a:p>
            <a:pPr algn="l">
              <a:spcAft>
                <a:spcPts val="200"/>
              </a:spcAft>
            </a:pPr>
            <a:r>
              <a:rPr sz="950" b="1" i="0">
                <a:solidFill>
                  <a:srgbClr val="5A6678"/>
                </a:solidFill>
                <a:latin typeface="Calibri"/>
              </a:rPr>
              <a:t>DIFFERS FROM</a:t>
            </a:r>
          </a:p>
          <a:p>
            <a:pPr algn="l">
              <a:spcAft>
                <a:spcPts val="200"/>
              </a:spcAft>
            </a:pPr>
            <a:r>
              <a:rPr sz="1300" b="1" i="0">
                <a:solidFill>
                  <a:srgbClr val="1A2332"/>
                </a:solidFill>
                <a:latin typeface="Calibri"/>
              </a:rPr>
              <a:t>[3] SignBERT  ·  [2]</a:t>
            </a:r>
          </a:p>
          <a:p>
            <a:pPr algn="l">
              <a:spcAft>
                <a:spcPts val="200"/>
              </a:spcAft>
            </a:pPr>
            <a:r>
              <a:rPr sz="400" b="0" i="0">
                <a:solidFill>
                  <a:srgbClr val="1A2332"/>
                </a:solidFill>
                <a:latin typeface="Calibri"/>
              </a:rPr>
              <a:t/>
            </a:r>
          </a:p>
          <a:p>
            <a:pPr algn="l">
              <a:spcAft>
                <a:spcPts val="200"/>
              </a:spcAft>
            </a:pPr>
            <a:r>
              <a:rPr sz="1350" b="0" i="0">
                <a:solidFill>
                  <a:srgbClr val="1A2332"/>
                </a:solidFill>
                <a:latin typeface="Calibri"/>
              </a:rPr>
              <a:t>Joins streams through learned gates, not score sums; flags missing detections instead of silent zeros.</a:t>
            </a:r>
          </a:p>
        </p:txBody>
      </p:sp>
      <p:sp>
        <p:nvSpPr>
          <p:cNvPr id="21" name="Rounded Rectangle 20"/>
          <p:cNvSpPr/>
          <p:nvPr/>
        </p:nvSpPr>
        <p:spPr>
          <a:xfrm>
            <a:off x="6168999" y="2011680"/>
            <a:ext cx="1706834" cy="914400"/>
          </a:xfrm>
          <a:prstGeom prst="roundRect">
            <a:avLst>
              <a:gd name="adj" fmla="val 12000"/>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0439" y="2011680"/>
            <a:ext cx="1523954" cy="914400"/>
          </a:xfrm>
          <a:prstGeom prst="rect">
            <a:avLst/>
          </a:prstGeom>
          <a:noFill/>
        </p:spPr>
        <p:txBody>
          <a:bodyPr wrap="square" lIns="0" rIns="0" tIns="0" bIns="0" anchor="ctr">
            <a:spAutoFit/>
          </a:bodyPr>
          <a:lstStyle/>
          <a:p>
            <a:pPr algn="ctr">
              <a:spcAft>
                <a:spcPts val="200"/>
              </a:spcAft>
            </a:pPr>
            <a:r>
              <a:rPr sz="1400" b="1" i="0">
                <a:solidFill>
                  <a:srgbClr val="FFFFFF"/>
                </a:solidFill>
                <a:latin typeface="Calibri"/>
              </a:rPr>
              <a:t>HTMA + Pooling</a:t>
            </a:r>
          </a:p>
          <a:p>
            <a:pPr algn="ctr">
              <a:spcAft>
                <a:spcPts val="200"/>
              </a:spcAft>
            </a:pPr>
            <a:r>
              <a:rPr sz="1050" b="0" i="0">
                <a:solidFill>
                  <a:srgbClr val="E6ECF4"/>
                </a:solidFill>
                <a:latin typeface="Calibri"/>
              </a:rPr>
              <a:t>4 blocks; CLS + attention pool</a:t>
            </a:r>
          </a:p>
        </p:txBody>
      </p:sp>
      <p:sp>
        <p:nvSpPr>
          <p:cNvPr id="23" name="Rounded Rectangle 22"/>
          <p:cNvSpPr/>
          <p:nvPr/>
        </p:nvSpPr>
        <p:spPr>
          <a:xfrm>
            <a:off x="6168999" y="3063240"/>
            <a:ext cx="1706834" cy="192024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6159" y="3172968"/>
            <a:ext cx="1432514" cy="1783080"/>
          </a:xfrm>
          <a:prstGeom prst="rect">
            <a:avLst/>
          </a:prstGeom>
          <a:noFill/>
        </p:spPr>
        <p:txBody>
          <a:bodyPr wrap="square" lIns="0" rIns="0" tIns="0" bIns="0" anchor="t">
            <a:spAutoFit/>
          </a:bodyPr>
          <a:lstStyle/>
          <a:p>
            <a:pPr algn="l">
              <a:spcAft>
                <a:spcPts val="200"/>
              </a:spcAft>
            </a:pPr>
            <a:r>
              <a:rPr sz="950" b="1" i="0">
                <a:solidFill>
                  <a:srgbClr val="5A6678"/>
                </a:solidFill>
                <a:latin typeface="Calibri"/>
              </a:rPr>
              <a:t>DIFFERS FROM</a:t>
            </a:r>
          </a:p>
          <a:p>
            <a:pPr algn="l">
              <a:spcAft>
                <a:spcPts val="200"/>
              </a:spcAft>
            </a:pPr>
            <a:r>
              <a:rPr sz="1300" b="1" i="0">
                <a:solidFill>
                  <a:srgbClr val="5B5BD6"/>
                </a:solidFill>
                <a:latin typeface="Calibri"/>
              </a:rPr>
              <a:t>[4] Li et al.</a:t>
            </a:r>
          </a:p>
          <a:p>
            <a:pPr algn="l">
              <a:spcAft>
                <a:spcPts val="200"/>
              </a:spcAft>
            </a:pPr>
            <a:r>
              <a:rPr sz="400" b="0" i="0">
                <a:solidFill>
                  <a:srgbClr val="1A2332"/>
                </a:solidFill>
                <a:latin typeface="Calibri"/>
              </a:rPr>
              <a:t/>
            </a:r>
          </a:p>
          <a:p>
            <a:pPr algn="l">
              <a:spcAft>
                <a:spcPts val="200"/>
              </a:spcAft>
            </a:pPr>
            <a:r>
              <a:rPr sz="1350" b="0" i="0">
                <a:solidFill>
                  <a:srgbClr val="1A2332"/>
                </a:solidFill>
                <a:latin typeface="Calibri"/>
              </a:rPr>
              <a:t>Replaces GRU / TGCN average pooling. Attention itself is shared with [2], [3], [5].</a:t>
            </a:r>
          </a:p>
        </p:txBody>
      </p:sp>
      <p:sp>
        <p:nvSpPr>
          <p:cNvPr id="25" name="Rounded Rectangle 24"/>
          <p:cNvSpPr/>
          <p:nvPr/>
        </p:nvSpPr>
        <p:spPr>
          <a:xfrm>
            <a:off x="8022137" y="2011680"/>
            <a:ext cx="1706834" cy="914400"/>
          </a:xfrm>
          <a:prstGeom prst="roundRect">
            <a:avLst>
              <a:gd name="adj" fmla="val 12000"/>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13577" y="2011680"/>
            <a:ext cx="1523954" cy="914400"/>
          </a:xfrm>
          <a:prstGeom prst="rect">
            <a:avLst/>
          </a:prstGeom>
          <a:noFill/>
        </p:spPr>
        <p:txBody>
          <a:bodyPr wrap="square" lIns="0" rIns="0" tIns="0" bIns="0" anchor="ctr">
            <a:spAutoFit/>
          </a:bodyPr>
          <a:lstStyle/>
          <a:p>
            <a:pPr algn="ctr">
              <a:spcAft>
                <a:spcPts val="200"/>
              </a:spcAft>
            </a:pPr>
            <a:r>
              <a:rPr sz="1400" b="1" i="0">
                <a:solidFill>
                  <a:srgbClr val="FFFFFF"/>
                </a:solidFill>
                <a:latin typeface="Calibri"/>
              </a:rPr>
              <a:t>INCLUDE · ISL</a:t>
            </a:r>
          </a:p>
          <a:p>
            <a:pPr algn="ctr">
              <a:spcAft>
                <a:spcPts val="200"/>
              </a:spcAft>
            </a:pPr>
            <a:r>
              <a:rPr sz="1050" b="0" i="0">
                <a:solidFill>
                  <a:srgbClr val="E6ECF4"/>
                </a:solidFill>
                <a:latin typeface="Calibri"/>
              </a:rPr>
              <a:t>Application setting</a:t>
            </a:r>
          </a:p>
        </p:txBody>
      </p:sp>
      <p:sp>
        <p:nvSpPr>
          <p:cNvPr id="27" name="Rounded Rectangle 26"/>
          <p:cNvSpPr/>
          <p:nvPr/>
        </p:nvSpPr>
        <p:spPr>
          <a:xfrm>
            <a:off x="8022137" y="3063240"/>
            <a:ext cx="1706834" cy="192024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59297" y="3172968"/>
            <a:ext cx="1432514" cy="1783080"/>
          </a:xfrm>
          <a:prstGeom prst="rect">
            <a:avLst/>
          </a:prstGeom>
          <a:noFill/>
        </p:spPr>
        <p:txBody>
          <a:bodyPr wrap="square" lIns="0" rIns="0" tIns="0" bIns="0" anchor="t">
            <a:spAutoFit/>
          </a:bodyPr>
          <a:lstStyle/>
          <a:p>
            <a:pPr algn="l">
              <a:spcAft>
                <a:spcPts val="200"/>
              </a:spcAft>
            </a:pPr>
            <a:r>
              <a:rPr sz="950" b="1" i="0">
                <a:solidFill>
                  <a:srgbClr val="5A6678"/>
                </a:solidFill>
                <a:latin typeface="Calibri"/>
              </a:rPr>
              <a:t>DIFFERS FROM</a:t>
            </a:r>
          </a:p>
          <a:p>
            <a:pPr algn="l">
              <a:spcAft>
                <a:spcPts val="200"/>
              </a:spcAft>
            </a:pPr>
            <a:r>
              <a:rPr sz="1300" b="1" i="0">
                <a:solidFill>
                  <a:srgbClr val="2E9E5B"/>
                </a:solidFill>
                <a:latin typeface="Calibri"/>
              </a:rPr>
              <a:t>[2] [3] [4] [5]</a:t>
            </a:r>
          </a:p>
          <a:p>
            <a:pPr algn="l">
              <a:spcAft>
                <a:spcPts val="200"/>
              </a:spcAft>
            </a:pPr>
            <a:r>
              <a:rPr sz="400" b="0" i="0">
                <a:solidFill>
                  <a:srgbClr val="1A2332"/>
                </a:solidFill>
                <a:latin typeface="Calibri"/>
              </a:rPr>
              <a:t/>
            </a:r>
          </a:p>
          <a:p>
            <a:pPr algn="l">
              <a:spcAft>
                <a:spcPts val="200"/>
              </a:spcAft>
            </a:pPr>
            <a:r>
              <a:rPr sz="1350" b="0" i="0">
                <a:solidFill>
                  <a:srgbClr val="1A2332"/>
                </a:solidFill>
                <a:latin typeface="Calibri"/>
              </a:rPr>
              <a:t>These use other sign languages; [1] is our benchmark.</a:t>
            </a:r>
          </a:p>
        </p:txBody>
      </p:sp>
      <p:sp>
        <p:nvSpPr>
          <p:cNvPr id="29" name="Rounded Rectangle 28"/>
          <p:cNvSpPr/>
          <p:nvPr/>
        </p:nvSpPr>
        <p:spPr>
          <a:xfrm>
            <a:off x="9875275" y="2011680"/>
            <a:ext cx="1706834" cy="914400"/>
          </a:xfrm>
          <a:prstGeom prst="roundRect">
            <a:avLst>
              <a:gd name="adj" fmla="val 12000"/>
            </a:avLst>
          </a:prstGeom>
          <a:solidFill>
            <a:srgbClr val="7A5A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6715" y="2011680"/>
            <a:ext cx="1523954" cy="914400"/>
          </a:xfrm>
          <a:prstGeom prst="rect">
            <a:avLst/>
          </a:prstGeom>
          <a:noFill/>
        </p:spPr>
        <p:txBody>
          <a:bodyPr wrap="square" lIns="0" rIns="0" tIns="0" bIns="0" anchor="ctr">
            <a:spAutoFit/>
          </a:bodyPr>
          <a:lstStyle/>
          <a:p>
            <a:pPr algn="ctr">
              <a:spcAft>
                <a:spcPts val="200"/>
              </a:spcAft>
            </a:pPr>
            <a:r>
              <a:rPr sz="1400" b="1" i="0">
                <a:solidFill>
                  <a:srgbClr val="FFFFFF"/>
                </a:solidFill>
                <a:latin typeface="Calibri"/>
              </a:rPr>
              <a:t>Text → Speech</a:t>
            </a:r>
          </a:p>
          <a:p>
            <a:pPr algn="ctr">
              <a:spcAft>
                <a:spcPts val="200"/>
              </a:spcAft>
            </a:pPr>
            <a:r>
              <a:rPr sz="1050" b="0" i="0">
                <a:solidFill>
                  <a:srgbClr val="E6ECF4"/>
                </a:solidFill>
                <a:latin typeface="Calibri"/>
              </a:rPr>
              <a:t>Browser Web Speech API</a:t>
            </a:r>
          </a:p>
        </p:txBody>
      </p:sp>
      <p:sp>
        <p:nvSpPr>
          <p:cNvPr id="31" name="Rounded Rectangle 30"/>
          <p:cNvSpPr/>
          <p:nvPr/>
        </p:nvSpPr>
        <p:spPr>
          <a:xfrm>
            <a:off x="9875275" y="3063240"/>
            <a:ext cx="1706834" cy="192024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12435" y="3172968"/>
            <a:ext cx="1432514" cy="1783080"/>
          </a:xfrm>
          <a:prstGeom prst="rect">
            <a:avLst/>
          </a:prstGeom>
          <a:noFill/>
        </p:spPr>
        <p:txBody>
          <a:bodyPr wrap="square" lIns="0" rIns="0" tIns="0" bIns="0" anchor="t">
            <a:spAutoFit/>
          </a:bodyPr>
          <a:lstStyle/>
          <a:p>
            <a:pPr algn="l">
              <a:spcAft>
                <a:spcPts val="200"/>
              </a:spcAft>
            </a:pPr>
            <a:r>
              <a:rPr sz="950" b="1" i="0">
                <a:solidFill>
                  <a:srgbClr val="5A6678"/>
                </a:solidFill>
                <a:latin typeface="Calibri"/>
              </a:rPr>
              <a:t>DIFFERS FROM</a:t>
            </a:r>
          </a:p>
          <a:p>
            <a:pPr algn="l">
              <a:spcAft>
                <a:spcPts val="200"/>
              </a:spcAft>
            </a:pPr>
            <a:r>
              <a:rPr sz="1300" b="1" i="0">
                <a:solidFill>
                  <a:srgbClr val="7A5AF8"/>
                </a:solidFill>
                <a:latin typeface="Calibri"/>
              </a:rPr>
              <a:t>[1]–[5]</a:t>
            </a:r>
          </a:p>
          <a:p>
            <a:pPr algn="l">
              <a:spcAft>
                <a:spcPts val="200"/>
              </a:spcAft>
            </a:pPr>
            <a:r>
              <a:rPr sz="400" b="0" i="0">
                <a:solidFill>
                  <a:srgbClr val="1A2332"/>
                </a:solidFill>
                <a:latin typeface="Calibri"/>
              </a:rPr>
              <a:t/>
            </a:r>
          </a:p>
          <a:p>
            <a:pPr algn="l">
              <a:spcAft>
                <a:spcPts val="200"/>
              </a:spcAft>
            </a:pPr>
            <a:r>
              <a:rPr sz="1350" b="0" i="0">
                <a:solidFill>
                  <a:srgbClr val="1A2332"/>
                </a:solidFill>
                <a:latin typeface="Calibri"/>
              </a:rPr>
              <a:t>None of the five produces audio; [5] outputs text only.</a:t>
            </a:r>
          </a:p>
        </p:txBody>
      </p:sp>
      <p:sp>
        <p:nvSpPr>
          <p:cNvPr id="33" name="Rounded Rectangle 32"/>
          <p:cNvSpPr/>
          <p:nvPr/>
        </p:nvSpPr>
        <p:spPr>
          <a:xfrm>
            <a:off x="609585" y="5193792"/>
            <a:ext cx="10972526" cy="502920"/>
          </a:xfrm>
          <a:prstGeom prst="roundRect">
            <a:avLst>
              <a:gd name="adj" fmla="val 15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8185" y="5193792"/>
            <a:ext cx="10515326" cy="502920"/>
          </a:xfrm>
          <a:prstGeom prst="rect">
            <a:avLst/>
          </a:prstGeom>
          <a:noFill/>
        </p:spPr>
        <p:txBody>
          <a:bodyPr wrap="square" lIns="0" rIns="0" tIns="0" bIns="0" anchor="ctr">
            <a:spAutoFit/>
          </a:bodyPr>
          <a:lstStyle/>
          <a:p>
            <a:pPr algn="l"/>
            <a:r>
              <a:rPr sz="1250" b="1" i="0">
                <a:solidFill>
                  <a:srgbClr val="F5B031"/>
                </a:solidFill>
                <a:latin typeface="Calibri"/>
              </a:rPr>
              <a:t>Scope of the claim:  </a:t>
            </a:r>
            <a:r>
              <a:rPr sz="1250" b="0" i="0">
                <a:solidFill>
                  <a:srgbClr val="FFFFFF"/>
                </a:solidFill>
                <a:latin typeface="Calibri"/>
              </a:rPr>
              <a:t>each component marks a design difference from the cited work, evaluated on INCLUDE only. It is not evidence of superiority over that 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93395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933956" cy="316984"/>
          </a:xfrm>
          <a:prstGeom prst="rect">
            <a:avLst/>
          </a:prstGeom>
          <a:noFill/>
        </p:spPr>
        <p:txBody>
          <a:bodyPr wrap="square" lIns="0" rIns="0" tIns="0" bIns="0" anchor="ctr">
            <a:spAutoFit/>
          </a:bodyPr>
          <a:lstStyle/>
          <a:p>
            <a:pPr algn="ctr"/>
            <a:r>
              <a:rPr sz="1133" b="1" i="0">
                <a:solidFill>
                  <a:srgbClr val="0E9AA7"/>
                </a:solidFill>
                <a:latin typeface="Calibri"/>
              </a:rPr>
              <a:t>16  ·  RESEARCH GAP</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Final Research Gap Table</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33</a:t>
            </a:r>
          </a:p>
        </p:txBody>
      </p:sp>
      <p:graphicFrame>
        <p:nvGraphicFramePr>
          <p:cNvPr id="8" name="Table 7"/>
          <p:cNvGraphicFramePr>
            <a:graphicFrameLocks noGrp="1"/>
          </p:cNvGraphicFramePr>
          <p:nvPr/>
        </p:nvGraphicFramePr>
        <p:xfrm>
          <a:off x="609585" y="1572768"/>
          <a:ext cx="10972526" cy="4114800"/>
        </p:xfrm>
        <a:graphic>
          <a:graphicData uri="http://schemas.openxmlformats.org/drawingml/2006/table">
            <a:tbl>
              <a:tblPr/>
              <a:tblGrid>
                <a:gridCol w="1828800"/>
                <a:gridCol w="2011680"/>
                <a:gridCol w="2331720"/>
                <a:gridCol w="1783080"/>
                <a:gridCol w="3017246"/>
              </a:tblGrid>
              <a:tr h="457200">
                <a:tc>
                  <a:txBody>
                    <a:bodyPr wrap="square"/>
                    <a:lstStyle/>
                    <a:p>
                      <a:r>
                        <a:rPr sz="1100" b="1" i="0">
                          <a:solidFill>
                            <a:srgbClr val="FFFFFF"/>
                          </a:solidFill>
                          <a:latin typeface="Calibri"/>
                        </a:rPr>
                        <a:t>Existing Research</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Existing Method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Identified Gap / Limitation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Component in My Proposed Model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00" b="1" i="0">
                          <a:solidFill>
                            <a:srgbClr val="FFFFFF"/>
                          </a:solidFill>
                          <a:latin typeface="Calibri"/>
                        </a:rPr>
                        <a:t>How My Model Addresses the Gap</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731520">
                <a:tc>
                  <a:txBody>
                    <a:bodyPr wrap="square"/>
                    <a:lstStyle/>
                    <a:p>
                      <a:r>
                        <a:rPr sz="1050" b="1" i="0">
                          <a:solidFill>
                            <a:srgbClr val="1A2332"/>
                          </a:solidFill>
                          <a:latin typeface="Calibri"/>
                        </a:rPr>
                        <a:t>[1] INCLUDE (Sridhar et al., 2020)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ISL benchmark; pre-trained extractor + encoder, trained decoder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Scope: face keypoints discarded; one flattened keypoint vector; no availability signal or speech output reported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0E9AA7"/>
                          </a:solidFill>
                          <a:latin typeface="Calibri"/>
                        </a:rPr>
                        <a:t>Part encoders (hands, pose, face) + geometry + gated fusion + HTMA; TTS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Evaluates a part-aware, availability-gated landmark model on the 262-class INCLUDE split, with text → speech 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731520">
                <a:tc>
                  <a:txBody>
                    <a:bodyPr wrap="square"/>
                    <a:lstStyle/>
                    <a:p>
                      <a:r>
                        <a:rPr sz="1050" b="1" i="0">
                          <a:solidFill>
                            <a:srgbClr val="1A2332"/>
                          </a:solidFill>
                          <a:latin typeface="Calibri"/>
                        </a:rPr>
                        <a:t>[2] SPOTER (Boháček &amp; Hrúz, 2022)</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Pose landmarks → Transformer encoder–decoder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Architecture: one concatenated pose vector; missing landmarks zero-filled without an availability signal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0E9AA7"/>
                          </a:solidFill>
                          <a:latin typeface="Calibri"/>
                        </a:rPr>
                        <a:t>Separate part encoders + availability mask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Encodes each body region separately and tells the model which detections are missing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731520">
                <a:tc>
                  <a:txBody>
                    <a:bodyPr wrap="square"/>
                    <a:lstStyle/>
                    <a:p>
                      <a:r>
                        <a:rPr sz="1050" b="1" i="0">
                          <a:solidFill>
                            <a:srgbClr val="1A2332"/>
                          </a:solidFill>
                          <a:latin typeface="Calibri"/>
                        </a:rPr>
                        <a:t>[3] SignBERT (Hu et al., 2021)</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Self-supervised hand-pose Transformer; RGB added by score summation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Architecture: hand-pose tokens; modalities combined only at prediction-score level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0E9AA7"/>
                          </a:solidFill>
                          <a:latin typeface="Calibri"/>
                        </a:rPr>
                        <a:t>Feature-level gated fusion of 5 streams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Learned gates combine hands, pose, face and geometry before temporal modelling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731520">
                <a:tc>
                  <a:txBody>
                    <a:bodyPr wrap="square"/>
                    <a:lstStyle/>
                    <a:p>
                      <a:r>
                        <a:rPr sz="1050" b="1" i="0">
                          <a:solidFill>
                            <a:srgbClr val="1A2332"/>
                          </a:solidFill>
                          <a:latin typeface="Calibri"/>
                        </a:rPr>
                        <a:t>[4] Li et al. (WLASL, 2020)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I3D on RGB; Pose-GRU / Pose-TGCN on keypoints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Architecture: RGB and pose models separate; Pose-TGCN averages over time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0E9AA7"/>
                          </a:solidFill>
                          <a:latin typeface="Calibri"/>
                        </a:rPr>
                        <a:t>HTMA + CLS / attention pooling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050" b="0" i="0">
                          <a:solidFill>
                            <a:srgbClr val="3B4A60"/>
                          </a:solidFill>
                          <a:latin typeface="Calibri"/>
                        </a:rPr>
                        <a:t>Learned temporal aggregation over 64 frames, on ISL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731520">
                <a:tc>
                  <a:txBody>
                    <a:bodyPr wrap="square"/>
                    <a:lstStyle/>
                    <a:p>
                      <a:r>
                        <a:rPr sz="1050" b="1" i="0">
                          <a:solidFill>
                            <a:srgbClr val="1A2332"/>
                          </a:solidFill>
                          <a:latin typeface="Calibri"/>
                        </a:rPr>
                        <a:t>[5] Camgöz et al. (2020)</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CNN + Transformer with CTC; sentence translation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Scope: continuous DGS; RGB only; no speech 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0E9AA7"/>
                          </a:solidFill>
                          <a:latin typeface="Calibri"/>
                        </a:rPr>
                        <a:t>Hand, pose and face streams; TTS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050" b="0" i="0">
                          <a:solidFill>
                            <a:srgbClr val="3B4A60"/>
                          </a:solidFill>
                          <a:latin typeface="Calibri"/>
                        </a:rPr>
                        <a:t>Separate articulator streams for isolated ISL signs, with speech 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bl>
          </a:graphicData>
        </a:graphic>
      </p:graphicFrame>
      <p:sp>
        <p:nvSpPr>
          <p:cNvPr id="9" name="TextBox 8"/>
          <p:cNvSpPr txBox="1"/>
          <p:nvPr/>
        </p:nvSpPr>
        <p:spPr>
          <a:xfrm>
            <a:off x="609585" y="5824728"/>
            <a:ext cx="10972526" cy="274320"/>
          </a:xfrm>
          <a:prstGeom prst="rect">
            <a:avLst/>
          </a:prstGeom>
          <a:noFill/>
        </p:spPr>
        <p:txBody>
          <a:bodyPr wrap="square" lIns="0" rIns="0" tIns="0" bIns="0" anchor="t">
            <a:spAutoFit/>
          </a:bodyPr>
          <a:lstStyle/>
          <a:p>
            <a:pPr algn="l"/>
            <a:r>
              <a:rPr sz="1100" b="1" i="0">
                <a:solidFill>
                  <a:srgbClr val="5A6678"/>
                </a:solidFill>
                <a:latin typeface="Calibri"/>
              </a:rPr>
              <a:t>Gap labels: </a:t>
            </a:r>
            <a:r>
              <a:rPr sz="1100" b="1" i="0">
                <a:solidFill>
                  <a:srgbClr val="5B5BD6"/>
                </a:solidFill>
                <a:latin typeface="Calibri"/>
              </a:rPr>
              <a:t>Scope</a:t>
            </a:r>
            <a:r>
              <a:rPr sz="1100" b="0" i="0">
                <a:solidFill>
                  <a:srgbClr val="5A6678"/>
                </a:solidFill>
                <a:latin typeface="Calibri"/>
              </a:rPr>
              <a:t> = different task or setting.  </a:t>
            </a:r>
            <a:r>
              <a:rPr sz="1100" b="1" i="0">
                <a:solidFill>
                  <a:srgbClr val="0E9AA7"/>
                </a:solidFill>
                <a:latin typeface="Calibri"/>
              </a:rPr>
              <a:t>Architecture</a:t>
            </a:r>
            <a:r>
              <a:rPr sz="1100" b="0" i="0">
                <a:solidFill>
                  <a:srgbClr val="5A6678"/>
                </a:solidFill>
                <a:latin typeface="Calibri"/>
              </a:rPr>
              <a:t> = different design choice.  Neither implies the cited work is deficient for its own goals.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54533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545336" cy="316984"/>
          </a:xfrm>
          <a:prstGeom prst="rect">
            <a:avLst/>
          </a:prstGeom>
          <a:noFill/>
        </p:spPr>
        <p:txBody>
          <a:bodyPr wrap="square" lIns="0" rIns="0" tIns="0" bIns="0" anchor="ctr">
            <a:spAutoFit/>
          </a:bodyPr>
          <a:lstStyle/>
          <a:p>
            <a:pPr algn="ctr"/>
            <a:r>
              <a:rPr sz="1133" b="1" i="0">
                <a:solidFill>
                  <a:srgbClr val="0E9AA7"/>
                </a:solidFill>
                <a:latin typeface="Calibri"/>
              </a:rPr>
              <a:t>17  ·  NOVELTY</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Novelty Analysis: What Our Work Adds</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34</a:t>
            </a:r>
          </a:p>
        </p:txBody>
      </p:sp>
      <p:graphicFrame>
        <p:nvGraphicFramePr>
          <p:cNvPr id="8" name="Table 7"/>
          <p:cNvGraphicFramePr>
            <a:graphicFrameLocks noGrp="1"/>
          </p:cNvGraphicFramePr>
          <p:nvPr/>
        </p:nvGraphicFramePr>
        <p:xfrm>
          <a:off x="609585" y="1572768"/>
          <a:ext cx="6400800" cy="3895344"/>
        </p:xfrm>
        <a:graphic>
          <a:graphicData uri="http://schemas.openxmlformats.org/drawingml/2006/table">
            <a:tbl>
              <a:tblPr/>
              <a:tblGrid>
                <a:gridCol w="1600200"/>
                <a:gridCol w="2560320"/>
                <a:gridCol w="2240280"/>
              </a:tblGrid>
              <a:tr h="384048">
                <a:tc>
                  <a:txBody>
                    <a:bodyPr wrap="square"/>
                    <a:lstStyle/>
                    <a:p>
                      <a:r>
                        <a:rPr sz="1150" b="1" i="0">
                          <a:solidFill>
                            <a:srgbClr val="FFFFFF"/>
                          </a:solidFill>
                          <a:latin typeface="Calibri"/>
                        </a:rPr>
                        <a:t>Element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Reviewed prior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150" b="1" i="0">
                          <a:solidFill>
                            <a:srgbClr val="FFFFFF"/>
                          </a:solidFill>
                          <a:latin typeface="Calibri"/>
                        </a:rPr>
                        <a:t>Our work</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585216">
                <a:tc>
                  <a:txBody>
                    <a:bodyPr wrap="square"/>
                    <a:lstStyle/>
                    <a:p>
                      <a:r>
                        <a:rPr sz="1100" b="1" i="0">
                          <a:solidFill>
                            <a:srgbClr val="1A2332"/>
                          </a:solidFill>
                          <a:latin typeface="Calibri"/>
                        </a:rPr>
                        <a:t>Body-part encoding</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One concatenated keypoint vector: [2], [4]; hands only: [3]</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1" i="0">
                          <a:solidFill>
                            <a:srgbClr val="2E9E5B"/>
                          </a:solidFill>
                          <a:latin typeface="Calibri"/>
                        </a:rPr>
                        <a:t>Separate Conv1D encoders: hands, pose, face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85216">
                <a:tc>
                  <a:txBody>
                    <a:bodyPr wrap="square"/>
                    <a:lstStyle/>
                    <a:p>
                      <a:r>
                        <a:rPr sz="1100" b="1" i="0">
                          <a:solidFill>
                            <a:srgbClr val="1A2332"/>
                          </a:solidFill>
                          <a:latin typeface="Calibri"/>
                        </a:rPr>
                        <a:t>Landmarks + geometry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Coordinates: OpenPose, MMPose, Vision API [1]–[4]; MediaPipe [6], [7]</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1" i="0">
                          <a:solidFill>
                            <a:srgbClr val="2E9E5B"/>
                          </a:solidFill>
                          <a:latin typeface="Calibri"/>
                        </a:rPr>
                        <a:t>534-D MediaPipe landmarks + 469-D geometry</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85216">
                <a:tc>
                  <a:txBody>
                    <a:bodyPr wrap="square"/>
                    <a:lstStyle/>
                    <a:p>
                      <a:r>
                        <a:rPr sz="1100" b="1" i="0">
                          <a:solidFill>
                            <a:srgbClr val="1A2332"/>
                          </a:solidFill>
                          <a:latin typeface="Calibri"/>
                        </a:rPr>
                        <a:t>Combining streams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Separate models [4]; score summation [3]; single vector [2]</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1" i="0">
                          <a:solidFill>
                            <a:srgbClr val="2E9E5B"/>
                          </a:solidFill>
                          <a:latin typeface="Calibri"/>
                        </a:rPr>
                        <a:t>Availability-aware gated fusion (5 gates)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85216">
                <a:tc>
                  <a:txBody>
                    <a:bodyPr wrap="square"/>
                    <a:lstStyle/>
                    <a:p>
                      <a:r>
                        <a:rPr sz="1100" b="1" i="0">
                          <a:solidFill>
                            <a:srgbClr val="1A2332"/>
                          </a:solidFill>
                          <a:latin typeface="Calibri"/>
                        </a:rPr>
                        <a:t>Temporal model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3D conv / GRU / TGCN [4]; Transformer [2], [3], [5]</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1" i="0">
                          <a:solidFill>
                            <a:srgbClr val="2E9E5B"/>
                          </a:solidFill>
                          <a:latin typeface="Calibri"/>
                        </a:rPr>
                        <a:t>Dilated Conv1D + 4 × HTMA; CLS + attention pool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585216">
                <a:tc>
                  <a:txBody>
                    <a:bodyPr wrap="square"/>
                    <a:lstStyle/>
                    <a:p>
                      <a:r>
                        <a:rPr sz="1100" b="1" i="0">
                          <a:solidFill>
                            <a:srgbClr val="1A2332"/>
                          </a:solidFill>
                          <a:latin typeface="Calibri"/>
                        </a:rPr>
                        <a:t>ISL evaluation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0" i="0">
                          <a:solidFill>
                            <a:srgbClr val="3B4A60"/>
                          </a:solidFill>
                          <a:latin typeface="Calibri"/>
                        </a:rPr>
                        <a:t>INCLUDE benchmark [1]; MediaPipe + LSTM on INCLUDE [6]</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100" b="1" i="0">
                          <a:solidFill>
                            <a:srgbClr val="2E9E5B"/>
                          </a:solidFill>
                          <a:latin typeface="Calibri"/>
                        </a:rPr>
                        <a:t>All 262 INCLUDE classes, 816 test videos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585216">
                <a:tc>
                  <a:txBody>
                    <a:bodyPr wrap="square"/>
                    <a:lstStyle/>
                    <a:p>
                      <a:r>
                        <a:rPr sz="1100" b="1" i="0">
                          <a:solidFill>
                            <a:srgbClr val="1A2332"/>
                          </a:solidFill>
                          <a:latin typeface="Calibri"/>
                        </a:rPr>
                        <a:t>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0" i="0">
                          <a:solidFill>
                            <a:srgbClr val="3B4A60"/>
                          </a:solidFill>
                          <a:latin typeface="Calibri"/>
                        </a:rPr>
                        <a:t>Class label [1]–[4]; German text [5]</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100" b="1" i="0">
                          <a:solidFill>
                            <a:srgbClr val="2E9E5B"/>
                          </a:solidFill>
                          <a:latin typeface="Calibri"/>
                        </a:rPr>
                        <a:t>Sign → text → speech (Web Speech API)</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bl>
          </a:graphicData>
        </a:graphic>
      </p:graphicFrame>
      <p:sp>
        <p:nvSpPr>
          <p:cNvPr id="9" name="Rounded Rectangle 8"/>
          <p:cNvSpPr/>
          <p:nvPr/>
        </p:nvSpPr>
        <p:spPr>
          <a:xfrm>
            <a:off x="7284705" y="1572768"/>
            <a:ext cx="4297406" cy="1325880"/>
          </a:xfrm>
          <a:prstGeom prst="roundRect">
            <a:avLst>
              <a:gd name="adj" fmla="val 6000"/>
            </a:avLst>
          </a:prstGeom>
          <a:solidFill>
            <a:srgbClr val="E3F4F5"/>
          </a:solidFill>
          <a:ln w="9525">
            <a:solidFill>
              <a:srgbClr val="B7E0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85873" y="1572768"/>
            <a:ext cx="3895070" cy="1325880"/>
          </a:xfrm>
          <a:prstGeom prst="rect">
            <a:avLst/>
          </a:prstGeom>
          <a:noFill/>
        </p:spPr>
        <p:txBody>
          <a:bodyPr wrap="square" lIns="0" rIns="0" tIns="0" bIns="0" anchor="ctr">
            <a:spAutoFit/>
          </a:bodyPr>
          <a:lstStyle/>
          <a:p>
            <a:pPr algn="l">
              <a:spcAft>
                <a:spcPts val="200"/>
              </a:spcAft>
            </a:pPr>
            <a:r>
              <a:rPr sz="1000" b="1" i="0">
                <a:solidFill>
                  <a:srgbClr val="0E9AA7"/>
                </a:solidFill>
                <a:latin typeface="Calibri"/>
              </a:rPr>
              <a:t>OUR CONTRIBUTION</a:t>
            </a:r>
          </a:p>
          <a:p>
            <a:pPr algn="l">
              <a:spcAft>
                <a:spcPts val="200"/>
              </a:spcAft>
            </a:pPr>
            <a:r>
              <a:rPr sz="1600" b="1" i="0">
                <a:solidFill>
                  <a:srgbClr val="1A2332"/>
                </a:solidFill>
                <a:latin typeface="Cambria"/>
              </a:rPr>
              <a:t>Integration + full-vocabulary evaluation</a:t>
            </a:r>
          </a:p>
          <a:p>
            <a:pPr algn="l">
              <a:spcAft>
                <a:spcPts val="200"/>
              </a:spcAft>
            </a:pPr>
            <a:r>
              <a:rPr sz="1150" b="0" i="0">
                <a:solidFill>
                  <a:srgbClr val="1A2332"/>
                </a:solidFill>
                <a:latin typeface="Calibri"/>
              </a:rPr>
              <a:t>Integration of part-aware temporal Conv1D encoders, engineered geometry, availability-aware gated fusion and HTMA for full-vocabulary isolated ISL recognition (262-class INCLUDE).</a:t>
            </a:r>
          </a:p>
        </p:txBody>
      </p:sp>
      <p:sp>
        <p:nvSpPr>
          <p:cNvPr id="11" name="Rounded Rectangle 10"/>
          <p:cNvSpPr/>
          <p:nvPr/>
        </p:nvSpPr>
        <p:spPr>
          <a:xfrm>
            <a:off x="7284705" y="3063240"/>
            <a:ext cx="4297406" cy="1600200"/>
          </a:xfrm>
          <a:prstGeom prst="roundRect">
            <a:avLst>
              <a:gd name="adj" fmla="val 6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5873" y="3063240"/>
            <a:ext cx="3895070" cy="1600200"/>
          </a:xfrm>
          <a:prstGeom prst="rect">
            <a:avLst/>
          </a:prstGeom>
          <a:noFill/>
        </p:spPr>
        <p:txBody>
          <a:bodyPr wrap="square" lIns="0" rIns="0" tIns="0" bIns="0" anchor="ctr">
            <a:spAutoFit/>
          </a:bodyPr>
          <a:lstStyle/>
          <a:p>
            <a:pPr algn="l">
              <a:spcAft>
                <a:spcPts val="200"/>
              </a:spcAft>
            </a:pPr>
            <a:r>
              <a:rPr sz="1300" b="1" i="0">
                <a:solidFill>
                  <a:srgbClr val="1A2332"/>
                </a:solidFill>
                <a:latin typeface="Calibri"/>
              </a:rPr>
              <a:t>What makes our work distinct</a:t>
            </a:r>
          </a:p>
          <a:p>
            <a:pPr algn="l" marL="182880" indent="-182880">
              <a:spcAft>
                <a:spcPts val="200"/>
              </a:spcAft>
              <a:buChar char="•"/>
            </a:pPr>
            <a:r>
              <a:rPr sz="1200" b="0" i="0">
                <a:solidFill>
                  <a:srgbClr val="1A2332"/>
                </a:solidFill>
                <a:latin typeface="Calibri"/>
              </a:rPr>
              <a:t>Part-aware, availability-gated fusion of 5 streams, unlike [1]–[5]</a:t>
            </a:r>
          </a:p>
          <a:p>
            <a:pPr algn="l" marL="182880" indent="-182880">
              <a:spcAft>
                <a:spcPts val="200"/>
              </a:spcAft>
              <a:buChar char="•"/>
            </a:pPr>
            <a:r>
              <a:rPr sz="1200" b="0" i="0">
                <a:solidFill>
                  <a:srgbClr val="1A2332"/>
                </a:solidFill>
                <a:latin typeface="Calibri"/>
              </a:rPr>
              <a:t>Large-vocabulary ISL: all 262 classes, not a small subset</a:t>
            </a:r>
          </a:p>
          <a:p>
            <a:pPr algn="l" marL="182880" indent="-182880">
              <a:spcAft>
                <a:spcPts val="200"/>
              </a:spcAft>
              <a:buChar char="•"/>
            </a:pPr>
            <a:r>
              <a:rPr sz="1200" b="0" i="0">
                <a:solidFill>
                  <a:srgbClr val="1A2332"/>
                </a:solidFill>
                <a:latin typeface="Calibri"/>
              </a:rPr>
              <a:t>98.04% Top-1, 99.51% Top-5, 98.09% Macro-F1</a:t>
            </a:r>
          </a:p>
          <a:p>
            <a:pPr algn="l" marL="182880" indent="-182880">
              <a:spcAft>
                <a:spcPts val="200"/>
              </a:spcAft>
              <a:buChar char="•"/>
            </a:pPr>
            <a:r>
              <a:rPr sz="1200" b="0" i="0">
                <a:solidFill>
                  <a:srgbClr val="1A2332"/>
                </a:solidFill>
                <a:latin typeface="Calibri"/>
              </a:rPr>
              <a:t>Isolated sign → text → speech output</a:t>
            </a:r>
          </a:p>
        </p:txBody>
      </p:sp>
      <p:sp>
        <p:nvSpPr>
          <p:cNvPr id="13" name="Rounded Rectangle 12"/>
          <p:cNvSpPr/>
          <p:nvPr/>
        </p:nvSpPr>
        <p:spPr>
          <a:xfrm>
            <a:off x="7284705" y="4828032"/>
            <a:ext cx="4297406" cy="886968"/>
          </a:xfrm>
          <a:prstGeom prst="roundRect">
            <a:avLst>
              <a:gd name="adj" fmla="val 8000"/>
            </a:avLst>
          </a:prstGeom>
          <a:solidFill>
            <a:srgbClr val="FFF6E5"/>
          </a:solidFill>
          <a:ln w="9525">
            <a:solidFill>
              <a:srgbClr val="F1D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85873" y="4828032"/>
            <a:ext cx="3895070" cy="886968"/>
          </a:xfrm>
          <a:prstGeom prst="rect">
            <a:avLst/>
          </a:prstGeom>
          <a:noFill/>
        </p:spPr>
        <p:txBody>
          <a:bodyPr wrap="square" lIns="0" rIns="0" tIns="0" bIns="0" anchor="ctr">
            <a:spAutoFit/>
          </a:bodyPr>
          <a:lstStyle/>
          <a:p>
            <a:pPr algn="l"/>
            <a:r>
              <a:rPr sz="1150" b="1" i="0">
                <a:solidFill>
                  <a:srgbClr val="C98509"/>
                </a:solidFill>
                <a:latin typeface="Calibri"/>
              </a:rPr>
              <a:t>We do not claim </a:t>
            </a:r>
            <a:r>
              <a:rPr sz="1150" b="0" i="0">
                <a:solidFill>
                  <a:srgbClr val="1A2332"/>
                </a:solidFill>
                <a:latin typeface="Calibri"/>
              </a:rPr>
              <a:t>to be the first to use these components, or to outperform works evaluated on other datasets.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54533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545336" cy="316984"/>
          </a:xfrm>
          <a:prstGeom prst="rect">
            <a:avLst/>
          </a:prstGeom>
          <a:noFill/>
        </p:spPr>
        <p:txBody>
          <a:bodyPr wrap="square" lIns="0" rIns="0" tIns="0" bIns="0" anchor="ctr">
            <a:spAutoFit/>
          </a:bodyPr>
          <a:lstStyle/>
          <a:p>
            <a:pPr algn="ctr"/>
            <a:r>
              <a:rPr sz="1133" b="1" i="0">
                <a:solidFill>
                  <a:srgbClr val="0E9AA7"/>
                </a:solidFill>
                <a:latin typeface="Calibri"/>
              </a:rPr>
              <a:t>17  ·  NOVELTY</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Research Gap Paragraph for the Paper</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35</a:t>
            </a:r>
          </a:p>
        </p:txBody>
      </p:sp>
      <p:sp>
        <p:nvSpPr>
          <p:cNvPr id="8" name="Rounded Rectangle 7"/>
          <p:cNvSpPr/>
          <p:nvPr/>
        </p:nvSpPr>
        <p:spPr>
          <a:xfrm>
            <a:off x="609585" y="1572768"/>
            <a:ext cx="10972526" cy="4160520"/>
          </a:xfrm>
          <a:prstGeom prst="roundRect">
            <a:avLst>
              <a:gd name="adj" fmla="val 3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1065" y="1572768"/>
            <a:ext cx="10149566" cy="4160520"/>
          </a:xfrm>
          <a:prstGeom prst="rect">
            <a:avLst/>
          </a:prstGeom>
          <a:noFill/>
        </p:spPr>
        <p:txBody>
          <a:bodyPr wrap="square" lIns="0" rIns="0" tIns="0" bIns="0" anchor="ctr">
            <a:spAutoFit/>
          </a:bodyPr>
          <a:lstStyle/>
          <a:p>
            <a:pPr algn="l">
              <a:lnSpc>
                <a:spcPct val="112000"/>
              </a:lnSpc>
            </a:pPr>
            <a:r>
              <a:rPr sz="1650" b="0" i="0">
                <a:solidFill>
                  <a:srgbClr val="1A2332"/>
                </a:solidFill>
                <a:latin typeface="Calibri"/>
              </a:rPr>
              <a:t>Deep RGB video models such as I3D have been benchmarked for word-level sign recognition [4], while keypoint methods model sign dynamics with temporal graph networks [4] or Transformers [2]. Hand-aware self-supervised pre-training has strengthened pose representations [3], and Transformer encoder–decoders have been applied to continuous recognition and translation [5]. Across these works, keypoints are often limited to certain regions [1], [3] or concatenated into one frame vector [2], [4]; explicit geometric and motion descriptors are not used; missing detections are zero-filled [2] or imputed [1]; and only [1] evaluates Indian Sign Language. This work encodes the left hand, right hand, pose and face with separate temporal Conv1D encoders, adds 469-D geometry and a 4-D availability mask, fuses the streams with learned gates, and models the 64-frame sequence with Head-Token Mixing Attention. On the locked 262-class INCLUDE test set it achieves 98.04% Top-1 accuracy under our experimental setup; results on other datasets are not directly comparable.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545336"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545336" cy="316984"/>
          </a:xfrm>
          <a:prstGeom prst="rect">
            <a:avLst/>
          </a:prstGeom>
          <a:noFill/>
        </p:spPr>
        <p:txBody>
          <a:bodyPr wrap="square" lIns="0" rIns="0" tIns="0" bIns="0" anchor="ctr">
            <a:spAutoFit/>
          </a:bodyPr>
          <a:lstStyle/>
          <a:p>
            <a:pPr algn="ctr"/>
            <a:r>
              <a:rPr sz="1133" b="1" i="0">
                <a:solidFill>
                  <a:srgbClr val="0E9AA7"/>
                </a:solidFill>
                <a:latin typeface="Calibri"/>
              </a:rPr>
              <a:t>17  ·  NOVELTY</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Novelty Statement: Three Versions</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36</a:t>
            </a:r>
          </a:p>
        </p:txBody>
      </p:sp>
      <p:sp>
        <p:nvSpPr>
          <p:cNvPr id="8" name="Rounded Rectangle 7"/>
          <p:cNvSpPr/>
          <p:nvPr/>
        </p:nvSpPr>
        <p:spPr>
          <a:xfrm>
            <a:off x="609585" y="1572768"/>
            <a:ext cx="3474628"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9585" y="1572768"/>
            <a:ext cx="3474628" cy="914400"/>
          </a:xfrm>
          <a:prstGeom prst="roundRect">
            <a:avLst>
              <a:gd name="adj" fmla="val 10000"/>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0753" y="1572768"/>
            <a:ext cx="3072292" cy="914400"/>
          </a:xfrm>
          <a:prstGeom prst="rect">
            <a:avLst/>
          </a:prstGeom>
          <a:noFill/>
        </p:spPr>
        <p:txBody>
          <a:bodyPr wrap="square" lIns="0" rIns="0" tIns="0" bIns="0" anchor="ctr">
            <a:spAutoFit/>
          </a:bodyPr>
          <a:lstStyle/>
          <a:p>
            <a:pPr algn="l">
              <a:spcAft>
                <a:spcPts val="100"/>
              </a:spcAft>
            </a:pPr>
            <a:r>
              <a:rPr sz="1000" b="1" i="0">
                <a:solidFill>
                  <a:srgbClr val="E6ECF4"/>
                </a:solidFill>
                <a:latin typeface="Calibri"/>
              </a:rPr>
              <a:t>VERSION 1</a:t>
            </a:r>
          </a:p>
          <a:p>
            <a:pPr algn="l">
              <a:spcAft>
                <a:spcPts val="100"/>
              </a:spcAft>
            </a:pPr>
            <a:r>
              <a:rPr sz="1700" b="1" i="0">
                <a:solidFill>
                  <a:srgbClr val="FFFFFF"/>
                </a:solidFill>
                <a:latin typeface="Cambria"/>
              </a:rPr>
              <a:t>Conservative academic</a:t>
            </a:r>
          </a:p>
          <a:p>
            <a:pPr algn="l">
              <a:spcAft>
                <a:spcPts val="100"/>
              </a:spcAft>
            </a:pPr>
            <a:r>
              <a:rPr sz="1050" b="0" i="0">
                <a:solidFill>
                  <a:srgbClr val="E6ECF4"/>
                </a:solidFill>
                <a:latin typeface="Calibri"/>
              </a:rPr>
              <a:t>For the research paper</a:t>
            </a:r>
          </a:p>
        </p:txBody>
      </p:sp>
      <p:sp>
        <p:nvSpPr>
          <p:cNvPr id="11" name="TextBox 10"/>
          <p:cNvSpPr txBox="1"/>
          <p:nvPr/>
        </p:nvSpPr>
        <p:spPr>
          <a:xfrm>
            <a:off x="810753" y="2651760"/>
            <a:ext cx="3072292" cy="3017520"/>
          </a:xfrm>
          <a:prstGeom prst="rect">
            <a:avLst/>
          </a:prstGeom>
          <a:noFill/>
        </p:spPr>
        <p:txBody>
          <a:bodyPr wrap="square" lIns="0" rIns="0" tIns="0" bIns="0" anchor="t">
            <a:spAutoFit/>
          </a:bodyPr>
          <a:lstStyle/>
          <a:p>
            <a:pPr algn="l">
              <a:lnSpc>
                <a:spcPct val="108000"/>
              </a:lnSpc>
            </a:pPr>
            <a:r>
              <a:rPr sz="1250" b="0" i="0">
                <a:solidFill>
                  <a:srgbClr val="1A2332"/>
                </a:solidFill>
                <a:latin typeface="Calibri"/>
              </a:rPr>
              <a:t>This work presents a landmark-based isolated ISL recogniser that encodes hands, pose and face with part-aware temporal Conv1D, adds engineered geometry and an availability mask, fuses the streams with learned gates, and models the sequence with Head-Token Mixing Attention. On the locked 262-class INCLUDE test set it obtains 98.04% Top-1 accuracy under our experimental setup.</a:t>
            </a:r>
          </a:p>
        </p:txBody>
      </p:sp>
      <p:sp>
        <p:nvSpPr>
          <p:cNvPr id="12" name="Rounded Rectangle 11"/>
          <p:cNvSpPr/>
          <p:nvPr/>
        </p:nvSpPr>
        <p:spPr>
          <a:xfrm>
            <a:off x="4358533" y="1572768"/>
            <a:ext cx="3474628"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8533" y="1572768"/>
            <a:ext cx="3474628" cy="914400"/>
          </a:xfrm>
          <a:prstGeom prst="roundRect">
            <a:avLst>
              <a:gd name="adj" fmla="val 1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9701" y="1572768"/>
            <a:ext cx="3072292" cy="914400"/>
          </a:xfrm>
          <a:prstGeom prst="rect">
            <a:avLst/>
          </a:prstGeom>
          <a:noFill/>
        </p:spPr>
        <p:txBody>
          <a:bodyPr wrap="square" lIns="0" rIns="0" tIns="0" bIns="0" anchor="ctr">
            <a:spAutoFit/>
          </a:bodyPr>
          <a:lstStyle/>
          <a:p>
            <a:pPr algn="l">
              <a:spcAft>
                <a:spcPts val="100"/>
              </a:spcAft>
            </a:pPr>
            <a:r>
              <a:rPr sz="1000" b="1" i="0">
                <a:solidFill>
                  <a:srgbClr val="E6ECF4"/>
                </a:solidFill>
                <a:latin typeface="Calibri"/>
              </a:rPr>
              <a:t>VERSION 2</a:t>
            </a:r>
          </a:p>
          <a:p>
            <a:pPr algn="l">
              <a:spcAft>
                <a:spcPts val="100"/>
              </a:spcAft>
            </a:pPr>
            <a:r>
              <a:rPr sz="1700" b="1" i="0">
                <a:solidFill>
                  <a:srgbClr val="FFFFFF"/>
                </a:solidFill>
                <a:latin typeface="Cambria"/>
              </a:rPr>
              <a:t>Strong but defensible</a:t>
            </a:r>
          </a:p>
          <a:p>
            <a:pPr algn="l">
              <a:spcAft>
                <a:spcPts val="100"/>
              </a:spcAft>
            </a:pPr>
            <a:r>
              <a:rPr sz="1050" b="0" i="0">
                <a:solidFill>
                  <a:srgbClr val="E6ECF4"/>
                </a:solidFill>
                <a:latin typeface="Calibri"/>
              </a:rPr>
              <a:t>For the presentation</a:t>
            </a:r>
          </a:p>
        </p:txBody>
      </p:sp>
      <p:sp>
        <p:nvSpPr>
          <p:cNvPr id="15" name="TextBox 14"/>
          <p:cNvSpPr txBox="1"/>
          <p:nvPr/>
        </p:nvSpPr>
        <p:spPr>
          <a:xfrm>
            <a:off x="4559701" y="2651760"/>
            <a:ext cx="3072292" cy="3017520"/>
          </a:xfrm>
          <a:prstGeom prst="rect">
            <a:avLst/>
          </a:prstGeom>
          <a:noFill/>
        </p:spPr>
        <p:txBody>
          <a:bodyPr wrap="square" lIns="0" rIns="0" tIns="0" bIns="0" anchor="t">
            <a:spAutoFit/>
          </a:bodyPr>
          <a:lstStyle/>
          <a:p>
            <a:pPr algn="l">
              <a:lnSpc>
                <a:spcPct val="108000"/>
              </a:lnSpc>
            </a:pPr>
            <a:r>
              <a:rPr sz="1250" b="0" i="0">
                <a:solidFill>
                  <a:srgbClr val="1A2332"/>
                </a:solidFill>
                <a:latin typeface="Calibri"/>
              </a:rPr>
              <a:t>Our custom part-aware model combines five landmark and geometry streams through availability-aware gates and HTMA, and is evaluated across the full INCLUDE vocabulary (262 ISL signs, 816 test videos): 98.04% Top-1, 99.51% Top-5 and 98.09% Macro-F1, with each prediction delivered as text and speech.</a:t>
            </a:r>
          </a:p>
        </p:txBody>
      </p:sp>
      <p:sp>
        <p:nvSpPr>
          <p:cNvPr id="16" name="Rounded Rectangle 15"/>
          <p:cNvSpPr/>
          <p:nvPr/>
        </p:nvSpPr>
        <p:spPr>
          <a:xfrm>
            <a:off x="8107481" y="1572768"/>
            <a:ext cx="3474628" cy="4160520"/>
          </a:xfrm>
          <a:prstGeom prst="roundRect">
            <a:avLst>
              <a:gd name="adj" fmla="val 4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481" y="1572768"/>
            <a:ext cx="3474628" cy="914400"/>
          </a:xfrm>
          <a:prstGeom prst="roundRect">
            <a:avLst>
              <a:gd name="adj" fmla="val 10000"/>
            </a:avLst>
          </a:prstGeom>
          <a:solidFill>
            <a:srgbClr val="C985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649" y="1572768"/>
            <a:ext cx="3072292" cy="914400"/>
          </a:xfrm>
          <a:prstGeom prst="rect">
            <a:avLst/>
          </a:prstGeom>
          <a:noFill/>
        </p:spPr>
        <p:txBody>
          <a:bodyPr wrap="square" lIns="0" rIns="0" tIns="0" bIns="0" anchor="ctr">
            <a:spAutoFit/>
          </a:bodyPr>
          <a:lstStyle/>
          <a:p>
            <a:pPr algn="l">
              <a:spcAft>
                <a:spcPts val="100"/>
              </a:spcAft>
            </a:pPr>
            <a:r>
              <a:rPr sz="1000" b="1" i="0">
                <a:solidFill>
                  <a:srgbClr val="E6ECF4"/>
                </a:solidFill>
                <a:latin typeface="Calibri"/>
              </a:rPr>
              <a:t>VERSION 3</a:t>
            </a:r>
          </a:p>
          <a:p>
            <a:pPr algn="l">
              <a:spcAft>
                <a:spcPts val="100"/>
              </a:spcAft>
            </a:pPr>
            <a:r>
              <a:rPr sz="1700" b="1" i="0">
                <a:solidFill>
                  <a:srgbClr val="FFFFFF"/>
                </a:solidFill>
                <a:latin typeface="Cambria"/>
              </a:rPr>
              <a:t>Viva</a:t>
            </a:r>
          </a:p>
          <a:p>
            <a:pPr algn="l">
              <a:spcAft>
                <a:spcPts val="100"/>
              </a:spcAft>
            </a:pPr>
            <a:r>
              <a:rPr sz="1050" b="0" i="0">
                <a:solidFill>
                  <a:srgbClr val="E6ECF4"/>
                </a:solidFill>
                <a:latin typeface="Calibri"/>
              </a:rPr>
              <a:t>Say it in about 15 seconds</a:t>
            </a:r>
          </a:p>
        </p:txBody>
      </p:sp>
      <p:sp>
        <p:nvSpPr>
          <p:cNvPr id="19" name="TextBox 18"/>
          <p:cNvSpPr txBox="1"/>
          <p:nvPr/>
        </p:nvSpPr>
        <p:spPr>
          <a:xfrm>
            <a:off x="8308649" y="2651760"/>
            <a:ext cx="3072292" cy="3017520"/>
          </a:xfrm>
          <a:prstGeom prst="rect">
            <a:avLst/>
          </a:prstGeom>
          <a:noFill/>
        </p:spPr>
        <p:txBody>
          <a:bodyPr wrap="square" lIns="0" rIns="0" tIns="0" bIns="0" anchor="t">
            <a:spAutoFit/>
          </a:bodyPr>
          <a:lstStyle/>
          <a:p>
            <a:pPr algn="l">
              <a:lnSpc>
                <a:spcPct val="108000"/>
              </a:lnSpc>
            </a:pPr>
            <a:r>
              <a:rPr sz="1250" b="0" i="0">
                <a:solidFill>
                  <a:srgbClr val="1A2332"/>
                </a:solidFill>
                <a:latin typeface="Calibri"/>
              </a:rPr>
              <a:t>We encode hands, pose and face separately with temporal Conv1D, gate them with geometry and availability, and let four HTMA blocks model the 64 frames. On all 262 INCLUDE signs this reaches 98.04% Top-1, and the output is spoken in the browser.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2244852"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2244852" cy="316984"/>
          </a:xfrm>
          <a:prstGeom prst="rect">
            <a:avLst/>
          </a:prstGeom>
          <a:noFill/>
        </p:spPr>
        <p:txBody>
          <a:bodyPr wrap="square" lIns="0" rIns="0" tIns="0" bIns="0" anchor="ctr">
            <a:spAutoFit/>
          </a:bodyPr>
          <a:lstStyle/>
          <a:p>
            <a:pPr algn="ctr"/>
            <a:r>
              <a:rPr sz="1133" b="1" i="0">
                <a:solidFill>
                  <a:srgbClr val="0E9AA7"/>
                </a:solidFill>
                <a:latin typeface="Calibri"/>
              </a:rPr>
              <a:t>18  ·  VIVA PREPARATION</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Viva Comparison Table</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37</a:t>
            </a:r>
          </a:p>
        </p:txBody>
      </p:sp>
      <p:graphicFrame>
        <p:nvGraphicFramePr>
          <p:cNvPr id="8" name="Table 7"/>
          <p:cNvGraphicFramePr>
            <a:graphicFrameLocks noGrp="1"/>
          </p:cNvGraphicFramePr>
          <p:nvPr/>
        </p:nvGraphicFramePr>
        <p:xfrm>
          <a:off x="609585" y="1645920"/>
          <a:ext cx="10972526" cy="4114800"/>
        </p:xfrm>
        <a:graphic>
          <a:graphicData uri="http://schemas.openxmlformats.org/drawingml/2006/table">
            <a:tbl>
              <a:tblPr/>
              <a:tblGrid>
                <a:gridCol w="1828800"/>
                <a:gridCol w="2743200"/>
                <a:gridCol w="2743200"/>
                <a:gridCol w="3657326"/>
              </a:tblGrid>
              <a:tr h="457200">
                <a:tc>
                  <a:txBody>
                    <a:bodyPr wrap="square"/>
                    <a:lstStyle/>
                    <a:p>
                      <a:r>
                        <a:rPr sz="1300" b="1" i="0">
                          <a:solidFill>
                            <a:srgbClr val="FFFFFF"/>
                          </a:solidFill>
                          <a:latin typeface="Calibri"/>
                        </a:rPr>
                        <a:t>Paper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300" b="1" i="0">
                          <a:solidFill>
                            <a:srgbClr val="FFFFFF"/>
                          </a:solidFill>
                          <a:latin typeface="Calibri"/>
                        </a:rPr>
                        <a:t>What They Used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300" b="1" i="0">
                          <a:solidFill>
                            <a:srgbClr val="FFFFFF"/>
                          </a:solidFill>
                          <a:latin typeface="Calibri"/>
                        </a:rPr>
                        <a:t>Main Gap</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c>
                  <a:txBody>
                    <a:bodyPr wrap="square"/>
                    <a:lstStyle/>
                    <a:p>
                      <a:r>
                        <a:rPr sz="1300" b="1" i="0">
                          <a:solidFill>
                            <a:srgbClr val="FFFFFF"/>
                          </a:solidFill>
                          <a:latin typeface="Calibri"/>
                        </a:rPr>
                        <a:t>What We Added</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0F1B2D"/>
                    </a:solidFill>
                  </a:tcPr>
                </a:tc>
              </a:tr>
              <a:tr h="731520">
                <a:tc>
                  <a:txBody>
                    <a:bodyPr wrap="square"/>
                    <a:lstStyle/>
                    <a:p>
                      <a:r>
                        <a:rPr sz="1300" b="1" i="0">
                          <a:solidFill>
                            <a:srgbClr val="1A2332"/>
                          </a:solidFill>
                          <a:latin typeface="Calibri"/>
                        </a:rPr>
                        <a:t>[1] INCLUDE</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3B4A60"/>
                          </a:solidFill>
                          <a:latin typeface="Calibri"/>
                        </a:rPr>
                        <a:t>ISL benchmark; pre-trained extractor + trained decoder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3B4A60"/>
                          </a:solidFill>
                          <a:latin typeface="Calibri"/>
                        </a:rPr>
                        <a:t>Face discarded; one flattened keypoint vector; no speech</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0E9AA7"/>
                          </a:solidFill>
                          <a:latin typeface="Calibri"/>
                        </a:rPr>
                        <a:t>Part encoders + geometry + gated fusion + HTMA; TTS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731520">
                <a:tc>
                  <a:txBody>
                    <a:bodyPr wrap="square"/>
                    <a:lstStyle/>
                    <a:p>
                      <a:r>
                        <a:rPr sz="1300" b="1" i="0">
                          <a:solidFill>
                            <a:srgbClr val="1A2332"/>
                          </a:solidFill>
                          <a:latin typeface="Calibri"/>
                        </a:rPr>
                        <a:t>[2] SPOTER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300" b="0" i="0">
                          <a:solidFill>
                            <a:srgbClr val="3B4A60"/>
                          </a:solidFill>
                          <a:latin typeface="Calibri"/>
                        </a:rPr>
                        <a:t>Body and hand pose → Transformer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300" b="0" i="0">
                          <a:solidFill>
                            <a:srgbClr val="3B4A60"/>
                          </a:solidFill>
                          <a:latin typeface="Calibri"/>
                        </a:rPr>
                        <a:t>One concatenated pose vector; zero-filled gaps; ASL / Argentinian 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300" b="0" i="0">
                          <a:solidFill>
                            <a:srgbClr val="0E9AA7"/>
                          </a:solidFill>
                          <a:latin typeface="Calibri"/>
                        </a:rPr>
                        <a:t>Separate part encoders + availability mask; ISL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731520">
                <a:tc>
                  <a:txBody>
                    <a:bodyPr wrap="square"/>
                    <a:lstStyle/>
                    <a:p>
                      <a:r>
                        <a:rPr sz="1300" b="1" i="0">
                          <a:solidFill>
                            <a:srgbClr val="1A2332"/>
                          </a:solidFill>
                          <a:latin typeface="Calibri"/>
                        </a:rPr>
                        <a:t>[3] SignBERT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3B4A60"/>
                          </a:solidFill>
                          <a:latin typeface="Calibri"/>
                        </a:rPr>
                        <a:t>Hand-pose tokens; self-supervised Transformer</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3B4A60"/>
                          </a:solidFill>
                          <a:latin typeface="Calibri"/>
                        </a:rPr>
                        <a:t>Hand tokens; modalities joined only by summing scores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0E9AA7"/>
                          </a:solidFill>
                          <a:latin typeface="Calibri"/>
                        </a:rPr>
                        <a:t>Feature-level gated fusion of 5 streams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r h="731520">
                <a:tc>
                  <a:txBody>
                    <a:bodyPr wrap="square"/>
                    <a:lstStyle/>
                    <a:p>
                      <a:r>
                        <a:rPr sz="1300" b="1" i="0">
                          <a:solidFill>
                            <a:srgbClr val="1A2332"/>
                          </a:solidFill>
                          <a:latin typeface="Calibri"/>
                        </a:rPr>
                        <a:t>[4] Li et al. (WLASL)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300" b="0" i="0">
                          <a:solidFill>
                            <a:srgbClr val="3B4A60"/>
                          </a:solidFill>
                          <a:latin typeface="Calibri"/>
                        </a:rPr>
                        <a:t>I3D on RGB; Pose-TGCN on keypoints</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300" b="0" i="0">
                          <a:solidFill>
                            <a:srgbClr val="3B4A60"/>
                          </a:solidFill>
                          <a:latin typeface="Calibri"/>
                        </a:rPr>
                        <a:t>RGB and pose separate; average pooling over time; ASL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c>
                  <a:txBody>
                    <a:bodyPr wrap="square"/>
                    <a:lstStyle/>
                    <a:p>
                      <a:r>
                        <a:rPr sz="1300" b="0" i="0">
                          <a:solidFill>
                            <a:srgbClr val="0E9AA7"/>
                          </a:solidFill>
                          <a:latin typeface="Calibri"/>
                        </a:rPr>
                        <a:t>HTMA + CLS / attention pooling; ISL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FFFFF"/>
                    </a:solidFill>
                  </a:tcPr>
                </a:tc>
              </a:tr>
              <a:tr h="731520">
                <a:tc>
                  <a:txBody>
                    <a:bodyPr wrap="square"/>
                    <a:lstStyle/>
                    <a:p>
                      <a:r>
                        <a:rPr sz="1300" b="1" i="0">
                          <a:solidFill>
                            <a:srgbClr val="1A2332"/>
                          </a:solidFill>
                          <a:latin typeface="Calibri"/>
                        </a:rPr>
                        <a:t>[5] Camgöz et al.</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3B4A60"/>
                          </a:solidFill>
                          <a:latin typeface="Calibri"/>
                        </a:rPr>
                        <a:t>CNN + Transformer + CTC; translation</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3B4A60"/>
                          </a:solidFill>
                          <a:latin typeface="Calibri"/>
                        </a:rPr>
                        <a:t>Continuous German SL; RGB only; no speech</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c>
                  <a:txBody>
                    <a:bodyPr wrap="square"/>
                    <a:lstStyle/>
                    <a:p>
                      <a:r>
                        <a:rPr sz="1300" b="0" i="0">
                          <a:solidFill>
                            <a:srgbClr val="0E9AA7"/>
                          </a:solidFill>
                          <a:latin typeface="Calibri"/>
                        </a:rPr>
                        <a:t>Isolated ISL; hand, pose and face streams; speech output</a:t>
                      </a:r>
                    </a:p>
                  </a:txBody>
                  <a:tcPr marL="91440" marR="91440" marT="36000" marB="36000" anchor="ctr">
                    <a:lnL w="8466" cap="flat" cmpd="sng" algn="ctr">
                      <a:solidFill>
                        <a:srgbClr val="D9E1EA"/>
                      </a:solidFill>
                      <a:prstDash val="solid"/>
                    </a:lnL>
                    <a:lnR w="8466" cap="flat" cmpd="sng" algn="ctr">
                      <a:solidFill>
                        <a:srgbClr val="D9E1EA"/>
                      </a:solidFill>
                      <a:prstDash val="solid"/>
                    </a:lnR>
                    <a:lnT w="8466" cap="flat" cmpd="sng" algn="ctr">
                      <a:solidFill>
                        <a:srgbClr val="D9E1EA"/>
                      </a:solidFill>
                      <a:prstDash val="solid"/>
                    </a:lnT>
                    <a:lnB w="8466" cap="flat" cmpd="sng" algn="ctr">
                      <a:solidFill>
                        <a:srgbClr val="D9E1EA"/>
                      </a:solidFill>
                      <a:prstDash val="solid"/>
                    </a:lnB>
                    <a:solidFill>
                      <a:srgbClr val="F2F5F9"/>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2244852"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2244852" cy="316984"/>
          </a:xfrm>
          <a:prstGeom prst="rect">
            <a:avLst/>
          </a:prstGeom>
          <a:noFill/>
        </p:spPr>
        <p:txBody>
          <a:bodyPr wrap="square" lIns="0" rIns="0" tIns="0" bIns="0" anchor="ctr">
            <a:spAutoFit/>
          </a:bodyPr>
          <a:lstStyle/>
          <a:p>
            <a:pPr algn="ctr"/>
            <a:r>
              <a:rPr sz="1133" b="1" i="0">
                <a:solidFill>
                  <a:srgbClr val="0E9AA7"/>
                </a:solidFill>
                <a:latin typeface="Calibri"/>
              </a:rPr>
              <a:t>18  ·  VIVA PREPARATION</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“How Is Your Work Different from This Paper?”</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38</a:t>
            </a:r>
          </a:p>
        </p:txBody>
      </p:sp>
      <p:sp>
        <p:nvSpPr>
          <p:cNvPr id="8" name="Rounded Rectangle 7"/>
          <p:cNvSpPr/>
          <p:nvPr/>
        </p:nvSpPr>
        <p:spPr>
          <a:xfrm>
            <a:off x="609585" y="1572768"/>
            <a:ext cx="10972526" cy="786384"/>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4177" y="1755648"/>
            <a:ext cx="1600200" cy="420624"/>
          </a:xfrm>
          <a:prstGeom prst="roundRect">
            <a:avLst>
              <a:gd name="adj" fmla="val 50000"/>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4177" y="1755648"/>
            <a:ext cx="1600200" cy="420624"/>
          </a:xfrm>
          <a:prstGeom prst="rect">
            <a:avLst/>
          </a:prstGeom>
          <a:noFill/>
        </p:spPr>
        <p:txBody>
          <a:bodyPr wrap="square" lIns="0" rIns="0" tIns="0" bIns="0" anchor="ctr">
            <a:spAutoFit/>
          </a:bodyPr>
          <a:lstStyle/>
          <a:p>
            <a:pPr algn="ctr"/>
            <a:r>
              <a:rPr sz="1200" b="1" i="0">
                <a:solidFill>
                  <a:srgbClr val="FFFFFF"/>
                </a:solidFill>
                <a:latin typeface="Calibri"/>
              </a:rPr>
              <a:t>[1] INCLUDE</a:t>
            </a:r>
          </a:p>
        </p:txBody>
      </p:sp>
      <p:sp>
        <p:nvSpPr>
          <p:cNvPr id="11" name="TextBox 10"/>
          <p:cNvSpPr txBox="1"/>
          <p:nvPr/>
        </p:nvSpPr>
        <p:spPr>
          <a:xfrm>
            <a:off x="2621265" y="1572768"/>
            <a:ext cx="8732246" cy="786384"/>
          </a:xfrm>
          <a:prstGeom prst="rect">
            <a:avLst/>
          </a:prstGeom>
          <a:noFill/>
        </p:spPr>
        <p:txBody>
          <a:bodyPr wrap="square" lIns="0" rIns="0" tIns="0" bIns="0" anchor="ctr">
            <a:spAutoFit/>
          </a:bodyPr>
          <a:lstStyle/>
          <a:p>
            <a:pPr algn="l"/>
            <a:r>
              <a:rPr sz="1300" b="0" i="0">
                <a:solidFill>
                  <a:srgbClr val="1A2332"/>
                </a:solidFill>
                <a:latin typeface="Calibri"/>
              </a:rPr>
              <a:t>INCLUDE gave us the ISL benchmark and baselines; we evaluate a part-aware, gated, HTMA-based landmark model on its 262-class test split and add speech output.</a:t>
            </a:r>
          </a:p>
        </p:txBody>
      </p:sp>
      <p:sp>
        <p:nvSpPr>
          <p:cNvPr id="12" name="Rounded Rectangle 11"/>
          <p:cNvSpPr/>
          <p:nvPr/>
        </p:nvSpPr>
        <p:spPr>
          <a:xfrm>
            <a:off x="609585" y="2414016"/>
            <a:ext cx="10972526" cy="786384"/>
          </a:xfrm>
          <a:prstGeom prst="roundRect">
            <a:avLst>
              <a:gd name="adj" fmla="val 12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74177" y="2596896"/>
            <a:ext cx="1600200" cy="420624"/>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177" y="2596896"/>
            <a:ext cx="1600200" cy="420624"/>
          </a:xfrm>
          <a:prstGeom prst="rect">
            <a:avLst/>
          </a:prstGeom>
          <a:noFill/>
        </p:spPr>
        <p:txBody>
          <a:bodyPr wrap="square" lIns="0" rIns="0" tIns="0" bIns="0" anchor="ctr">
            <a:spAutoFit/>
          </a:bodyPr>
          <a:lstStyle/>
          <a:p>
            <a:pPr algn="ctr"/>
            <a:r>
              <a:rPr sz="1200" b="1" i="0">
                <a:solidFill>
                  <a:srgbClr val="FFFFFF"/>
                </a:solidFill>
                <a:latin typeface="Calibri"/>
              </a:rPr>
              <a:t>[2] SPOTER</a:t>
            </a:r>
          </a:p>
        </p:txBody>
      </p:sp>
      <p:sp>
        <p:nvSpPr>
          <p:cNvPr id="15" name="TextBox 14"/>
          <p:cNvSpPr txBox="1"/>
          <p:nvPr/>
        </p:nvSpPr>
        <p:spPr>
          <a:xfrm>
            <a:off x="2621265" y="2414016"/>
            <a:ext cx="8732246" cy="786384"/>
          </a:xfrm>
          <a:prstGeom prst="rect">
            <a:avLst/>
          </a:prstGeom>
          <a:noFill/>
        </p:spPr>
        <p:txBody>
          <a:bodyPr wrap="square" lIns="0" rIns="0" tIns="0" bIns="0" anchor="ctr">
            <a:spAutoFit/>
          </a:bodyPr>
          <a:lstStyle/>
          <a:p>
            <a:pPr algn="l"/>
            <a:r>
              <a:rPr sz="1300" b="0" i="0">
                <a:solidFill>
                  <a:srgbClr val="1A2332"/>
                </a:solidFill>
                <a:latin typeface="Calibri"/>
              </a:rPr>
              <a:t>SPOTER puts all landmarks into one vector per frame, whereas we encode hands, pose and face separately, add geometry and an availability mask, and evaluate on Indian rather than American or Argentinian Sign Language.</a:t>
            </a:r>
          </a:p>
        </p:txBody>
      </p:sp>
      <p:sp>
        <p:nvSpPr>
          <p:cNvPr id="16" name="Rounded Rectangle 15"/>
          <p:cNvSpPr/>
          <p:nvPr/>
        </p:nvSpPr>
        <p:spPr>
          <a:xfrm>
            <a:off x="609585" y="3255264"/>
            <a:ext cx="10972526" cy="786384"/>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4177" y="3438144"/>
            <a:ext cx="1600200" cy="420624"/>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177" y="3438144"/>
            <a:ext cx="1600200" cy="420624"/>
          </a:xfrm>
          <a:prstGeom prst="rect">
            <a:avLst/>
          </a:prstGeom>
          <a:noFill/>
        </p:spPr>
        <p:txBody>
          <a:bodyPr wrap="square" lIns="0" rIns="0" tIns="0" bIns="0" anchor="ctr">
            <a:spAutoFit/>
          </a:bodyPr>
          <a:lstStyle/>
          <a:p>
            <a:pPr algn="ctr"/>
            <a:r>
              <a:rPr sz="1200" b="1" i="0">
                <a:solidFill>
                  <a:srgbClr val="FFFFFF"/>
                </a:solidFill>
                <a:latin typeface="Calibri"/>
              </a:rPr>
              <a:t>[3] SignBERT</a:t>
            </a:r>
          </a:p>
        </p:txBody>
      </p:sp>
      <p:sp>
        <p:nvSpPr>
          <p:cNvPr id="19" name="TextBox 18"/>
          <p:cNvSpPr txBox="1"/>
          <p:nvPr/>
        </p:nvSpPr>
        <p:spPr>
          <a:xfrm>
            <a:off x="2621265" y="3255264"/>
            <a:ext cx="8732246" cy="786384"/>
          </a:xfrm>
          <a:prstGeom prst="rect">
            <a:avLst/>
          </a:prstGeom>
          <a:noFill/>
        </p:spPr>
        <p:txBody>
          <a:bodyPr wrap="square" lIns="0" rIns="0" tIns="0" bIns="0" anchor="ctr">
            <a:spAutoFit/>
          </a:bodyPr>
          <a:lstStyle/>
          <a:p>
            <a:pPr algn="l"/>
            <a:r>
              <a:rPr sz="1300" b="0" i="0">
                <a:solidFill>
                  <a:srgbClr val="1A2332"/>
                </a:solidFill>
                <a:latin typeface="Calibri"/>
              </a:rPr>
              <a:t>SignBERT pre-trains a Transformer on hand poses and adds other streams only by summing scores, whereas we fuse five streams with learned gates before HTMA and train with INCLUDE labels.</a:t>
            </a:r>
          </a:p>
        </p:txBody>
      </p:sp>
      <p:sp>
        <p:nvSpPr>
          <p:cNvPr id="20" name="Rounded Rectangle 19"/>
          <p:cNvSpPr/>
          <p:nvPr/>
        </p:nvSpPr>
        <p:spPr>
          <a:xfrm>
            <a:off x="609585" y="4096512"/>
            <a:ext cx="10972526" cy="786384"/>
          </a:xfrm>
          <a:prstGeom prst="roundRect">
            <a:avLst>
              <a:gd name="adj" fmla="val 12000"/>
            </a:avLst>
          </a:prstGeom>
          <a:solidFill>
            <a:srgbClr val="FFFFFF"/>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4177" y="4279392"/>
            <a:ext cx="1600200" cy="420624"/>
          </a:xfrm>
          <a:prstGeom prst="roundRect">
            <a:avLst>
              <a:gd name="adj" fmla="val 50000"/>
            </a:avLst>
          </a:prstGeom>
          <a:solidFill>
            <a:srgbClr val="0E9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4177" y="4279392"/>
            <a:ext cx="1600200" cy="420624"/>
          </a:xfrm>
          <a:prstGeom prst="rect">
            <a:avLst/>
          </a:prstGeom>
          <a:noFill/>
        </p:spPr>
        <p:txBody>
          <a:bodyPr wrap="square" lIns="0" rIns="0" tIns="0" bIns="0" anchor="ctr">
            <a:spAutoFit/>
          </a:bodyPr>
          <a:lstStyle/>
          <a:p>
            <a:pPr algn="ctr"/>
            <a:r>
              <a:rPr sz="1200" b="1" i="0">
                <a:solidFill>
                  <a:srgbClr val="FFFFFF"/>
                </a:solidFill>
                <a:latin typeface="Calibri"/>
              </a:rPr>
              <a:t>[4] Li et al.</a:t>
            </a:r>
          </a:p>
        </p:txBody>
      </p:sp>
      <p:sp>
        <p:nvSpPr>
          <p:cNvPr id="23" name="TextBox 22"/>
          <p:cNvSpPr txBox="1"/>
          <p:nvPr/>
        </p:nvSpPr>
        <p:spPr>
          <a:xfrm>
            <a:off x="2621265" y="4096512"/>
            <a:ext cx="8732246" cy="786384"/>
          </a:xfrm>
          <a:prstGeom prst="rect">
            <a:avLst/>
          </a:prstGeom>
          <a:noFill/>
        </p:spPr>
        <p:txBody>
          <a:bodyPr wrap="square" lIns="0" rIns="0" tIns="0" bIns="0" anchor="ctr">
            <a:spAutoFit/>
          </a:bodyPr>
          <a:lstStyle/>
          <a:p>
            <a:pPr algn="l"/>
            <a:r>
              <a:rPr sz="1300" b="0" i="0">
                <a:solidFill>
                  <a:srgbClr val="1A2332"/>
                </a:solidFill>
                <a:latin typeface="Calibri"/>
              </a:rPr>
              <a:t>Li et al. tested I3D and Pose-TGCN as separate ASL models with average pooling over time, whereas we use part-aware encoders, gated fusion and attention-based pooling in one ISL model.</a:t>
            </a:r>
          </a:p>
        </p:txBody>
      </p:sp>
      <p:sp>
        <p:nvSpPr>
          <p:cNvPr id="24" name="Rounded Rectangle 23"/>
          <p:cNvSpPr/>
          <p:nvPr/>
        </p:nvSpPr>
        <p:spPr>
          <a:xfrm>
            <a:off x="609585" y="4937760"/>
            <a:ext cx="10972526" cy="786384"/>
          </a:xfrm>
          <a:prstGeom prst="roundRect">
            <a:avLst>
              <a:gd name="adj" fmla="val 12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74177" y="5120640"/>
            <a:ext cx="1600200" cy="420624"/>
          </a:xfrm>
          <a:prstGeom prst="roundRect">
            <a:avLst>
              <a:gd name="adj" fmla="val 50000"/>
            </a:avLst>
          </a:prstGeom>
          <a:solidFill>
            <a:srgbClr val="5B5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4177" y="5120640"/>
            <a:ext cx="1600200" cy="420624"/>
          </a:xfrm>
          <a:prstGeom prst="rect">
            <a:avLst/>
          </a:prstGeom>
          <a:noFill/>
        </p:spPr>
        <p:txBody>
          <a:bodyPr wrap="square" lIns="0" rIns="0" tIns="0" bIns="0" anchor="ctr">
            <a:spAutoFit/>
          </a:bodyPr>
          <a:lstStyle/>
          <a:p>
            <a:pPr algn="ctr"/>
            <a:r>
              <a:rPr sz="1200" b="1" i="0">
                <a:solidFill>
                  <a:srgbClr val="FFFFFF"/>
                </a:solidFill>
                <a:latin typeface="Calibri"/>
              </a:rPr>
              <a:t>[5] Camgöz et al.</a:t>
            </a:r>
          </a:p>
        </p:txBody>
      </p:sp>
      <p:sp>
        <p:nvSpPr>
          <p:cNvPr id="27" name="TextBox 26"/>
          <p:cNvSpPr txBox="1"/>
          <p:nvPr/>
        </p:nvSpPr>
        <p:spPr>
          <a:xfrm>
            <a:off x="2621265" y="4937760"/>
            <a:ext cx="8732246" cy="786384"/>
          </a:xfrm>
          <a:prstGeom prst="rect">
            <a:avLst/>
          </a:prstGeom>
          <a:noFill/>
        </p:spPr>
        <p:txBody>
          <a:bodyPr wrap="square" lIns="0" rIns="0" tIns="0" bIns="0" anchor="ctr">
            <a:spAutoFit/>
          </a:bodyPr>
          <a:lstStyle/>
          <a:p>
            <a:pPr algn="l"/>
            <a:r>
              <a:rPr sz="1300" b="0" i="0">
                <a:solidFill>
                  <a:srgbClr val="1A2332"/>
                </a:solidFill>
                <a:latin typeface="Calibri"/>
              </a:rPr>
              <a:t>Camgöz et al. translate continuous German Sign Language into text, whereas we classify isolated ISL signs from landmark streams and speak the result, so our numbers are not compared with theirs.</a:t>
            </a:r>
          </a:p>
        </p:txBody>
      </p:sp>
      <p:sp>
        <p:nvSpPr>
          <p:cNvPr id="28" name="TextBox 27"/>
          <p:cNvSpPr txBox="1"/>
          <p:nvPr/>
        </p:nvSpPr>
        <p:spPr>
          <a:xfrm>
            <a:off x="609585" y="5806440"/>
            <a:ext cx="10972526" cy="228600"/>
          </a:xfrm>
          <a:prstGeom prst="rect">
            <a:avLst/>
          </a:prstGeom>
          <a:noFill/>
        </p:spPr>
        <p:txBody>
          <a:bodyPr wrap="square" lIns="0" rIns="0" tIns="0" bIns="0" anchor="t">
            <a:spAutoFit/>
          </a:bodyPr>
          <a:lstStyle/>
          <a:p>
            <a:pPr algn="l"/>
            <a:r>
              <a:rPr sz="1100" b="1" i="0">
                <a:solidFill>
                  <a:srgbClr val="0E9AA7"/>
                </a:solidFill>
                <a:latin typeface="Calibri"/>
              </a:rPr>
              <a:t>Teal</a:t>
            </a:r>
            <a:r>
              <a:rPr sz="1100" b="0" i="0">
                <a:solidFill>
                  <a:srgbClr val="5A6678"/>
                </a:solidFill>
                <a:latin typeface="Calibri"/>
              </a:rPr>
              <a:t> = architectural difference     </a:t>
            </a:r>
            <a:r>
              <a:rPr sz="1100" b="1" i="0">
                <a:solidFill>
                  <a:srgbClr val="5B5BD6"/>
                </a:solidFill>
                <a:latin typeface="Calibri"/>
              </a:rPr>
              <a:t>Indigo</a:t>
            </a:r>
            <a:r>
              <a:rPr sz="1100" b="0" i="0">
                <a:solidFill>
                  <a:srgbClr val="5A6678"/>
                </a:solidFill>
                <a:latin typeface="Calibri"/>
              </a:rPr>
              <a:t> = scope difference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37160" y="118872"/>
            <a:ext cx="914400" cy="530352"/>
          </a:xfrm>
          <a:prstGeom prst="rect">
            <a:avLst/>
          </a:prstGeom>
        </p:spPr>
      </p:pic>
      <p:sp>
        <p:nvSpPr>
          <p:cNvPr id="3" name="Rounded Rectangle 2"/>
          <p:cNvSpPr/>
          <p:nvPr/>
        </p:nvSpPr>
        <p:spPr>
          <a:xfrm>
            <a:off x="1377662" y="365751"/>
            <a:ext cx="1778508" cy="316984"/>
          </a:xfrm>
          <a:prstGeom prst="roundRect">
            <a:avLst>
              <a:gd name="adj" fmla="val 50000"/>
            </a:avLst>
          </a:prstGeom>
          <a:solidFill>
            <a:srgbClr val="F2F5F9"/>
          </a:solidFill>
          <a:ln w="9525">
            <a:solidFill>
              <a:srgbClr val="D9E1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7662" y="365751"/>
            <a:ext cx="1778508" cy="316984"/>
          </a:xfrm>
          <a:prstGeom prst="rect">
            <a:avLst/>
          </a:prstGeom>
          <a:noFill/>
        </p:spPr>
        <p:txBody>
          <a:bodyPr wrap="square" lIns="0" rIns="0" tIns="0" bIns="0" anchor="ctr">
            <a:spAutoFit/>
          </a:bodyPr>
          <a:lstStyle/>
          <a:p>
            <a:pPr algn="ctr"/>
            <a:r>
              <a:rPr sz="1133" b="1" i="0">
                <a:solidFill>
                  <a:srgbClr val="0E9AA7"/>
                </a:solidFill>
                <a:latin typeface="Calibri"/>
              </a:rPr>
              <a:t>19  ·  REFERENCES</a:t>
            </a:r>
          </a:p>
        </p:txBody>
      </p:sp>
      <p:sp>
        <p:nvSpPr>
          <p:cNvPr id="5" name="TextBox 4"/>
          <p:cNvSpPr txBox="1"/>
          <p:nvPr/>
        </p:nvSpPr>
        <p:spPr>
          <a:xfrm>
            <a:off x="1377662" y="780268"/>
            <a:ext cx="10204449" cy="682735"/>
          </a:xfrm>
          <a:prstGeom prst="rect">
            <a:avLst/>
          </a:prstGeom>
          <a:noFill/>
        </p:spPr>
        <p:txBody>
          <a:bodyPr wrap="square" lIns="0" rIns="0" tIns="0" bIns="0" anchor="ctr">
            <a:spAutoFit/>
          </a:bodyPr>
          <a:lstStyle/>
          <a:p>
            <a:pPr algn="l"/>
            <a:r>
              <a:rPr sz="3000" b="1" i="0">
                <a:solidFill>
                  <a:srgbClr val="1A2332"/>
                </a:solidFill>
                <a:latin typeface="Cambria"/>
              </a:rPr>
              <a:t>References (IEEE Format)</a:t>
            </a:r>
          </a:p>
        </p:txBody>
      </p:sp>
      <p:sp>
        <p:nvSpPr>
          <p:cNvPr id="6" name="TextBox 5"/>
          <p:cNvSpPr txBox="1"/>
          <p:nvPr/>
        </p:nvSpPr>
        <p:spPr>
          <a:xfrm>
            <a:off x="609585" y="6437215"/>
            <a:ext cx="7924602" cy="243834"/>
          </a:xfrm>
          <a:prstGeom prst="rect">
            <a:avLst/>
          </a:prstGeom>
          <a:noFill/>
        </p:spPr>
        <p:txBody>
          <a:bodyPr wrap="square" lIns="0" rIns="0" tIns="0" bIns="0" anchor="ctr">
            <a:spAutoFit/>
          </a:bodyPr>
          <a:lstStyle/>
          <a:p>
            <a:pPr algn="l"/>
            <a:r>
              <a:rPr sz="1067" b="0" i="0">
                <a:solidFill>
                  <a:srgbClr val="5A6678"/>
                </a:solidFill>
                <a:latin typeface="Calibri"/>
              </a:rPr>
              <a:t>AI-Based Hand Gesture Recognition for Sign Language Communication  ·  Review-2</a:t>
            </a:r>
          </a:p>
        </p:txBody>
      </p:sp>
      <p:sp>
        <p:nvSpPr>
          <p:cNvPr id="7" name="TextBox 6"/>
          <p:cNvSpPr txBox="1"/>
          <p:nvPr/>
        </p:nvSpPr>
        <p:spPr>
          <a:xfrm>
            <a:off x="10362941" y="6437215"/>
            <a:ext cx="1219170" cy="243834"/>
          </a:xfrm>
          <a:prstGeom prst="rect">
            <a:avLst/>
          </a:prstGeom>
          <a:noFill/>
        </p:spPr>
        <p:txBody>
          <a:bodyPr wrap="square" lIns="0" rIns="0" tIns="0" bIns="0" anchor="ctr">
            <a:spAutoFit/>
          </a:bodyPr>
          <a:lstStyle/>
          <a:p>
            <a:pPr algn="r"/>
            <a:r>
              <a:rPr sz="1067" b="0" i="0">
                <a:solidFill>
                  <a:srgbClr val="5A6678"/>
                </a:solidFill>
                <a:latin typeface="Calibri"/>
              </a:rPr>
              <a:t>39</a:t>
            </a:r>
          </a:p>
        </p:txBody>
      </p:sp>
      <p:sp>
        <p:nvSpPr>
          <p:cNvPr id="8" name="TextBox 7"/>
          <p:cNvSpPr txBox="1"/>
          <p:nvPr/>
        </p:nvSpPr>
        <p:spPr>
          <a:xfrm>
            <a:off x="609585" y="1572768"/>
            <a:ext cx="10972526" cy="4206240"/>
          </a:xfrm>
          <a:prstGeom prst="rect">
            <a:avLst/>
          </a:prstGeom>
          <a:noFill/>
        </p:spPr>
        <p:txBody>
          <a:bodyPr wrap="square" lIns="0" rIns="0" tIns="0" bIns="0" anchor="t">
            <a:spAutoFit/>
          </a:bodyPr>
          <a:lstStyle/>
          <a:p>
            <a:pPr algn="l">
              <a:spcAft>
                <a:spcPts val="700"/>
              </a:spcAft>
            </a:pPr>
            <a:r>
              <a:rPr sz="1250" b="0" i="0">
                <a:solidFill>
                  <a:srgbClr val="1A2332"/>
                </a:solidFill>
                <a:latin typeface="Calibri"/>
              </a:rPr>
              <a:t>[1] A. Sridhar, R. G. Ganesan, P. Kumar, and M. Khapra, “INCLUDE: A large scale dataset for Indian sign language recognition,” in Proc. 28th ACM Int. Conf. Multimedia (MM ’20), 2020, pp. 1366–1375, doi: 10.1145/3394171.3413528.</a:t>
            </a:r>
          </a:p>
          <a:p>
            <a:pPr algn="l">
              <a:spcAft>
                <a:spcPts val="700"/>
              </a:spcAft>
            </a:pPr>
            <a:r>
              <a:rPr sz="1250" b="0" i="0">
                <a:solidFill>
                  <a:srgbClr val="1A2332"/>
                </a:solidFill>
                <a:latin typeface="Calibri"/>
              </a:rPr>
              <a:t>[2] M. Boháček and M. Hrúz, “Sign pose-based transformer for word-level sign language recognition,” in Proc. IEEE/CVF Winter Conf. Appl. Comput. Vis. Workshops (WACVW), 2022, pp. 182–191, doi: 10.1109/WACVW54805.2022.00024.</a:t>
            </a:r>
          </a:p>
          <a:p>
            <a:pPr algn="l">
              <a:spcAft>
                <a:spcPts val="700"/>
              </a:spcAft>
            </a:pPr>
            <a:r>
              <a:rPr sz="1250" b="0" i="0">
                <a:solidFill>
                  <a:srgbClr val="1A2332"/>
                </a:solidFill>
                <a:latin typeface="Calibri"/>
              </a:rPr>
              <a:t>[3] H. Hu, W. Zhao, W. Zhou, Y. Wang, and H. Li, “SignBERT: Pre-training of hand-model-aware representation for sign language recognition,” in Proc. IEEE/CVF Int. Conf. Comput. Vis. (ICCV), 2021, pp. 11087–11096, doi: 10.1109/ICCV48922.2021.01090.</a:t>
            </a:r>
          </a:p>
          <a:p>
            <a:pPr algn="l">
              <a:spcAft>
                <a:spcPts val="700"/>
              </a:spcAft>
            </a:pPr>
            <a:r>
              <a:rPr sz="1250" b="0" i="0">
                <a:solidFill>
                  <a:srgbClr val="1A2332"/>
                </a:solidFill>
                <a:latin typeface="Calibri"/>
              </a:rPr>
              <a:t>[4] D. Li, C. Rodriguez Opazo, X. Yu, and H. Li, “Word-level deep sign language recognition from video: A new large-scale dataset and methods comparison,” in Proc. IEEE Winter Conf. Appl. Comput. Vis. (WACV), 2020, pp. 1459–1469, doi: 10.1109/WACV45572.2020.9093512.</a:t>
            </a:r>
          </a:p>
          <a:p>
            <a:pPr algn="l">
              <a:spcAft>
                <a:spcPts val="700"/>
              </a:spcAft>
            </a:pPr>
            <a:r>
              <a:rPr sz="1250" b="0" i="0">
                <a:solidFill>
                  <a:srgbClr val="1A2332"/>
                </a:solidFill>
                <a:latin typeface="Calibri"/>
              </a:rPr>
              <a:t>[5] N. C. Camgöz, O. Koller, S. Hadfield, and R. Bowden, “Sign language transformers: Joint end-to-end sign language recognition and translation,” in Proc. IEEE/CVF Conf. Comput. Vis. Pattern Recognit. (CVPR), 2020, pp. 10023–10033, doi: 10.1109/CVPR42600.2020.01004.</a:t>
            </a:r>
          </a:p>
          <a:p>
            <a:pPr algn="l">
              <a:spcAft>
                <a:spcPts val="700"/>
              </a:spcAft>
            </a:pPr>
            <a:r>
              <a:rPr sz="1250" b="0" i="0">
                <a:solidFill>
                  <a:srgbClr val="1A2332"/>
                </a:solidFill>
                <a:latin typeface="Calibri"/>
              </a:rPr>
              <a:t>[6] G. Khartheesvar, M. Kumar, A. K. Yadav, and D. Yadav, “Automatic Indian sign language recognition using MediaPipe holistic and LSTM network,” Multimedia Tools Appl., vol. 83, no. 20, pp. 58329–58348, 2024, doi: 10.1007/s11042-023-17361-y.</a:t>
            </a:r>
          </a:p>
          <a:p>
            <a:pPr algn="l">
              <a:spcAft>
                <a:spcPts val="700"/>
              </a:spcAft>
            </a:pPr>
            <a:r>
              <a:rPr sz="1250" b="0" i="0">
                <a:solidFill>
                  <a:srgbClr val="1A2332"/>
                </a:solidFill>
                <a:latin typeface="Calibri"/>
              </a:rPr>
              <a:t>[7] AI4Bharat, “INCLUDE: Isolated Indian sign language recognition,” GitHub repository. [Online]. Available: https://github.com/AI4Bharat/INCLUDE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10">
    <p:bg>
      <p:bgPr>
        <a:solidFill>
          <a:srgbClr val="0B2027"/>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28090">
              <a:alpha val="20000"/>
            </a:srgbClr>
          </a:solidFill>
          <a:ln/>
        </p:spPr>
        <p:txBody>
          <a:bodyPr/>
          <a:p/>
        </p:txBody>
      </p:sp>
      <p:sp>
        <p:nvSpPr>
          <p:cNvPr id="3" name="Text 1"/>
          <p:cNvSpPr/>
          <p:nvPr/>
        </p:nvSpPr>
        <p:spPr>
          <a:xfrm>
            <a:off x="822960" y="2377440"/>
            <a:ext cx="73152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2"/>
          <p:cNvSpPr/>
          <p:nvPr/>
        </p:nvSpPr>
        <p:spPr>
          <a:xfrm>
            <a:off x="822960" y="3246120"/>
            <a:ext cx="8686800" cy="640080"/>
          </a:xfrm>
          <a:prstGeom prst="rect">
            <a:avLst/>
          </a:prstGeom>
          <a:noFill/>
          <a:ln/>
        </p:spPr>
        <p:txBody>
          <a:bodyPr wrap="square" rtlCol="0" anchor="ctr"/>
          <a:lstStyle/>
          <a:p>
            <a:pPr marL="0" indent="0">
              <a:buNone/>
            </a:pPr>
            <a:r>
              <a:rPr lang="en-US" sz="1600" dirty="0">
                <a:solidFill>
                  <a:srgbClr val="02C39A"/>
                </a:solidFill>
                <a:latin typeface="Calibri" pitchFamily="34" charset="0"/>
                <a:ea typeface="Calibri" pitchFamily="34" charset="-122"/>
                <a:cs typeface="Calibri" pitchFamily="34" charset="-120"/>
              </a:rPr>
              <a:t>AI-Based Hand Gesture Recognition for Sign Language Communication</a:t>
            </a:r>
            <a:endParaRPr lang="en-US" sz="1600" dirty="0"/>
          </a:p>
        </p:txBody>
      </p:sp>
      <p:sp>
        <p:nvSpPr>
          <p:cNvPr id="5" name="Text 3"/>
          <p:cNvSpPr/>
          <p:nvPr/>
        </p:nvSpPr>
        <p:spPr>
          <a:xfrm>
            <a:off x="822960" y="4023360"/>
            <a:ext cx="5486400" cy="457200"/>
          </a:xfrm>
          <a:prstGeom prst="rect">
            <a:avLst/>
          </a:prstGeom>
          <a:noFill/>
          <a:ln/>
        </p:spPr>
        <p:txBody>
          <a:bodyPr wrap="square" rtlCol="0" anchor="ctr"/>
          <a:lstStyle/>
          <a:p>
            <a:pPr marL="0" indent="0">
              <a:buNone/>
            </a:pPr>
            <a:r>
              <a:rPr lang="en-US" sz="1400" i="1" dirty="0">
                <a:solidFill>
                  <a:srgbClr val="C9D6D6"/>
                </a:solidFill>
                <a:latin typeface="Calibri" pitchFamily="34" charset="0"/>
                <a:ea typeface="Calibri" pitchFamily="34" charset="-122"/>
                <a:cs typeface="Calibri" pitchFamily="34" charset="-120"/>
              </a:rPr>
              <a:t>Questions &amp; Discussion</a:t>
            </a:r>
            <a:endParaRPr lang="en-US" sz="1400" dirty="0"/>
          </a:p>
        </p:txBody>
      </p:sp>
      <p:sp>
        <p:nvSpPr>
          <p:cNvPr id="6" name="Text 4"/>
          <p:cNvSpPr/>
          <p:nvPr/>
        </p:nvSpPr>
        <p:spPr>
          <a:xfrm>
            <a:off x="822960" y="6126480"/>
            <a:ext cx="8229600" cy="365760"/>
          </a:xfrm>
          <a:prstGeom prst="rect">
            <a:avLst/>
          </a:prstGeom>
          <a:noFill/>
          <a:ln/>
        </p:spPr>
        <p:txBody>
          <a:bodyPr wrap="square" rtlCol="0" anchor="ctr"/>
          <a:lstStyle/>
          <a:p>
            <a:pPr marL="0" indent="0">
              <a:buNone/>
            </a:pPr>
            <a:endParaRPr lang="en-US" sz="1200" dirty="0"/>
          </a:p>
        </p:txBody>
      </p:sp>
      <p:sp>
        <p:nvSpPr>
          <p:cNvPr id="7" name="Text 5"/>
          <p:cNvSpPr/>
          <p:nvPr/>
        </p:nvSpPr>
        <p:spPr>
          <a:xfrm>
            <a:off x="11475720" y="6446520"/>
            <a:ext cx="548640" cy="320040"/>
          </a:xfrm>
          <a:prstGeom prst="rect">
            <a:avLst/>
          </a:prstGeom>
          <a:noFill/>
          <a:ln/>
        </p:spPr>
        <p:txBody>
          <a:bodyPr wrap="square" rtlCol="0" anchor="ctr"/>
          <a:lstStyle/>
          <a:p>
            <a:pPr marL="0" indent="0" algn="r">
              <a:buNone/>
            </a:pPr>
            <a:r>
              <a:rPr lang="en-US" sz="1100" dirty="0">
                <a:solidFill>
                  <a:srgbClr val="6B7B7D"/>
                </a:solidFill>
                <a:latin typeface="Calibri" pitchFamily="34" charset="0"/>
                <a:ea typeface="Calibri" pitchFamily="34" charset="-122"/>
                <a:cs typeface="Calibri" pitchFamily="34" charset="-120"/>
              </a:rPr>
              <a:t>40</a:t>
            </a:r>
            <a:endParaRPr lang="en-US" sz="1100" dirty="0"/>
          </a:p>
        </p:txBody>
      </p:sp>
      <p:pic>
        <p:nvPicPr>
          <p:cNvPr id="8" name="Picture 7" descr="klh_logo.png"/>
          <p:cNvPicPr>
            <a:picLocks noChangeAspect="1"/>
          </p:cNvPicPr>
          <p:nvPr/>
        </p:nvPicPr>
        <p:blipFill>
          <a:blip r:embed="rId3"/>
          <a:stretch>
            <a:fillRect/>
          </a:stretch>
        </p:blipFill>
        <p:spPr>
          <a:xfrm>
            <a:off x="137160" y="118872"/>
            <a:ext cx="914400" cy="530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1257</Words>
  <Application>Microsoft Office PowerPoint</Application>
  <PresentationFormat>Widescreen</PresentationFormat>
  <Paragraphs>184</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Hand Gesture Recognition for Sign Language Communication</dc:title>
  <dc:subject>PptxGenJS Presentation</dc:subject>
  <dc:creator>PptxGenJS</dc:creator>
  <cp:lastModifiedBy>KOSARAJU SAI SREE CHOWDARY</cp:lastModifiedBy>
  <cp:revision>3</cp:revision>
  <dcterms:created xsi:type="dcterms:W3CDTF">2026-08-05T05:07:16Z</dcterms:created>
  <dcterms:modified xsi:type="dcterms:W3CDTF">2026-08-13T08:44:22Z</dcterms:modified>
</cp:coreProperties>
</file>